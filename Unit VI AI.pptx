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7"/>
  </p:notesMasterIdLst>
  <p:sldIdLst>
    <p:sldId id="256" r:id="rId2"/>
    <p:sldId id="297" r:id="rId3"/>
    <p:sldId id="298" r:id="rId4"/>
    <p:sldId id="299" r:id="rId5"/>
    <p:sldId id="300"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90" autoAdjust="0"/>
    <p:restoredTop sz="94660"/>
  </p:normalViewPr>
  <p:slideViewPr>
    <p:cSldViewPr>
      <p:cViewPr>
        <p:scale>
          <a:sx n="80" d="100"/>
          <a:sy n="80" d="100"/>
        </p:scale>
        <p:origin x="-1555" y="-125"/>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53F3BA-F80C-4BA3-9EE4-BA01D51D5E2D}" type="datetimeFigureOut">
              <a:rPr lang="en-US" smtClean="0"/>
              <a:pPr/>
              <a:t>11/14/2025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D0DD04-3699-4013-BB3E-5B788B1567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88085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160131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1059748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163464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3256059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733888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245265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260161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362600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2312390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394978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20FF2-DC22-4BDE-BBB3-08067E5C1705}"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4E26E-B4C2-4F87-BE50-7192422347C9}" type="slidenum">
              <a:rPr lang="en-US" smtClean="0"/>
              <a:pPr/>
              <a:t>‹#›</a:t>
            </a:fld>
            <a:endParaRPr lang="en-US"/>
          </a:p>
        </p:txBody>
      </p:sp>
    </p:spTree>
    <p:extLst>
      <p:ext uri="{BB962C8B-B14F-4D97-AF65-F5344CB8AC3E}">
        <p14:creationId xmlns:p14="http://schemas.microsoft.com/office/powerpoint/2010/main" xmlns="" val="7431117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457200"/>
            <a:ext cx="7315200" cy="4154984"/>
          </a:xfrm>
          <a:prstGeom prst="rect">
            <a:avLst/>
          </a:prstGeom>
        </p:spPr>
        <p:txBody>
          <a:bodyPr wrap="square">
            <a:spAutoFit/>
          </a:bodyPr>
          <a:lstStyle/>
          <a:p>
            <a:pPr algn="ctr"/>
            <a:r>
              <a:rPr lang="en-IN" sz="4400" dirty="0">
                <a:solidFill>
                  <a:srgbClr val="454545"/>
                </a:solidFill>
                <a:latin typeface="+mj-lt"/>
              </a:rPr>
              <a:t>CAP-170 </a:t>
            </a:r>
            <a:endParaRPr lang="en-IN" sz="4400" dirty="0" smtClean="0">
              <a:solidFill>
                <a:srgbClr val="454545"/>
              </a:solidFill>
              <a:latin typeface="+mj-lt"/>
            </a:endParaRPr>
          </a:p>
          <a:p>
            <a:pPr algn="ctr"/>
            <a:r>
              <a:rPr lang="en-IN" sz="4400" dirty="0" smtClean="0">
                <a:solidFill>
                  <a:srgbClr val="454545"/>
                </a:solidFill>
                <a:latin typeface="+mj-lt"/>
              </a:rPr>
              <a:t>FUNDAMENTAL </a:t>
            </a:r>
            <a:r>
              <a:rPr lang="en-IN" sz="4400" dirty="0">
                <a:solidFill>
                  <a:srgbClr val="454545"/>
                </a:solidFill>
                <a:latin typeface="+mj-lt"/>
              </a:rPr>
              <a:t>OF INFORMATION </a:t>
            </a:r>
            <a:r>
              <a:rPr lang="en-IN" sz="4400" dirty="0" smtClean="0">
                <a:solidFill>
                  <a:srgbClr val="454545"/>
                </a:solidFill>
                <a:latin typeface="+mj-lt"/>
              </a:rPr>
              <a:t>TECHNOLOGY</a:t>
            </a:r>
          </a:p>
          <a:p>
            <a:pPr algn="ctr"/>
            <a:r>
              <a:rPr lang="en-IN" sz="4400" dirty="0">
                <a:solidFill>
                  <a:srgbClr val="454545"/>
                </a:solidFill>
                <a:latin typeface="+mj-lt"/>
              </a:rPr>
              <a:t/>
            </a:r>
            <a:br>
              <a:rPr lang="en-IN" sz="4400" dirty="0">
                <a:solidFill>
                  <a:srgbClr val="454545"/>
                </a:solidFill>
                <a:latin typeface="+mj-lt"/>
              </a:rPr>
            </a:br>
            <a:r>
              <a:rPr lang="en-IN" sz="4400" b="1" dirty="0" smtClean="0">
                <a:solidFill>
                  <a:srgbClr val="C00000"/>
                </a:solidFill>
                <a:latin typeface="Times New Roman" pitchFamily="18" charset="0"/>
                <a:cs typeface="Times New Roman" pitchFamily="18" charset="0"/>
              </a:rPr>
              <a:t>UNIT </a:t>
            </a:r>
            <a:r>
              <a:rPr lang="en-IN" sz="4400" b="1" dirty="0" smtClean="0">
                <a:solidFill>
                  <a:srgbClr val="C00000"/>
                </a:solidFill>
                <a:latin typeface="Times New Roman" pitchFamily="18" charset="0"/>
                <a:cs typeface="Times New Roman" pitchFamily="18" charset="0"/>
              </a:rPr>
              <a:t>VI</a:t>
            </a:r>
            <a:endParaRPr lang="en-US" sz="3600" b="1" dirty="0">
              <a:solidFill>
                <a:srgbClr val="C00000"/>
              </a:solidFill>
              <a:latin typeface="Times New Roman" pitchFamily="18" charset="0"/>
              <a:cs typeface="Times New Roman" pitchFamily="18" charset="0"/>
            </a:endParaRPr>
          </a:p>
          <a:p>
            <a:pPr algn="ctr"/>
            <a:r>
              <a:rPr lang="en-IN" sz="4400" b="1" dirty="0" smtClean="0">
                <a:solidFill>
                  <a:srgbClr val="C00000"/>
                </a:solidFill>
                <a:latin typeface="Times New Roman" pitchFamily="18" charset="0"/>
                <a:cs typeface="Times New Roman" pitchFamily="18" charset="0"/>
              </a:rPr>
              <a:t>Artificial Intelligence</a:t>
            </a:r>
            <a:endParaRPr lang="en-IN" sz="4400" b="1" dirty="0" smtClean="0">
              <a:solidFill>
                <a:srgbClr val="C00000"/>
              </a:solidFill>
              <a:latin typeface="Times New Roman" pitchFamily="18" charset="0"/>
              <a:cs typeface="Times New Roman" pitchFamily="18" charset="0"/>
            </a:endParaRPr>
          </a:p>
        </p:txBody>
      </p:sp>
      <p:sp>
        <p:nvSpPr>
          <p:cNvPr id="5" name="Subtitle 2"/>
          <p:cNvSpPr>
            <a:spLocks noGrp="1"/>
          </p:cNvSpPr>
          <p:nvPr>
            <p:ph type="subTitle" idx="1"/>
          </p:nvPr>
        </p:nvSpPr>
        <p:spPr>
          <a:xfrm>
            <a:off x="0" y="4786322"/>
            <a:ext cx="9144000" cy="1462078"/>
          </a:xfrm>
        </p:spPr>
        <p:txBody>
          <a:bodyPr>
            <a:noAutofit/>
          </a:bodyPr>
          <a:lstStyle/>
          <a:p>
            <a:pPr lvl="0" algn="ctr">
              <a:lnSpc>
                <a:spcPct val="110000"/>
              </a:lnSpc>
              <a:spcBef>
                <a:spcPts val="1000"/>
              </a:spcBef>
              <a:buSzPts val="1800"/>
            </a:pPr>
            <a:r>
              <a:rPr lang="en-US" dirty="0">
                <a:solidFill>
                  <a:schemeClr val="accent1"/>
                </a:solidFill>
              </a:rPr>
              <a:t>SCHOOL OF COMPUTER APPLICATIONS</a:t>
            </a:r>
            <a:endParaRPr lang="en-US" dirty="0"/>
          </a:p>
          <a:p>
            <a:pPr lvl="0" algn="ctr">
              <a:lnSpc>
                <a:spcPct val="110000"/>
              </a:lnSpc>
              <a:spcBef>
                <a:spcPts val="1000"/>
              </a:spcBef>
              <a:buSzPts val="1800"/>
            </a:pPr>
            <a:r>
              <a:rPr lang="en-US" dirty="0">
                <a:solidFill>
                  <a:schemeClr val="accent1"/>
                </a:solidFill>
              </a:rPr>
              <a:t>LOVELY PROFESSIONAL UNIVERSITY</a:t>
            </a:r>
            <a:endParaRPr lang="en-US" dirty="0"/>
          </a:p>
          <a:p>
            <a:pPr algn="ct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normAutofit fontScale="90000"/>
          </a:bodyPr>
          <a:lstStyle/>
          <a:p>
            <a:r>
              <a:rPr lang="en-IN" b="1" dirty="0">
                <a:latin typeface="Times New Roman" pitchFamily="18" charset="0"/>
                <a:cs typeface="Times New Roman" pitchFamily="18" charset="0"/>
              </a:rPr>
              <a:t>I</a:t>
            </a:r>
            <a:r>
              <a:rPr lang="en-IN" b="1" dirty="0" smtClean="0">
                <a:latin typeface="Times New Roman" pitchFamily="18" charset="0"/>
                <a:cs typeface="Times New Roman" pitchFamily="18" charset="0"/>
              </a:rPr>
              <a:t>ntroduction </a:t>
            </a:r>
            <a:r>
              <a:rPr lang="en-IN" b="1" dirty="0">
                <a:latin typeface="Times New Roman" pitchFamily="18" charset="0"/>
                <a:cs typeface="Times New Roman" pitchFamily="18" charset="0"/>
              </a:rPr>
              <a:t>to </a:t>
            </a:r>
            <a:r>
              <a:rPr lang="en-IN" b="1" dirty="0" smtClean="0">
                <a:latin typeface="Times New Roman" pitchFamily="18" charset="0"/>
                <a:cs typeface="Times New Roman" pitchFamily="18" charset="0"/>
              </a:rPr>
              <a:t>Artificial Intelligence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43050"/>
            <a:ext cx="8229600" cy="4572031"/>
          </a:xfrm>
        </p:spPr>
        <p:txBody>
          <a:bodyPr>
            <a:normAutofit fontScale="77500" lnSpcReduction="20000"/>
          </a:bodyPr>
          <a:lstStyle/>
          <a:p>
            <a:pPr algn="just"/>
            <a:r>
              <a:rPr lang="en-US" dirty="0" smtClean="0">
                <a:latin typeface="Times New Roman" pitchFamily="18" charset="0"/>
                <a:cs typeface="Times New Roman" pitchFamily="18" charset="0"/>
              </a:rPr>
              <a:t>AI </a:t>
            </a:r>
            <a:r>
              <a:rPr lang="en-US" dirty="0" smtClean="0">
                <a:latin typeface="Times New Roman" pitchFamily="18" charset="0"/>
                <a:cs typeface="Times New Roman" pitchFamily="18" charset="0"/>
              </a:rPr>
              <a:t>is a field of computer science focused on creating machines and systems that can perform tasks that typically require human intelligence, such as learning, reasoning, problem-solving, and decision-making.</a:t>
            </a:r>
          </a:p>
          <a:p>
            <a:pPr algn="just"/>
            <a:r>
              <a:rPr lang="en-US" dirty="0" smtClean="0">
                <a:latin typeface="Times New Roman" pitchFamily="18" charset="0"/>
                <a:cs typeface="Times New Roman" pitchFamily="18" charset="0"/>
              </a:rPr>
              <a:t>It enables computers to analyze data, understand language, recognize patterns, and learn from experience without explicit programming for every task.</a:t>
            </a:r>
          </a:p>
          <a:p>
            <a:pPr algn="just"/>
            <a:r>
              <a:rPr lang="en-US" dirty="0" smtClean="0">
                <a:latin typeface="Times New Roman" pitchFamily="18" charset="0"/>
                <a:cs typeface="Times New Roman" pitchFamily="18" charset="0"/>
              </a:rPr>
              <a:t>AI includes technologies like machine learning and deep learning, which allow systems to improve performance automatically by identifying patterns in data</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AI applications range from virtual assistants and self-driving cars to medical diagnosis and personalized recommendations in many industries.</a:t>
            </a:r>
            <a:r>
              <a:rPr lang="en-US"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normAutofit fontScale="90000"/>
          </a:bodyPr>
          <a:lstStyle/>
          <a:p>
            <a:r>
              <a:rPr lang="en-IN" b="1" dirty="0">
                <a:latin typeface="Times New Roman" pitchFamily="18" charset="0"/>
                <a:cs typeface="Times New Roman" pitchFamily="18" charset="0"/>
              </a:rPr>
              <a:t>I</a:t>
            </a:r>
            <a:r>
              <a:rPr lang="en-IN" b="1" dirty="0" smtClean="0">
                <a:latin typeface="Times New Roman" pitchFamily="18" charset="0"/>
                <a:cs typeface="Times New Roman" pitchFamily="18" charset="0"/>
              </a:rPr>
              <a:t>ntroduction </a:t>
            </a:r>
            <a:r>
              <a:rPr lang="en-IN" b="1" dirty="0">
                <a:latin typeface="Times New Roman" pitchFamily="18" charset="0"/>
                <a:cs typeface="Times New Roman" pitchFamily="18" charset="0"/>
              </a:rPr>
              <a:t>to </a:t>
            </a:r>
            <a:r>
              <a:rPr lang="en-IN" b="1" dirty="0" smtClean="0">
                <a:latin typeface="Times New Roman" pitchFamily="18" charset="0"/>
                <a:cs typeface="Times New Roman" pitchFamily="18" charset="0"/>
              </a:rPr>
              <a:t>Artificial Intelligence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798637"/>
            <a:ext cx="8229600" cy="4221163"/>
          </a:xfrm>
        </p:spPr>
        <p:txBody>
          <a:bodyPr>
            <a:noAutofit/>
          </a:bodyPr>
          <a:lstStyle/>
          <a:p>
            <a:pPr algn="just"/>
            <a:r>
              <a:rPr lang="en-US" sz="2400" dirty="0" smtClean="0">
                <a:latin typeface="Times New Roman" pitchFamily="18" charset="0"/>
                <a:cs typeface="Times New Roman" pitchFamily="18" charset="0"/>
              </a:rPr>
              <a:t>It </a:t>
            </a:r>
            <a:r>
              <a:rPr lang="en-US" sz="2400" dirty="0" smtClean="0">
                <a:latin typeface="Times New Roman" pitchFamily="18" charset="0"/>
                <a:cs typeface="Times New Roman" pitchFamily="18" charset="0"/>
              </a:rPr>
              <a:t>automates repetitive tasks, enhances data-driven decision-making, and operates continuously without breaks, increasing </a:t>
            </a:r>
            <a:r>
              <a:rPr lang="en-US" sz="2400" dirty="0" smtClean="0">
                <a:latin typeface="Times New Roman" pitchFamily="18" charset="0"/>
                <a:cs typeface="Times New Roman" pitchFamily="18" charset="0"/>
              </a:rPr>
              <a:t>efficiency.​</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AI is multidisciplinary, involving computer science, data analytics, linguistics, neuroscience, and </a:t>
            </a:r>
            <a:r>
              <a:rPr lang="en-US" sz="2400" dirty="0" smtClean="0">
                <a:latin typeface="Times New Roman" pitchFamily="18" charset="0"/>
                <a:cs typeface="Times New Roman" pitchFamily="18" charset="0"/>
              </a:rPr>
              <a:t>psychology.</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Types of AI include Narrow AI, which is designed for specific tasks, and General AI (theoretical), which would exhibit human-level intelligence across </a:t>
            </a:r>
            <a:r>
              <a:rPr lang="en-US" sz="2400" dirty="0" smtClean="0">
                <a:latin typeface="Times New Roman" pitchFamily="18" charset="0"/>
                <a:cs typeface="Times New Roman" pitchFamily="18" charset="0"/>
              </a:rPr>
              <a:t>domains.​</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AI has evolved since the 1950s and is now a transformative technology shaping many aspects of modern life and business.</a:t>
            </a:r>
            <a:endParaRPr lang="en-US" sz="2400" dirty="0">
              <a:latin typeface="Times New Roman" pitchFamily="18" charset="0"/>
              <a:cs typeface="Times New Roman" pitchFamily="18" charset="0"/>
            </a:endParaRPr>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4"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54032"/>
          </a:xfrm>
        </p:spPr>
        <p:txBody>
          <a:bodyPr>
            <a:normAutofit fontScale="90000"/>
          </a:bodyPr>
          <a:lstStyle/>
          <a:p>
            <a:r>
              <a:rPr lang="en-IN" b="1" dirty="0" smtClean="0">
                <a:latin typeface="Times New Roman" pitchFamily="18" charset="0"/>
                <a:cs typeface="Times New Roman" pitchFamily="18" charset="0"/>
              </a:rPr>
              <a:t>Examples of AI</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285720" y="1357298"/>
            <a:ext cx="8643998" cy="4857783"/>
          </a:xfrm>
        </p:spPr>
        <p:txBody>
          <a:bodyPr>
            <a:noAutofit/>
          </a:bodyPr>
          <a:lstStyle/>
          <a:p>
            <a:pPr algn="just"/>
            <a:r>
              <a:rPr lang="en-US" sz="2400" b="1" dirty="0" err="1" smtClean="0">
                <a:latin typeface="Times New Roman" pitchFamily="18" charset="0"/>
                <a:cs typeface="Times New Roman" pitchFamily="18" charset="0"/>
              </a:rPr>
              <a:t>ChatGPT</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Uses large language models (LLMs) to generate text in response to questions or comments posed to it. </a:t>
            </a:r>
          </a:p>
          <a:p>
            <a:pPr algn="just"/>
            <a:r>
              <a:rPr lang="en-US" sz="2400" b="1" dirty="0" smtClean="0">
                <a:latin typeface="Times New Roman" pitchFamily="18" charset="0"/>
                <a:cs typeface="Times New Roman" pitchFamily="18" charset="0"/>
              </a:rPr>
              <a:t>Google Translate</a:t>
            </a:r>
            <a:r>
              <a:rPr lang="en-US" sz="2400" dirty="0" smtClean="0">
                <a:latin typeface="Times New Roman" pitchFamily="18" charset="0"/>
                <a:cs typeface="Times New Roman" pitchFamily="18" charset="0"/>
              </a:rPr>
              <a:t>: Uses deep learning algorithms to translate text from one language to another. </a:t>
            </a:r>
          </a:p>
          <a:p>
            <a:pPr algn="just"/>
            <a:r>
              <a:rPr lang="en-US" sz="2400" b="1" dirty="0" smtClean="0">
                <a:latin typeface="Times New Roman" pitchFamily="18" charset="0"/>
                <a:cs typeface="Times New Roman" pitchFamily="18" charset="0"/>
              </a:rPr>
              <a:t>Netflix:</a:t>
            </a:r>
            <a:r>
              <a:rPr lang="en-US" sz="2400" dirty="0" smtClean="0">
                <a:latin typeface="Times New Roman" pitchFamily="18" charset="0"/>
                <a:cs typeface="Times New Roman" pitchFamily="18" charset="0"/>
              </a:rPr>
              <a:t> Uses machine learning algorithms to create personalized recommendation engines for users based on their previous viewing history. </a:t>
            </a:r>
          </a:p>
          <a:p>
            <a:pPr algn="just"/>
            <a:r>
              <a:rPr lang="en-US" sz="2400" b="1" dirty="0" smtClean="0">
                <a:latin typeface="Times New Roman" pitchFamily="18" charset="0"/>
                <a:cs typeface="Times New Roman" pitchFamily="18" charset="0"/>
              </a:rPr>
              <a:t>Apple's </a:t>
            </a:r>
            <a:r>
              <a:rPr lang="en-US" sz="2400" b="1" dirty="0" err="1" smtClean="0">
                <a:latin typeface="Times New Roman" pitchFamily="18" charset="0"/>
                <a:cs typeface="Times New Roman" pitchFamily="18" charset="0"/>
              </a:rPr>
              <a:t>Siri</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Apple's voice-activated personal assistant, </a:t>
            </a:r>
            <a:r>
              <a:rPr lang="en-US" sz="2400" dirty="0" err="1" smtClean="0">
                <a:latin typeface="Times New Roman" pitchFamily="18" charset="0"/>
                <a:cs typeface="Times New Roman" pitchFamily="18" charset="0"/>
              </a:rPr>
              <a:t>Siri</a:t>
            </a:r>
            <a:r>
              <a:rPr lang="en-US" sz="2400" dirty="0" smtClean="0">
                <a:latin typeface="Times New Roman" pitchFamily="18" charset="0"/>
                <a:cs typeface="Times New Roman" pitchFamily="18" charset="0"/>
              </a:rPr>
              <a:t>, is powered by deep neural networks (DNNs) to interact with users and complete their requests</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p:txBody>
      </p:sp>
      <p:sp>
        <p:nvSpPr>
          <p:cNvPr id="19" name="object 3"/>
          <p:cNvSpPr/>
          <p:nvPr/>
        </p:nvSpPr>
        <p:spPr>
          <a:xfrm>
            <a:off x="1571604" y="1142984"/>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100010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822459" y="928670"/>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4" name="object 6"/>
          <p:cNvGrpSpPr/>
          <p:nvPr/>
        </p:nvGrpSpPr>
        <p:grpSpPr>
          <a:xfrm>
            <a:off x="7858148" y="100010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5" name="object 9"/>
          <p:cNvGrpSpPr/>
          <p:nvPr/>
        </p:nvGrpSpPr>
        <p:grpSpPr>
          <a:xfrm>
            <a:off x="714348" y="1000108"/>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14282" y="928670"/>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939784"/>
          </a:xfrm>
        </p:spPr>
        <p:txBody>
          <a:bodyPr>
            <a:normAutofit/>
          </a:bodyPr>
          <a:lstStyle/>
          <a:p>
            <a:r>
              <a:rPr lang="en-IN" b="1" dirty="0" smtClean="0">
                <a:latin typeface="Times New Roman" pitchFamily="18" charset="0"/>
                <a:cs typeface="Times New Roman" pitchFamily="18" charset="0"/>
              </a:rPr>
              <a:t>Scope of AI</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285720" y="1357298"/>
            <a:ext cx="8643998" cy="5000660"/>
          </a:xfrm>
        </p:spPr>
        <p:txBody>
          <a:bodyPr>
            <a:noAutofit/>
          </a:bodyPr>
          <a:lstStyle/>
          <a:p>
            <a:pPr algn="just">
              <a:buNone/>
            </a:pPr>
            <a:r>
              <a:rPr lang="en-US" sz="2400" dirty="0" smtClean="0">
                <a:latin typeface="Times New Roman" pitchFamily="18" charset="0"/>
                <a:cs typeface="Times New Roman" pitchFamily="18" charset="0"/>
              </a:rPr>
              <a:t>The scope of Artificial Intelligence (AI) is vast, as it impacts nearly every major industry and domain. Key areas where AI is widely applied include</a:t>
            </a:r>
            <a:r>
              <a:rPr lang="en-US" sz="2400" dirty="0" smtClean="0">
                <a:latin typeface="Times New Roman" pitchFamily="18" charset="0"/>
                <a:cs typeface="Times New Roman" pitchFamily="18" charset="0"/>
              </a:rPr>
              <a:t>:</a:t>
            </a:r>
          </a:p>
          <a:p>
            <a:pPr marL="457200" indent="-457200" algn="just" fontAlgn="base">
              <a:buFont typeface="+mj-lt"/>
              <a:buAutoNum type="arabicPeriod"/>
            </a:pPr>
            <a:r>
              <a:rPr lang="en-US" sz="2400" b="1" dirty="0" smtClean="0">
                <a:latin typeface="Times New Roman" pitchFamily="18" charset="0"/>
                <a:cs typeface="Times New Roman" pitchFamily="18" charset="0"/>
              </a:rPr>
              <a:t>E-Commerce</a:t>
            </a:r>
          </a:p>
          <a:p>
            <a:pPr algn="just" fontAlgn="base"/>
            <a:r>
              <a:rPr lang="en-US" sz="2400" dirty="0" smtClean="0">
                <a:latin typeface="Times New Roman" pitchFamily="18" charset="0"/>
                <a:cs typeface="Times New Roman" pitchFamily="18" charset="0"/>
              </a:rPr>
              <a:t>Artificial Intelligence in the field of E-commerce helps the organization to establish a good engagement between the user and the company. AI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are used to provide customer support instantly and help to reduce complaints and queries to a great extent. Let's take a closer look at AI applications in E-commerce.</a:t>
            </a:r>
          </a:p>
          <a:p>
            <a:pPr algn="just" fontAlgn="base"/>
            <a:r>
              <a:rPr lang="en-US" sz="2400" b="1" dirty="0" smtClean="0">
                <a:latin typeface="Times New Roman" pitchFamily="18" charset="0"/>
                <a:cs typeface="Times New Roman" pitchFamily="18" charset="0"/>
              </a:rPr>
              <a:t>Personalization: </a:t>
            </a:r>
            <a:r>
              <a:rPr lang="en-US" sz="2400" dirty="0" smtClean="0">
                <a:latin typeface="Times New Roman" pitchFamily="18" charset="0"/>
                <a:cs typeface="Times New Roman" pitchFamily="18" charset="0"/>
              </a:rPr>
              <a:t>Using this feature, customers would be able to see those products based on their interest pattern and that eventually will drive more conversions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19" name="object 3"/>
          <p:cNvSpPr/>
          <p:nvPr/>
        </p:nvSpPr>
        <p:spPr>
          <a:xfrm>
            <a:off x="1571604" y="1142984"/>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100010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822459" y="928670"/>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4" name="object 6"/>
          <p:cNvGrpSpPr/>
          <p:nvPr/>
        </p:nvGrpSpPr>
        <p:grpSpPr>
          <a:xfrm>
            <a:off x="7858148" y="100010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5" name="object 9"/>
          <p:cNvGrpSpPr/>
          <p:nvPr/>
        </p:nvGrpSpPr>
        <p:grpSpPr>
          <a:xfrm>
            <a:off x="714348" y="1000108"/>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14282" y="928670"/>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r>
              <a:rPr lang="en-US" sz="2400" b="1" dirty="0" smtClean="0">
                <a:latin typeface="Times New Roman" pitchFamily="18" charset="0"/>
                <a:cs typeface="Times New Roman" pitchFamily="18" charset="0"/>
              </a:rPr>
              <a:t>Dynamic Pricing Structure:</a:t>
            </a:r>
            <a:r>
              <a:rPr lang="en-US" sz="2400" dirty="0" smtClean="0">
                <a:latin typeface="Times New Roman" pitchFamily="18" charset="0"/>
                <a:cs typeface="Times New Roman" pitchFamily="18" charset="0"/>
              </a:rPr>
              <a:t> It's a smart way of fluctuating the price of any given product by analyzing data from different sources and based on which price prediction is being done.</a:t>
            </a:r>
          </a:p>
          <a:p>
            <a:pPr algn="just" fontAlgn="base"/>
            <a:r>
              <a:rPr lang="en-US" sz="2400" b="1" dirty="0" smtClean="0">
                <a:latin typeface="Times New Roman" pitchFamily="18" charset="0"/>
                <a:cs typeface="Times New Roman" pitchFamily="18" charset="0"/>
              </a:rPr>
              <a:t>Voice Search:</a:t>
            </a:r>
            <a:r>
              <a:rPr lang="en-US" sz="2400" dirty="0" smtClean="0">
                <a:latin typeface="Times New Roman" pitchFamily="18" charset="0"/>
                <a:cs typeface="Times New Roman" pitchFamily="18" charset="0"/>
              </a:rPr>
              <a:t> With the introduction of this feature, many applications and websites are using voice-over searches in their </a:t>
            </a:r>
            <a:r>
              <a:rPr lang="en-US" sz="2400" dirty="0" smtClean="0">
                <a:latin typeface="Times New Roman" pitchFamily="18" charset="0"/>
                <a:cs typeface="Times New Roman" pitchFamily="18" charset="0"/>
              </a:rPr>
              <a:t>system.</a:t>
            </a:r>
          </a:p>
          <a:p>
            <a:pPr algn="just" fontAlgn="base">
              <a:buNone/>
            </a:pPr>
            <a:r>
              <a:rPr lang="en-IN" sz="2400" b="1" dirty="0" smtClean="0">
                <a:latin typeface="Times New Roman" pitchFamily="18" charset="0"/>
                <a:cs typeface="Times New Roman" pitchFamily="18" charset="0"/>
              </a:rPr>
              <a:t>2</a:t>
            </a:r>
            <a:r>
              <a:rPr lang="en-IN"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Education Purpose</a:t>
            </a:r>
          </a:p>
          <a:p>
            <a:pPr algn="just" fontAlgn="base"/>
            <a:r>
              <a:rPr lang="en-US" sz="2400" dirty="0" smtClean="0">
                <a:latin typeface="Times New Roman" pitchFamily="18" charset="0"/>
                <a:cs typeface="Times New Roman" pitchFamily="18" charset="0"/>
              </a:rPr>
              <a:t>Educational sectors were totally organized and managed by human involvement till some years back. But these days, the educational sector is also coming under the influence of Artificial Intelligence</a:t>
            </a:r>
            <a:r>
              <a:rPr lang="en-US" sz="2400" dirty="0" smtClean="0">
                <a:latin typeface="Times New Roman" pitchFamily="18" charset="0"/>
                <a:cs typeface="Times New Roman" pitchFamily="18" charset="0"/>
              </a:rPr>
              <a:t>.</a:t>
            </a:r>
            <a:r>
              <a:rPr lang="en-US" sz="2400" b="1"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lgn="just" fontAlgn="base"/>
            <a:r>
              <a:rPr lang="en-US" sz="2400" b="1" dirty="0" smtClean="0">
                <a:latin typeface="Times New Roman" pitchFamily="18" charset="0"/>
                <a:cs typeface="Times New Roman" pitchFamily="18" charset="0"/>
              </a:rPr>
              <a:t>Voice </a:t>
            </a:r>
            <a:r>
              <a:rPr lang="en-US" sz="2400" b="1" dirty="0" smtClean="0">
                <a:latin typeface="Times New Roman" pitchFamily="18" charset="0"/>
                <a:cs typeface="Times New Roman" pitchFamily="18" charset="0"/>
              </a:rPr>
              <a:t>Assistant: </a:t>
            </a:r>
            <a:r>
              <a:rPr lang="en-US" sz="2400" dirty="0" smtClean="0">
                <a:latin typeface="Times New Roman" pitchFamily="18" charset="0"/>
                <a:cs typeface="Times New Roman" pitchFamily="18" charset="0"/>
              </a:rPr>
              <a:t>With the help of AI </a:t>
            </a:r>
            <a:r>
              <a:rPr lang="en-US" sz="2400" dirty="0" smtClean="0">
                <a:latin typeface="Times New Roman" pitchFamily="18" charset="0"/>
                <a:cs typeface="Times New Roman" pitchFamily="18" charset="0"/>
              </a:rPr>
              <a:t>algorithms</a:t>
            </a:r>
            <a:r>
              <a:rPr lang="en-US" sz="2400" u="sng"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this feature can be used in multiple ways to save time and provide help to assist users when required</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algn="just" fontAlgn="base">
              <a:buNone/>
            </a:pPr>
            <a:endParaRPr lang="en-US" sz="2400"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14356"/>
            <a:ext cx="8643998" cy="5643602"/>
          </a:xfrm>
        </p:spPr>
        <p:txBody>
          <a:bodyPr>
            <a:noAutofit/>
          </a:bodyPr>
          <a:lstStyle/>
          <a:p>
            <a:pPr algn="just" fontAlgn="base"/>
            <a:r>
              <a:rPr lang="en-US" sz="2200" b="1" dirty="0" smtClean="0">
                <a:latin typeface="Times New Roman" pitchFamily="18" charset="0"/>
                <a:cs typeface="Times New Roman" pitchFamily="18" charset="0"/>
              </a:rPr>
              <a:t>Enhanced Engagement and Accessibility : </a:t>
            </a:r>
            <a:r>
              <a:rPr lang="en-US" sz="2200" dirty="0" smtClean="0">
                <a:latin typeface="Times New Roman" pitchFamily="18" charset="0"/>
                <a:cs typeface="Times New Roman" pitchFamily="18" charset="0"/>
              </a:rPr>
              <a:t>It helps in the development of interactive learning environments, support engagement with features such as gamification and provide accessible resources for students with disabilities.</a:t>
            </a:r>
          </a:p>
          <a:p>
            <a:pPr algn="just" fontAlgn="base"/>
            <a:r>
              <a:rPr lang="en-US" sz="2200" b="1" dirty="0" smtClean="0">
                <a:latin typeface="Times New Roman" pitchFamily="18" charset="0"/>
                <a:cs typeface="Times New Roman" pitchFamily="18" charset="0"/>
              </a:rPr>
              <a:t>Smart Content Creation: </a:t>
            </a:r>
            <a:r>
              <a:rPr lang="en-US" sz="2200" dirty="0" smtClean="0">
                <a:latin typeface="Times New Roman" pitchFamily="18" charset="0"/>
                <a:cs typeface="Times New Roman" pitchFamily="18" charset="0"/>
              </a:rPr>
              <a:t>It uses algorithms to detect, predict and design content and provide valuable insights based on the user's interest which can include videos, audio, </a:t>
            </a:r>
            <a:r>
              <a:rPr lang="en-US" sz="2200" dirty="0" err="1" smtClean="0">
                <a:latin typeface="Times New Roman" pitchFamily="18" charset="0"/>
                <a:cs typeface="Times New Roman" pitchFamily="18" charset="0"/>
              </a:rPr>
              <a:t>infographics</a:t>
            </a:r>
            <a:r>
              <a:rPr lang="en-US" sz="2200" dirty="0" smtClean="0">
                <a:latin typeface="Times New Roman" pitchFamily="18" charset="0"/>
                <a:cs typeface="Times New Roman" pitchFamily="18" charset="0"/>
              </a:rPr>
              <a:t> etc</a:t>
            </a:r>
            <a:r>
              <a:rPr lang="en-US" sz="2200" dirty="0" smtClean="0">
                <a:latin typeface="Times New Roman" pitchFamily="18" charset="0"/>
                <a:cs typeface="Times New Roman" pitchFamily="18" charset="0"/>
              </a:rPr>
              <a:t>.</a:t>
            </a:r>
          </a:p>
          <a:p>
            <a:pPr algn="just" fontAlgn="base">
              <a:buNone/>
            </a:pPr>
            <a:r>
              <a:rPr lang="en-IN" sz="2200" b="1" dirty="0" smtClean="0">
                <a:latin typeface="Times New Roman" pitchFamily="18" charset="0"/>
                <a:cs typeface="Times New Roman" pitchFamily="18" charset="0"/>
              </a:rPr>
              <a:t>3. </a:t>
            </a:r>
            <a:r>
              <a:rPr lang="en-US" sz="2200" b="1" dirty="0" smtClean="0">
                <a:latin typeface="Times New Roman" pitchFamily="18" charset="0"/>
                <a:cs typeface="Times New Roman" pitchFamily="18" charset="0"/>
              </a:rPr>
              <a:t>Robotics</a:t>
            </a:r>
          </a:p>
          <a:p>
            <a:pPr algn="just" fontAlgn="base"/>
            <a:r>
              <a:rPr lang="en-US" sz="2200" dirty="0" smtClean="0">
                <a:latin typeface="Times New Roman" pitchFamily="18" charset="0"/>
                <a:cs typeface="Times New Roman" pitchFamily="18" charset="0"/>
              </a:rPr>
              <a:t>Artificial Intelligence is one of the major technologies that provide the </a:t>
            </a:r>
            <a:r>
              <a:rPr lang="en-US" sz="2200" b="1" dirty="0" smtClean="0">
                <a:latin typeface="Times New Roman" pitchFamily="18" charset="0"/>
                <a:cs typeface="Times New Roman" pitchFamily="18" charset="0"/>
              </a:rPr>
              <a:t>robotics </a:t>
            </a:r>
            <a:r>
              <a:rPr lang="en-US" sz="2200" dirty="0" smtClean="0">
                <a:latin typeface="Times New Roman" pitchFamily="18" charset="0"/>
                <a:cs typeface="Times New Roman" pitchFamily="18" charset="0"/>
              </a:rPr>
              <a:t>field </a:t>
            </a:r>
            <a:r>
              <a:rPr lang="en-US" sz="2200" dirty="0" smtClean="0">
                <a:latin typeface="Times New Roman" pitchFamily="18" charset="0"/>
                <a:cs typeface="Times New Roman" pitchFamily="18" charset="0"/>
              </a:rPr>
              <a:t>with a boost to increase their efficiency. AI provides robots to make decisions in real time and increase productivity</a:t>
            </a:r>
            <a:r>
              <a:rPr lang="en-US" sz="2200" dirty="0" smtClean="0">
                <a:latin typeface="Times New Roman" pitchFamily="18" charset="0"/>
                <a:cs typeface="Times New Roman" pitchFamily="18" charset="0"/>
              </a:rPr>
              <a:t>.</a:t>
            </a:r>
          </a:p>
          <a:p>
            <a:pPr algn="just" fontAlgn="base"/>
            <a:r>
              <a:rPr lang="en-US" sz="2200" b="1" dirty="0" smtClean="0">
                <a:latin typeface="Times New Roman" pitchFamily="18" charset="0"/>
                <a:cs typeface="Times New Roman" pitchFamily="18" charset="0"/>
              </a:rPr>
              <a:t>Autonomous Navigation:</a:t>
            </a:r>
            <a:r>
              <a:rPr lang="en-US" sz="2200" dirty="0" smtClean="0">
                <a:latin typeface="Times New Roman" pitchFamily="18" charset="0"/>
                <a:cs typeface="Times New Roman" pitchFamily="18" charset="0"/>
              </a:rPr>
              <a:t> AI equips robots including self-driving cars and drones to navigate through complex environments by using sensors and computer vision, making decisions based on their surroundings</a:t>
            </a:r>
            <a:r>
              <a:rPr lang="en-US" sz="2200" b="1"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a:buNone/>
            </a:pP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r>
              <a:rPr lang="en-US" sz="2400" b="1" dirty="0" smtClean="0">
                <a:latin typeface="Times New Roman" pitchFamily="18" charset="0"/>
                <a:cs typeface="Times New Roman" pitchFamily="18" charset="0"/>
              </a:rPr>
              <a:t>Healthcare Robotics:</a:t>
            </a:r>
            <a:r>
              <a:rPr lang="en-US" sz="2400" dirty="0" smtClean="0">
                <a:latin typeface="Times New Roman" pitchFamily="18" charset="0"/>
                <a:cs typeface="Times New Roman" pitchFamily="18" charset="0"/>
              </a:rPr>
              <a:t> Robots powered by AI assist in surgeries and patient care bring precision to the medical procedures and support in recovery.</a:t>
            </a:r>
          </a:p>
          <a:p>
            <a:pPr algn="just" fontAlgn="base"/>
            <a:r>
              <a:rPr lang="en-US" sz="2400" b="1" dirty="0" smtClean="0">
                <a:latin typeface="Times New Roman" pitchFamily="18" charset="0"/>
                <a:cs typeface="Times New Roman" pitchFamily="18" charset="0"/>
              </a:rPr>
              <a:t>Industrial Automation: </a:t>
            </a:r>
            <a:r>
              <a:rPr lang="en-US" sz="2400" dirty="0" smtClean="0">
                <a:latin typeface="Times New Roman" pitchFamily="18" charset="0"/>
                <a:cs typeface="Times New Roman" pitchFamily="18" charset="0"/>
              </a:rPr>
              <a:t>Robots automate repetitive tasks, carry out quality control and optimize assembly processes by learning from experience to improve their performance.</a:t>
            </a:r>
            <a:endParaRPr lang="en-US" sz="2400" b="1" dirty="0" smtClean="0">
              <a:latin typeface="Times New Roman" pitchFamily="18" charset="0"/>
              <a:cs typeface="Times New Roman" pitchFamily="18" charset="0"/>
            </a:endParaRPr>
          </a:p>
          <a:p>
            <a:pPr algn="just" fontAlgn="base">
              <a:buNone/>
            </a:pPr>
            <a:r>
              <a:rPr lang="en-US" sz="2400" b="1" dirty="0" smtClean="0">
                <a:latin typeface="Times New Roman" pitchFamily="18" charset="0"/>
                <a:cs typeface="Times New Roman" pitchFamily="18" charset="0"/>
              </a:rPr>
              <a:t>4. GPS and Navigations</a:t>
            </a:r>
          </a:p>
          <a:p>
            <a:pPr algn="just" fontAlgn="base"/>
            <a:r>
              <a:rPr lang="en-US" sz="2400" b="1" dirty="0" smtClean="0">
                <a:latin typeface="Times New Roman" pitchFamily="18" charset="0"/>
                <a:cs typeface="Times New Roman" pitchFamily="18" charset="0"/>
              </a:rPr>
              <a:t>GPS technology</a:t>
            </a:r>
            <a:r>
              <a:rPr lang="en-US" sz="2400" dirty="0" smtClean="0">
                <a:latin typeface="Times New Roman" pitchFamily="18" charset="0"/>
                <a:cs typeface="Times New Roman" pitchFamily="18" charset="0"/>
              </a:rPr>
              <a:t> uses AI to provide the best available route to the users for traveling. It helps the user to choose their type of lane and roads which increases the safety features of a user.</a:t>
            </a:r>
          </a:p>
          <a:p>
            <a:pPr algn="just" fontAlgn="base"/>
            <a:r>
              <a:rPr lang="en-US" sz="2400" b="1" dirty="0" smtClean="0">
                <a:latin typeface="Times New Roman" pitchFamily="18" charset="0"/>
                <a:cs typeface="Times New Roman" pitchFamily="18" charset="0"/>
              </a:rPr>
              <a:t>Voice Assistance: </a:t>
            </a:r>
            <a:r>
              <a:rPr lang="en-US" sz="2400" dirty="0" smtClean="0">
                <a:latin typeface="Times New Roman" pitchFamily="18" charset="0"/>
                <a:cs typeface="Times New Roman" pitchFamily="18" charset="0"/>
              </a:rPr>
              <a:t>This feature allows users to interact with the AI using a hands-free feature which allows them to drive while communicating with the navigation system.</a:t>
            </a:r>
          </a:p>
          <a:p>
            <a:pPr algn="just" fontAlgn="base">
              <a:buNone/>
            </a:pPr>
            <a:endParaRPr lang="en-US" sz="2400"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r>
              <a:rPr lang="en-US" sz="2400" b="1" dirty="0" smtClean="0">
                <a:latin typeface="Times New Roman" pitchFamily="18" charset="0"/>
                <a:cs typeface="Times New Roman" pitchFamily="18" charset="0"/>
              </a:rPr>
              <a:t>Dynamic Route Optimization: </a:t>
            </a:r>
            <a:r>
              <a:rPr lang="en-US" sz="2400" dirty="0" smtClean="0">
                <a:latin typeface="Times New Roman" pitchFamily="18" charset="0"/>
                <a:cs typeface="Times New Roman" pitchFamily="18" charset="0"/>
              </a:rPr>
              <a:t>AI reads real-time data to ensure optimized routes based on the current traffic conditions so that the navigation is faster and efficient.</a:t>
            </a:r>
          </a:p>
          <a:p>
            <a:pPr algn="just" fontAlgn="base"/>
            <a:r>
              <a:rPr lang="en-US" sz="2400" b="1" dirty="0" smtClean="0">
                <a:latin typeface="Times New Roman" pitchFamily="18" charset="0"/>
                <a:cs typeface="Times New Roman" pitchFamily="18" charset="0"/>
              </a:rPr>
              <a:t>Predictive Traffic Analysis:</a:t>
            </a:r>
            <a:r>
              <a:rPr lang="en-US" sz="2400" dirty="0" smtClean="0">
                <a:latin typeface="Times New Roman" pitchFamily="18" charset="0"/>
                <a:cs typeface="Times New Roman" pitchFamily="18" charset="0"/>
              </a:rPr>
              <a:t> Using historical data and machine learning, predictions enable the navigation app to suggest for the best possible time to travel.</a:t>
            </a:r>
          </a:p>
          <a:p>
            <a:pPr algn="just" fontAlgn="base">
              <a:buNone/>
            </a:pPr>
            <a:r>
              <a:rPr lang="en-US" sz="2400" b="1" dirty="0" smtClean="0">
                <a:latin typeface="Times New Roman" pitchFamily="18" charset="0"/>
                <a:cs typeface="Times New Roman" pitchFamily="18" charset="0"/>
              </a:rPr>
              <a:t>5. Healthcare</a:t>
            </a:r>
          </a:p>
          <a:p>
            <a:pPr algn="just" fontAlgn="base"/>
            <a:r>
              <a:rPr lang="en-US" sz="2400" dirty="0" smtClean="0">
                <a:latin typeface="Times New Roman" pitchFamily="18" charset="0"/>
                <a:cs typeface="Times New Roman" pitchFamily="18" charset="0"/>
              </a:rPr>
              <a:t>Various algorithms are used to build precise machines that are able to detect diseases inside the human body. Artificial Intelligence is also used to find the current vacant beds in the hospitals of a city that saves the time of patients who are in emergency conditions.</a:t>
            </a:r>
          </a:p>
          <a:p>
            <a:pPr algn="just" fontAlgn="base">
              <a:buNone/>
            </a:pPr>
            <a:endParaRPr lang="en-US" sz="2400"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r>
              <a:rPr lang="en-US" sz="2400" b="1" dirty="0" smtClean="0">
                <a:latin typeface="Times New Roman" pitchFamily="18" charset="0"/>
                <a:cs typeface="Times New Roman" pitchFamily="18" charset="0"/>
              </a:rPr>
              <a:t>Medical </a:t>
            </a:r>
            <a:r>
              <a:rPr lang="en-US" sz="2400" b="1" dirty="0" smtClean="0">
                <a:latin typeface="Times New Roman" pitchFamily="18" charset="0"/>
                <a:cs typeface="Times New Roman" pitchFamily="18" charset="0"/>
              </a:rPr>
              <a:t>Imaging and Diagnostics: </a:t>
            </a:r>
            <a:r>
              <a:rPr lang="en-US" sz="2400" dirty="0" smtClean="0">
                <a:latin typeface="Times New Roman" pitchFamily="18" charset="0"/>
                <a:cs typeface="Times New Roman" pitchFamily="18" charset="0"/>
              </a:rPr>
              <a:t>AI algorithms detect problems</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like cancer, heart disease and neurological</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problems from medical images such as X-rays, MRIs and CT scans. AI helps doctors determine patterns that human doctors may miss, thus improving their accuracy in diagnosing patients.</a:t>
            </a:r>
          </a:p>
          <a:p>
            <a:pPr fontAlgn="base"/>
            <a:r>
              <a:rPr lang="en-US" sz="2400" b="1" dirty="0" smtClean="0">
                <a:latin typeface="Times New Roman" pitchFamily="18" charset="0"/>
                <a:cs typeface="Times New Roman" pitchFamily="18" charset="0"/>
              </a:rPr>
              <a:t>Predictive </a:t>
            </a:r>
            <a:r>
              <a:rPr lang="en-US" sz="2400" b="1" dirty="0" smtClean="0">
                <a:latin typeface="Times New Roman" pitchFamily="18" charset="0"/>
                <a:cs typeface="Times New Roman" pitchFamily="18" charset="0"/>
              </a:rPr>
              <a:t>Analytics:</a:t>
            </a:r>
            <a:r>
              <a:rPr lang="en-US" sz="2400" dirty="0" smtClean="0">
                <a:latin typeface="Times New Roman" pitchFamily="18" charset="0"/>
                <a:cs typeface="Times New Roman" pitchFamily="18" charset="0"/>
              </a:rPr>
              <a:t> AI models predict the likelihood of future conditions such as diabetes, strokes, or heart attacks by analyzing patient data including medical histories, lifestyle and genetic information.</a:t>
            </a:r>
          </a:p>
          <a:p>
            <a:pPr fontAlgn="base"/>
            <a:r>
              <a:rPr lang="en-US" sz="2400" b="1" dirty="0" smtClean="0">
                <a:latin typeface="Times New Roman" pitchFamily="18" charset="0"/>
                <a:cs typeface="Times New Roman" pitchFamily="18" charset="0"/>
              </a:rPr>
              <a:t>Virtual Health Assistants: </a:t>
            </a:r>
            <a:r>
              <a:rPr lang="en-US" sz="2400" dirty="0" smtClean="0">
                <a:latin typeface="Times New Roman" pitchFamily="18" charset="0"/>
                <a:cs typeface="Times New Roman" pitchFamily="18" charset="0"/>
              </a:rPr>
              <a:t>AI-powered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and virtual assistants are used for patient support, scheduling appointments and monitoring chronic conditions. They provide 24/7 assistance reducing the burden on healthcare </a:t>
            </a:r>
            <a:r>
              <a:rPr lang="en-US" sz="2400" dirty="0" smtClean="0">
                <a:latin typeface="Times New Roman" pitchFamily="18" charset="0"/>
                <a:cs typeface="Times New Roman" pitchFamily="18" charset="0"/>
              </a:rPr>
              <a:t>professionals</a:t>
            </a:r>
            <a:r>
              <a:rPr lang="en-US" sz="2400" dirty="0" smtClean="0">
                <a:latin typeface="Times New Roman" pitchFamily="18" charset="0"/>
                <a:cs typeface="Times New Roman" pitchFamily="18" charset="0"/>
              </a:rPr>
              <a:t>.</a:t>
            </a: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429396"/>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buNone/>
            </a:pPr>
            <a:r>
              <a:rPr lang="en-US" sz="2200" b="1" dirty="0" smtClean="0">
                <a:latin typeface="Times New Roman" pitchFamily="18" charset="0"/>
                <a:cs typeface="Times New Roman" pitchFamily="18" charset="0"/>
              </a:rPr>
              <a:t>6. Automobiles</a:t>
            </a:r>
          </a:p>
          <a:p>
            <a:pPr algn="just" fontAlgn="base"/>
            <a:r>
              <a:rPr lang="en-US" sz="2200" dirty="0" smtClean="0">
                <a:latin typeface="Times New Roman" pitchFamily="18" charset="0"/>
                <a:cs typeface="Times New Roman" pitchFamily="18" charset="0"/>
              </a:rPr>
              <a:t>It makes the automotive industry vehicles smarter, safer and more efficient. AI technologies are transform how cars are designed and driven.</a:t>
            </a:r>
          </a:p>
          <a:p>
            <a:pPr algn="just" fontAlgn="base"/>
            <a:r>
              <a:rPr lang="en-US" sz="2200" b="1" dirty="0" smtClean="0">
                <a:latin typeface="Times New Roman" pitchFamily="18" charset="0"/>
                <a:cs typeface="Times New Roman" pitchFamily="18" charset="0"/>
              </a:rPr>
              <a:t>Predictive Maintenance: </a:t>
            </a:r>
            <a:r>
              <a:rPr lang="en-US" sz="2200" dirty="0" smtClean="0">
                <a:latin typeface="Times New Roman" pitchFamily="18" charset="0"/>
                <a:cs typeface="Times New Roman" pitchFamily="18" charset="0"/>
              </a:rPr>
              <a:t>AI can predict when a vehicle's components require maintenance or replacement. It can forecast issues before they result in breakdowns by analyzing data from sensors embedded in the vehicle.</a:t>
            </a:r>
          </a:p>
          <a:p>
            <a:pPr algn="just" fontAlgn="base"/>
            <a:r>
              <a:rPr lang="en-US" sz="2200" b="1" dirty="0" smtClean="0">
                <a:latin typeface="Times New Roman" pitchFamily="18" charset="0"/>
                <a:cs typeface="Times New Roman" pitchFamily="18" charset="0"/>
              </a:rPr>
              <a:t>V2X Communication: </a:t>
            </a:r>
            <a:r>
              <a:rPr lang="en-US" sz="2200" dirty="0" smtClean="0">
                <a:latin typeface="Times New Roman" pitchFamily="18" charset="0"/>
                <a:cs typeface="Times New Roman" pitchFamily="18" charset="0"/>
              </a:rPr>
              <a:t>V2X communication with the help of AI helps cars anticipate hazards, reduces accidents and optimizes the management of traffic-carrying functions especially in crowded urban areas.</a:t>
            </a:r>
          </a:p>
          <a:p>
            <a:pPr algn="just" fontAlgn="base"/>
            <a:r>
              <a:rPr lang="en-US" sz="2200" b="1" dirty="0" smtClean="0">
                <a:latin typeface="Times New Roman" pitchFamily="18" charset="0"/>
                <a:cs typeface="Times New Roman" pitchFamily="18" charset="0"/>
              </a:rPr>
              <a:t>Driver Behavior Monitoring: </a:t>
            </a:r>
            <a:r>
              <a:rPr lang="en-US" sz="2200" dirty="0" smtClean="0">
                <a:latin typeface="Times New Roman" pitchFamily="18" charset="0"/>
                <a:cs typeface="Times New Roman" pitchFamily="18" charset="0"/>
              </a:rPr>
              <a:t>AI shall monitor a driver's behavior via sensors and cameras to identify signals of fatigue or distraction. Using that, the system shall provide a warning or adjust the driving conditions for improvement towards safety.</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buNone/>
            </a:pPr>
            <a:r>
              <a:rPr lang="en-US" sz="2200" b="1" dirty="0" smtClean="0">
                <a:latin typeface="Times New Roman" pitchFamily="18" charset="0"/>
                <a:cs typeface="Times New Roman" pitchFamily="18" charset="0"/>
              </a:rPr>
              <a:t>7. Agriculture</a:t>
            </a:r>
          </a:p>
          <a:p>
            <a:pPr algn="just" fontAlgn="base"/>
            <a:r>
              <a:rPr lang="en-US" sz="2200" dirty="0" smtClean="0">
                <a:latin typeface="Times New Roman" pitchFamily="18" charset="0"/>
                <a:cs typeface="Times New Roman" pitchFamily="18" charset="0"/>
              </a:rPr>
              <a:t>It is used to detect various parameters such as the amount of water and moisture, amount of deficient nutrients etc in the soil. There is also a machine that uses AI to detect where the weeds are growing and the soil is infertile.</a:t>
            </a:r>
          </a:p>
          <a:p>
            <a:pPr algn="just" fontAlgn="base"/>
            <a:r>
              <a:rPr lang="en-US" sz="2200" b="1" dirty="0" smtClean="0">
                <a:latin typeface="Times New Roman" pitchFamily="18" charset="0"/>
                <a:cs typeface="Times New Roman" pitchFamily="18" charset="0"/>
              </a:rPr>
              <a:t>Stock Monitoring: </a:t>
            </a:r>
            <a:r>
              <a:rPr lang="en-US" sz="2200" dirty="0" smtClean="0">
                <a:latin typeface="Times New Roman" pitchFamily="18" charset="0"/>
                <a:cs typeface="Times New Roman" pitchFamily="18" charset="0"/>
              </a:rPr>
              <a:t>Rigorous monitoring to ensure that crops that not being affected by any disease, AI uses Computer Vision to check crop feeds live and alarm when any abnormality arises.</a:t>
            </a:r>
          </a:p>
          <a:p>
            <a:pPr algn="just" fontAlgn="base"/>
            <a:r>
              <a:rPr lang="en-US" sz="2200" b="1" dirty="0" smtClean="0">
                <a:latin typeface="Times New Roman" pitchFamily="18" charset="0"/>
                <a:cs typeface="Times New Roman" pitchFamily="18" charset="0"/>
              </a:rPr>
              <a:t>Pest Management: </a:t>
            </a:r>
            <a:r>
              <a:rPr lang="en-US" sz="2200" dirty="0" smtClean="0">
                <a:latin typeface="Times New Roman" pitchFamily="18" charset="0"/>
                <a:cs typeface="Times New Roman" pitchFamily="18" charset="0"/>
              </a:rPr>
              <a:t>Algorithms can analyze data from multiple sources to identify early warnings to respective farmers. This technology also enables less usage of harmful pesticides by offering the best resources for pest management.</a:t>
            </a:r>
          </a:p>
          <a:p>
            <a:pPr algn="just" fontAlgn="base"/>
            <a:r>
              <a:rPr lang="en-US" sz="2200" b="1" dirty="0" smtClean="0">
                <a:latin typeface="Times New Roman" pitchFamily="18" charset="0"/>
                <a:cs typeface="Times New Roman" pitchFamily="18" charset="0"/>
              </a:rPr>
              <a:t>Forecasting:</a:t>
            </a:r>
            <a:r>
              <a:rPr lang="en-US" sz="2200" dirty="0" smtClean="0">
                <a:latin typeface="Times New Roman" pitchFamily="18" charset="0"/>
                <a:cs typeface="Times New Roman" pitchFamily="18" charset="0"/>
              </a:rPr>
              <a:t> With the help of AI analyzing the weather forecast and crop growth has become more convenient in the field of agriculture and the algorithms help farmers to grow crops with effective business decisions.</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500726"/>
          </a:xfrm>
        </p:spPr>
        <p:txBody>
          <a:bodyPr>
            <a:noAutofit/>
          </a:bodyPr>
          <a:lstStyle/>
          <a:p>
            <a:pPr algn="just" fontAlgn="base">
              <a:buNone/>
            </a:pPr>
            <a:r>
              <a:rPr lang="en-US" sz="2200" b="1" dirty="0" smtClean="0">
                <a:latin typeface="Times New Roman" pitchFamily="18" charset="0"/>
                <a:cs typeface="Times New Roman" pitchFamily="18" charset="0"/>
              </a:rPr>
              <a:t>8. Human Resource</a:t>
            </a:r>
          </a:p>
          <a:p>
            <a:pPr algn="just" fontAlgn="base"/>
            <a:r>
              <a:rPr lang="en-US" sz="2200" dirty="0" smtClean="0">
                <a:latin typeface="Times New Roman" pitchFamily="18" charset="0"/>
                <a:cs typeface="Times New Roman" pitchFamily="18" charset="0"/>
              </a:rPr>
              <a:t>The online selection processes are done using the voice and camera permission of the candidate’s device. Here Artificial Intelligence is used to detect any kind of malpractice behavior and many other things.</a:t>
            </a:r>
          </a:p>
          <a:p>
            <a:pPr algn="just" fontAlgn="base"/>
            <a:r>
              <a:rPr lang="en-US" sz="2200" b="1" dirty="0" smtClean="0">
                <a:latin typeface="Times New Roman" pitchFamily="18" charset="0"/>
                <a:cs typeface="Times New Roman" pitchFamily="18" charset="0"/>
              </a:rPr>
              <a:t>Screening: </a:t>
            </a:r>
            <a:r>
              <a:rPr lang="en-US" sz="2200" dirty="0" smtClean="0">
                <a:latin typeface="Times New Roman" pitchFamily="18" charset="0"/>
                <a:cs typeface="Times New Roman" pitchFamily="18" charset="0"/>
              </a:rPr>
              <a:t>The screening process of candidates can be automated to reduce the timeframe and eliminate excess resources for this task. This helps shortlist potential candidates and resumes by assessing insightful information in no time.</a:t>
            </a:r>
          </a:p>
          <a:p>
            <a:pPr algn="just" fontAlgn="base"/>
            <a:r>
              <a:rPr lang="en-US" sz="2200" b="1" dirty="0" err="1" smtClean="0">
                <a:latin typeface="Times New Roman" pitchFamily="18" charset="0"/>
                <a:cs typeface="Times New Roman" pitchFamily="18" charset="0"/>
              </a:rPr>
              <a:t>Onboarding</a:t>
            </a: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Offering a personalized </a:t>
            </a:r>
            <a:r>
              <a:rPr lang="en-US" sz="2200" dirty="0" err="1" smtClean="0">
                <a:latin typeface="Times New Roman" pitchFamily="18" charset="0"/>
                <a:cs typeface="Times New Roman" pitchFamily="18" charset="0"/>
              </a:rPr>
              <a:t>onboarding</a:t>
            </a:r>
            <a:r>
              <a:rPr lang="en-US" sz="2200" dirty="0" smtClean="0">
                <a:latin typeface="Times New Roman" pitchFamily="18" charset="0"/>
                <a:cs typeface="Times New Roman" pitchFamily="18" charset="0"/>
              </a:rPr>
              <a:t> kit has become famous in many tech companies and this enables HR professionals to complete the initial paperwork easily.</a:t>
            </a:r>
          </a:p>
          <a:p>
            <a:pPr algn="just" fontAlgn="base"/>
            <a:r>
              <a:rPr lang="en-US" sz="2200" b="1" dirty="0" smtClean="0">
                <a:latin typeface="Times New Roman" pitchFamily="18" charset="0"/>
                <a:cs typeface="Times New Roman" pitchFamily="18" charset="0"/>
              </a:rPr>
              <a:t>Workforce Planning: </a:t>
            </a:r>
            <a:r>
              <a:rPr lang="en-US" sz="2200" dirty="0" smtClean="0">
                <a:latin typeface="Times New Roman" pitchFamily="18" charset="0"/>
                <a:cs typeface="Times New Roman" pitchFamily="18" charset="0"/>
              </a:rPr>
              <a:t>To predict future work plans and align resources, AI can be helpful in the human resource sector. This requires a predictive analysis based on which workforce planning is being performed.</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643602"/>
          </a:xfrm>
        </p:spPr>
        <p:txBody>
          <a:bodyPr>
            <a:noAutofit/>
          </a:bodyPr>
          <a:lstStyle/>
          <a:p>
            <a:pPr algn="just" fontAlgn="base">
              <a:buNone/>
            </a:pPr>
            <a:r>
              <a:rPr lang="en-US" sz="2300" b="1" dirty="0" smtClean="0">
                <a:latin typeface="Times New Roman" pitchFamily="18" charset="0"/>
                <a:cs typeface="Times New Roman" pitchFamily="18" charset="0"/>
              </a:rPr>
              <a:t>9. Lifestyle</a:t>
            </a:r>
          </a:p>
          <a:p>
            <a:pPr algn="just" fontAlgn="base"/>
            <a:r>
              <a:rPr lang="en-US" sz="2300" dirty="0" smtClean="0">
                <a:latin typeface="Times New Roman" pitchFamily="18" charset="0"/>
                <a:cs typeface="Times New Roman" pitchFamily="18" charset="0"/>
              </a:rPr>
              <a:t>Some examples of AI impact on lifestyle are spam filters in the mail, fraud call detection, face unlock of mobile in our mobile and laptops etc.</a:t>
            </a:r>
          </a:p>
          <a:p>
            <a:pPr algn="just" fontAlgn="base"/>
            <a:r>
              <a:rPr lang="en-US" sz="2300" b="1" dirty="0" smtClean="0">
                <a:latin typeface="Times New Roman" pitchFamily="18" charset="0"/>
                <a:cs typeface="Times New Roman" pitchFamily="18" charset="0"/>
              </a:rPr>
              <a:t>Virtual assistants:</a:t>
            </a:r>
            <a:r>
              <a:rPr lang="en-US" sz="2300" dirty="0" smtClean="0">
                <a:latin typeface="Times New Roman" pitchFamily="18" charset="0"/>
                <a:cs typeface="Times New Roman" pitchFamily="18" charset="0"/>
              </a:rPr>
              <a:t> Assistants such as </a:t>
            </a:r>
            <a:r>
              <a:rPr lang="en-US" sz="2300" dirty="0" err="1" smtClean="0">
                <a:latin typeface="Times New Roman" pitchFamily="18" charset="0"/>
                <a:cs typeface="Times New Roman" pitchFamily="18" charset="0"/>
              </a:rPr>
              <a:t>Siri</a:t>
            </a:r>
            <a:r>
              <a:rPr lang="en-US" sz="2300" dirty="0" smtClean="0">
                <a:latin typeface="Times New Roman" pitchFamily="18" charset="0"/>
                <a:cs typeface="Times New Roman" pitchFamily="18" charset="0"/>
              </a:rPr>
              <a:t>, </a:t>
            </a:r>
            <a:r>
              <a:rPr lang="en-US" sz="2300" dirty="0" err="1" smtClean="0">
                <a:latin typeface="Times New Roman" pitchFamily="18" charset="0"/>
                <a:cs typeface="Times New Roman" pitchFamily="18" charset="0"/>
              </a:rPr>
              <a:t>Alexa</a:t>
            </a:r>
            <a:r>
              <a:rPr lang="en-US" sz="2300" dirty="0" smtClean="0">
                <a:latin typeface="Times New Roman" pitchFamily="18" charset="0"/>
                <a:cs typeface="Times New Roman" pitchFamily="18" charset="0"/>
              </a:rPr>
              <a:t> and Google Assistant can work on managing different tasks using only voice commands and deliver information reminding the user to do things and even controlling some smart home appliances.</a:t>
            </a:r>
          </a:p>
          <a:p>
            <a:pPr algn="just" fontAlgn="base"/>
            <a:r>
              <a:rPr lang="en-US" sz="2300" b="1" dirty="0" smtClean="0">
                <a:latin typeface="Times New Roman" pitchFamily="18" charset="0"/>
                <a:cs typeface="Times New Roman" pitchFamily="18" charset="0"/>
              </a:rPr>
              <a:t>Personalized Recommendations: </a:t>
            </a:r>
            <a:r>
              <a:rPr lang="en-US" sz="2300" dirty="0" smtClean="0">
                <a:latin typeface="Times New Roman" pitchFamily="18" charset="0"/>
                <a:cs typeface="Times New Roman" pitchFamily="18" charset="0"/>
              </a:rPr>
              <a:t>AI analyses all the user behaviors and preferences offering recommendations in online shopping, streaming services like Netflix and </a:t>
            </a:r>
            <a:r>
              <a:rPr lang="en-US" sz="2300" dirty="0" err="1" smtClean="0">
                <a:latin typeface="Times New Roman" pitchFamily="18" charset="0"/>
                <a:cs typeface="Times New Roman" pitchFamily="18" charset="0"/>
              </a:rPr>
              <a:t>Spotify</a:t>
            </a:r>
            <a:r>
              <a:rPr lang="en-US" sz="2300" dirty="0" smtClean="0">
                <a:latin typeface="Times New Roman" pitchFamily="18" charset="0"/>
                <a:cs typeface="Times New Roman" pitchFamily="18" charset="0"/>
              </a:rPr>
              <a:t> and even social media feeds making them more interactive with the user.</a:t>
            </a:r>
          </a:p>
          <a:p>
            <a:pPr algn="just" fontAlgn="base"/>
            <a:r>
              <a:rPr lang="en-US" sz="2300" b="1" dirty="0" smtClean="0">
                <a:latin typeface="Times New Roman" pitchFamily="18" charset="0"/>
                <a:cs typeface="Times New Roman" pitchFamily="18" charset="0"/>
              </a:rPr>
              <a:t>Smart Home Devices:</a:t>
            </a:r>
            <a:r>
              <a:rPr lang="en-US" sz="2300" dirty="0" smtClean="0">
                <a:latin typeface="Times New Roman" pitchFamily="18" charset="0"/>
                <a:cs typeface="Times New Roman" pitchFamily="18" charset="0"/>
              </a:rPr>
              <a:t> Smart home technology includes security systems, so that the control and monitoring of home environments are automatically done according to user habits and preferences.</a:t>
            </a:r>
            <a:endParaRPr lang="en-US" sz="23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643998" cy="5643602"/>
          </a:xfrm>
        </p:spPr>
        <p:txBody>
          <a:bodyPr>
            <a:noAutofit/>
          </a:bodyPr>
          <a:lstStyle/>
          <a:p>
            <a:pPr algn="just" fontAlgn="base">
              <a:buNone/>
            </a:pPr>
            <a:r>
              <a:rPr lang="en-US" sz="2400" b="1" dirty="0" smtClean="0">
                <a:latin typeface="Times New Roman" pitchFamily="18" charset="0"/>
                <a:cs typeface="Times New Roman" pitchFamily="18" charset="0"/>
              </a:rPr>
              <a:t>10. Social media</a:t>
            </a:r>
          </a:p>
          <a:p>
            <a:pPr algn="just" fontAlgn="base"/>
            <a:r>
              <a:rPr lang="en-US" sz="2400" dirty="0" smtClean="0">
                <a:latin typeface="Times New Roman" pitchFamily="18" charset="0"/>
                <a:cs typeface="Times New Roman" pitchFamily="18" charset="0"/>
              </a:rPr>
              <a:t>Social media platform such as </a:t>
            </a:r>
            <a:r>
              <a:rPr lang="en-US" sz="2400" dirty="0" err="1" smtClean="0">
                <a:latin typeface="Times New Roman" pitchFamily="18" charset="0"/>
                <a:cs typeface="Times New Roman" pitchFamily="18" charset="0"/>
              </a:rPr>
              <a:t>Facebook</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Instagram</a:t>
            </a:r>
            <a:r>
              <a:rPr lang="en-US" sz="2400" dirty="0" smtClean="0">
                <a:latin typeface="Times New Roman" pitchFamily="18" charset="0"/>
                <a:cs typeface="Times New Roman" pitchFamily="18" charset="0"/>
              </a:rPr>
              <a:t> uses Artificial Intelligence to show relevant content to the user.</a:t>
            </a:r>
          </a:p>
          <a:p>
            <a:pPr algn="just" fontAlgn="base"/>
            <a:r>
              <a:rPr lang="en-US" sz="2400" b="1" dirty="0" smtClean="0">
                <a:latin typeface="Times New Roman" pitchFamily="18" charset="0"/>
                <a:cs typeface="Times New Roman" pitchFamily="18" charset="0"/>
              </a:rPr>
              <a:t>Fraud Detection: </a:t>
            </a:r>
            <a:r>
              <a:rPr lang="en-US" sz="2400" dirty="0" smtClean="0">
                <a:latin typeface="Times New Roman" pitchFamily="18" charset="0"/>
                <a:cs typeface="Times New Roman" pitchFamily="18" charset="0"/>
              </a:rPr>
              <a:t>AI uses algorithms to spot and remove any fake accounts that are associated with any social media platform. Fraudsters generally use those accounts to perform unethical activities.</a:t>
            </a:r>
          </a:p>
          <a:p>
            <a:pPr algn="just" fontAlgn="base"/>
            <a:r>
              <a:rPr lang="en-US" sz="2400" b="1" dirty="0" smtClean="0">
                <a:latin typeface="Times New Roman" pitchFamily="18" charset="0"/>
                <a:cs typeface="Times New Roman" pitchFamily="18" charset="0"/>
              </a:rPr>
              <a:t>Sentiment Analysis: </a:t>
            </a:r>
            <a:r>
              <a:rPr lang="en-US" sz="2400" dirty="0" smtClean="0">
                <a:latin typeface="Times New Roman" pitchFamily="18" charset="0"/>
                <a:cs typeface="Times New Roman" pitchFamily="18" charset="0"/>
              </a:rPr>
              <a:t>People are more connected and likely to spend more time on social media platforms. AI uses its algorithm to determine the pattern, providing a better experience while maintaining awareness.</a:t>
            </a: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fontAlgn="base">
              <a:buNone/>
            </a:pPr>
            <a:r>
              <a:rPr lang="en-US" sz="2400" b="1" dirty="0" smtClean="0">
                <a:latin typeface="Times New Roman" pitchFamily="18" charset="0"/>
                <a:cs typeface="Times New Roman" pitchFamily="18" charset="0"/>
              </a:rPr>
              <a:t>11. </a:t>
            </a:r>
            <a:r>
              <a:rPr lang="en-US" sz="2400" b="1" dirty="0" err="1" smtClean="0">
                <a:latin typeface="Times New Roman" pitchFamily="18" charset="0"/>
                <a:cs typeface="Times New Roman" pitchFamily="18" charset="0"/>
              </a:rPr>
              <a:t>Chatbots</a:t>
            </a:r>
            <a:endParaRPr lang="en-US" sz="2400" b="1" dirty="0" smtClean="0">
              <a:latin typeface="Times New Roman" pitchFamily="18" charset="0"/>
              <a:cs typeface="Times New Roman" pitchFamily="18" charset="0"/>
            </a:endParaRPr>
          </a:p>
          <a:p>
            <a:pPr algn="just" fontAlgn="base"/>
            <a:r>
              <a:rPr lang="en-US" sz="2400" b="1"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are defined as a tool that is used to respond to the text that is given to them as input. The customer or user sends the query according to their need and the </a:t>
            </a:r>
            <a:r>
              <a:rPr lang="en-US" sz="2400" dirty="0" err="1" smtClean="0">
                <a:latin typeface="Times New Roman" pitchFamily="18" charset="0"/>
                <a:cs typeface="Times New Roman" pitchFamily="18" charset="0"/>
              </a:rPr>
              <a:t>chatbot</a:t>
            </a:r>
            <a:r>
              <a:rPr lang="en-US" sz="2400" dirty="0" smtClean="0">
                <a:latin typeface="Times New Roman" pitchFamily="18" charset="0"/>
                <a:cs typeface="Times New Roman" pitchFamily="18" charset="0"/>
              </a:rPr>
              <a:t> gives the most appropriate output to provide solution.</a:t>
            </a:r>
          </a:p>
          <a:p>
            <a:pPr algn="just" fontAlgn="base"/>
            <a:r>
              <a:rPr lang="en-US" sz="2400" b="1" dirty="0" smtClean="0">
                <a:latin typeface="Times New Roman" pitchFamily="18" charset="0"/>
                <a:cs typeface="Times New Roman" pitchFamily="18" charset="0"/>
              </a:rPr>
              <a:t>NLP:</a:t>
            </a:r>
            <a:r>
              <a:rPr lang="en-US" sz="2400" dirty="0" smtClean="0">
                <a:latin typeface="Times New Roman" pitchFamily="18" charset="0"/>
                <a:cs typeface="Times New Roman" pitchFamily="18" charset="0"/>
              </a:rPr>
              <a:t> Natural Language Processing allows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to interact with humans over chat in a more interactive way by offering quick resolution to their queries in no time. It also allows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to process text or speech inputs and extract meaning to generate the desired response.</a:t>
            </a:r>
          </a:p>
          <a:p>
            <a:pPr algn="just" fontAlgn="base"/>
            <a:r>
              <a:rPr lang="en-US" sz="2400" b="1" dirty="0" smtClean="0">
                <a:latin typeface="Times New Roman" pitchFamily="18" charset="0"/>
                <a:cs typeface="Times New Roman" pitchFamily="18" charset="0"/>
              </a:rPr>
              <a:t>Multi-Language:</a:t>
            </a:r>
            <a:r>
              <a:rPr lang="en-US" sz="2400" dirty="0" smtClean="0">
                <a:latin typeface="Times New Roman" pitchFamily="18" charset="0"/>
                <a:cs typeface="Times New Roman" pitchFamily="18" charset="0"/>
              </a:rPr>
              <a:t> AI-powered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are capable of handling multiple languages to provide support to users worldwide.</a:t>
            </a:r>
          </a:p>
          <a:p>
            <a:pPr algn="just" fontAlgn="base"/>
            <a:r>
              <a:rPr lang="en-US" sz="2400" b="1" dirty="0" smtClean="0">
                <a:latin typeface="Times New Roman" pitchFamily="18" charset="0"/>
                <a:cs typeface="Times New Roman" pitchFamily="18" charset="0"/>
              </a:rPr>
              <a:t>Adaptation:</a:t>
            </a:r>
            <a:r>
              <a:rPr lang="en-US" sz="2400" dirty="0" smtClean="0">
                <a:latin typeface="Times New Roman" pitchFamily="18" charset="0"/>
                <a:cs typeface="Times New Roman" pitchFamily="18" charset="0"/>
              </a:rPr>
              <a:t> Through machine learning techniques, </a:t>
            </a:r>
            <a:r>
              <a:rPr lang="en-US" sz="2400" dirty="0" err="1" smtClean="0">
                <a:latin typeface="Times New Roman" pitchFamily="18" charset="0"/>
                <a:cs typeface="Times New Roman" pitchFamily="18" charset="0"/>
              </a:rPr>
              <a:t>chatbots</a:t>
            </a:r>
            <a:r>
              <a:rPr lang="en-US" sz="2400" dirty="0" smtClean="0">
                <a:latin typeface="Times New Roman" pitchFamily="18" charset="0"/>
                <a:cs typeface="Times New Roman" pitchFamily="18" charset="0"/>
              </a:rPr>
              <a:t> can analyze and identify areas for improvement and update themselves.</a:t>
            </a: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fontAlgn="base">
              <a:buNone/>
            </a:pPr>
            <a:r>
              <a:rPr lang="en-US" sz="2400" b="1" dirty="0" smtClean="0">
                <a:latin typeface="Times New Roman" pitchFamily="18" charset="0"/>
                <a:cs typeface="Times New Roman" pitchFamily="18" charset="0"/>
              </a:rPr>
              <a:t>12. </a:t>
            </a:r>
            <a:r>
              <a:rPr lang="en-US" sz="2400" b="1" dirty="0" smtClean="0">
                <a:latin typeface="Times New Roman" pitchFamily="18" charset="0"/>
                <a:cs typeface="Times New Roman" pitchFamily="18" charset="0"/>
              </a:rPr>
              <a:t>Surveillance</a:t>
            </a:r>
          </a:p>
          <a:p>
            <a:pPr algn="just" fontAlgn="base"/>
            <a:r>
              <a:rPr lang="en-US" sz="2400" dirty="0" smtClean="0">
                <a:latin typeface="Times New Roman" pitchFamily="18" charset="0"/>
                <a:cs typeface="Times New Roman" pitchFamily="18" charset="0"/>
              </a:rPr>
              <a:t>It is also used in the field of surveillance by recognizing far faces and objects. This helps the military to protect their areas and prevent any attack in real time.</a:t>
            </a:r>
          </a:p>
          <a:p>
            <a:pPr algn="just" fontAlgn="base"/>
            <a:r>
              <a:rPr lang="en-US" sz="2400" b="1" dirty="0" smtClean="0">
                <a:latin typeface="Times New Roman" pitchFamily="18" charset="0"/>
                <a:cs typeface="Times New Roman" pitchFamily="18" charset="0"/>
              </a:rPr>
              <a:t>Object Detection: </a:t>
            </a:r>
            <a:r>
              <a:rPr lang="en-US" sz="2400" dirty="0" smtClean="0">
                <a:latin typeface="Times New Roman" pitchFamily="18" charset="0"/>
                <a:cs typeface="Times New Roman" pitchFamily="18" charset="0"/>
              </a:rPr>
              <a:t>With the help of CV, AI algorithms track objects of interest in real time. This feature allows the system to detect any object's movement and further analysis.</a:t>
            </a:r>
          </a:p>
          <a:p>
            <a:pPr algn="just" fontAlgn="base"/>
            <a:r>
              <a:rPr lang="en-US" sz="2400" b="1" dirty="0" smtClean="0">
                <a:latin typeface="Times New Roman" pitchFamily="18" charset="0"/>
                <a:cs typeface="Times New Roman" pitchFamily="18" charset="0"/>
              </a:rPr>
              <a:t>Predictive Analysis:</a:t>
            </a:r>
            <a:r>
              <a:rPr lang="en-US" sz="2400" dirty="0" smtClean="0">
                <a:latin typeface="Times New Roman" pitchFamily="18" charset="0"/>
                <a:cs typeface="Times New Roman" pitchFamily="18" charset="0"/>
              </a:rPr>
              <a:t> It can analyze historical data and patterns to make effective decisions. This can be achieved by empowering different techniques used in machine learning, deep </a:t>
            </a:r>
            <a:r>
              <a:rPr lang="en-US" sz="2400" dirty="0" smtClean="0">
                <a:latin typeface="Times New Roman" pitchFamily="18" charset="0"/>
                <a:cs typeface="Times New Roman" pitchFamily="18" charset="0"/>
              </a:rPr>
              <a:t>learning and </a:t>
            </a:r>
            <a:r>
              <a:rPr lang="en-US" sz="2400" dirty="0" smtClean="0">
                <a:latin typeface="Times New Roman" pitchFamily="18" charset="0"/>
                <a:cs typeface="Times New Roman" pitchFamily="18" charset="0"/>
              </a:rPr>
              <a:t>artificial intelligence.</a:t>
            </a:r>
          </a:p>
          <a:p>
            <a:pPr algn="just" fontAlgn="base"/>
            <a:r>
              <a:rPr lang="en-US" sz="2400" b="1" dirty="0" smtClean="0">
                <a:latin typeface="Times New Roman" pitchFamily="18" charset="0"/>
                <a:cs typeface="Times New Roman" pitchFamily="18" charset="0"/>
              </a:rPr>
              <a:t>Behavior Analysis:</a:t>
            </a:r>
            <a:r>
              <a:rPr lang="en-US" sz="2400" dirty="0" smtClean="0">
                <a:latin typeface="Times New Roman" pitchFamily="18" charset="0"/>
                <a:cs typeface="Times New Roman" pitchFamily="18" charset="0"/>
              </a:rPr>
              <a:t> Surveillance can analyze human behavior patterns such as gesture recognition or body language analysis to assess potential threats or suspicious activities.</a:t>
            </a: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fontAlgn="base">
              <a:buNone/>
            </a:pPr>
            <a:r>
              <a:rPr lang="en-US" sz="2200" b="1" dirty="0" smtClean="0">
                <a:latin typeface="Times New Roman" pitchFamily="18" charset="0"/>
                <a:cs typeface="Times New Roman" pitchFamily="18" charset="0"/>
              </a:rPr>
              <a:t>13. </a:t>
            </a:r>
            <a:r>
              <a:rPr lang="en-US" sz="2200" b="1" dirty="0" smtClean="0">
                <a:latin typeface="Times New Roman" pitchFamily="18" charset="0"/>
                <a:cs typeface="Times New Roman" pitchFamily="18" charset="0"/>
              </a:rPr>
              <a:t>Data Security</a:t>
            </a:r>
          </a:p>
          <a:p>
            <a:pPr algn="just" fontAlgn="base"/>
            <a:r>
              <a:rPr lang="en-US" sz="2200" b="1" dirty="0" smtClean="0">
                <a:latin typeface="Times New Roman" pitchFamily="18" charset="0"/>
                <a:cs typeface="Times New Roman" pitchFamily="18" charset="0"/>
              </a:rPr>
              <a:t>Data security</a:t>
            </a:r>
            <a:r>
              <a:rPr lang="en-US" sz="2200" dirty="0" smtClean="0">
                <a:latin typeface="Times New Roman" pitchFamily="18" charset="0"/>
                <a:cs typeface="Times New Roman" pitchFamily="18" charset="0"/>
              </a:rPr>
              <a:t> is one of the major concerns for any tech company. There are many AI application that are used to keep these data safe and prevent from threats and attacks.</a:t>
            </a:r>
          </a:p>
          <a:p>
            <a:pPr algn="just" fontAlgn="base"/>
            <a:r>
              <a:rPr lang="en-US" sz="2200" b="1" dirty="0" smtClean="0">
                <a:latin typeface="Times New Roman" pitchFamily="18" charset="0"/>
                <a:cs typeface="Times New Roman" pitchFamily="18" charset="0"/>
              </a:rPr>
              <a:t>Threat Detection: </a:t>
            </a:r>
            <a:r>
              <a:rPr lang="en-US" sz="2200" dirty="0" smtClean="0">
                <a:latin typeface="Times New Roman" pitchFamily="18" charset="0"/>
                <a:cs typeface="Times New Roman" pitchFamily="18" charset="0"/>
              </a:rPr>
              <a:t>AI algorithms can analyze and work on large datasets from various sources such as network logs, user behavior, system activities etc. This helps in the early detection of malware or any unknown threats.</a:t>
            </a:r>
          </a:p>
          <a:p>
            <a:pPr algn="just" fontAlgn="base"/>
            <a:r>
              <a:rPr lang="en-US" sz="2200" b="1" dirty="0" smtClean="0">
                <a:latin typeface="Times New Roman" pitchFamily="18" charset="0"/>
                <a:cs typeface="Times New Roman" pitchFamily="18" charset="0"/>
              </a:rPr>
              <a:t>Vulnerability Management: </a:t>
            </a:r>
            <a:r>
              <a:rPr lang="en-US" sz="2200" dirty="0" smtClean="0">
                <a:latin typeface="Times New Roman" pitchFamily="18" charset="0"/>
                <a:cs typeface="Times New Roman" pitchFamily="18" charset="0"/>
              </a:rPr>
              <a:t>With the help of these algorithms, anyone having access can start the scanning process automatically for known vulnerabilities and prioritize them based on the potential impact.</a:t>
            </a:r>
          </a:p>
          <a:p>
            <a:pPr algn="just" fontAlgn="base"/>
            <a:r>
              <a:rPr lang="en-US" sz="2200" b="1" dirty="0" smtClean="0">
                <a:latin typeface="Times New Roman" pitchFamily="18" charset="0"/>
                <a:cs typeface="Times New Roman" pitchFamily="18" charset="0"/>
              </a:rPr>
              <a:t>Malware Detection: </a:t>
            </a:r>
            <a:r>
              <a:rPr lang="en-US" sz="2200" dirty="0" smtClean="0">
                <a:latin typeface="Times New Roman" pitchFamily="18" charset="0"/>
                <a:cs typeface="Times New Roman" pitchFamily="18" charset="0"/>
              </a:rPr>
              <a:t>AI algorithms can predict patterns of malware to provide a shield against any new threats. By allowing machine learning and deep learning techniques, AI can easily identify previously unknown malware to prevent future attacks.</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fontAlgn="base">
              <a:buNone/>
            </a:pPr>
            <a:r>
              <a:rPr lang="en-US" sz="2200" b="1" dirty="0" smtClean="0">
                <a:latin typeface="Times New Roman" pitchFamily="18" charset="0"/>
                <a:cs typeface="Times New Roman" pitchFamily="18" charset="0"/>
              </a:rPr>
              <a:t>14. </a:t>
            </a:r>
            <a:r>
              <a:rPr lang="en-US" sz="2200" b="1" dirty="0" smtClean="0">
                <a:latin typeface="Times New Roman" pitchFamily="18" charset="0"/>
                <a:cs typeface="Times New Roman" pitchFamily="18" charset="0"/>
              </a:rPr>
              <a:t>Military</a:t>
            </a:r>
          </a:p>
          <a:p>
            <a:pPr algn="just" fontAlgn="base"/>
            <a:r>
              <a:rPr lang="en-US" sz="2200" dirty="0" smtClean="0">
                <a:latin typeface="Times New Roman" pitchFamily="18" charset="0"/>
                <a:cs typeface="Times New Roman" pitchFamily="18" charset="0"/>
              </a:rPr>
              <a:t>The government is planning to use artificial intelligence for various military operational support. It will also help in automatic artilleries and weapons. Let's take a closer look at AI applications in the Military.</a:t>
            </a:r>
          </a:p>
          <a:p>
            <a:pPr algn="just" fontAlgn="base"/>
            <a:r>
              <a:rPr lang="en-US" sz="2200" b="1" dirty="0" smtClean="0">
                <a:latin typeface="Times New Roman" pitchFamily="18" charset="0"/>
                <a:cs typeface="Times New Roman" pitchFamily="18" charset="0"/>
              </a:rPr>
              <a:t>Decision Support:</a:t>
            </a:r>
            <a:r>
              <a:rPr lang="en-US" sz="2200" dirty="0" smtClean="0">
                <a:latin typeface="Times New Roman" pitchFamily="18" charset="0"/>
                <a:cs typeface="Times New Roman" pitchFamily="18" charset="0"/>
              </a:rPr>
              <a:t> Algorithms can analyze large amounts of data including sensor inputs and historical information. These insights provide aid while taking a decision that includes stock management, resource allocation and so on without actual human intervention.</a:t>
            </a:r>
          </a:p>
          <a:p>
            <a:pPr algn="just" fontAlgn="base"/>
            <a:r>
              <a:rPr lang="en-US" sz="2200" b="1" dirty="0" err="1" smtClean="0">
                <a:latin typeface="Times New Roman" pitchFamily="18" charset="0"/>
                <a:cs typeface="Times New Roman" pitchFamily="18" charset="0"/>
              </a:rPr>
              <a:t>Cyberattack</a:t>
            </a: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AI plays a crucial role in detecting and responding to cyber threats in military networks. AI algorithms are capable enough to handle and manage vast datasets that can detect any abnormal activity before it actually occurs.</a:t>
            </a:r>
          </a:p>
          <a:p>
            <a:pPr algn="just" fontAlgn="base"/>
            <a:r>
              <a:rPr lang="en-US" sz="2200" b="1" dirty="0" smtClean="0">
                <a:latin typeface="Times New Roman" pitchFamily="18" charset="0"/>
                <a:cs typeface="Times New Roman" pitchFamily="18" charset="0"/>
              </a:rPr>
              <a:t>Training:</a:t>
            </a:r>
            <a:r>
              <a:rPr lang="en-US" sz="2200" dirty="0" smtClean="0">
                <a:latin typeface="Times New Roman" pitchFamily="18" charset="0"/>
                <a:cs typeface="Times New Roman" pitchFamily="18" charset="0"/>
              </a:rPr>
              <a:t> Used in training military staff in different situations that can happen. This helps trainees in making the right decision at the moment and strategize their plan effectively.</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fontAlgn="base">
              <a:buNone/>
            </a:pPr>
            <a:r>
              <a:rPr lang="en-US" sz="2200" b="1" dirty="0" smtClean="0">
                <a:latin typeface="Times New Roman" pitchFamily="18" charset="0"/>
                <a:cs typeface="Times New Roman" pitchFamily="18" charset="0"/>
              </a:rPr>
              <a:t>15. </a:t>
            </a:r>
            <a:r>
              <a:rPr lang="en-US" sz="2400" b="1" dirty="0" smtClean="0">
                <a:latin typeface="Times New Roman" pitchFamily="18" charset="0"/>
                <a:cs typeface="Times New Roman" pitchFamily="18" charset="0"/>
              </a:rPr>
              <a:t>Entertainment</a:t>
            </a:r>
          </a:p>
          <a:p>
            <a:pPr algn="just" fontAlgn="base"/>
            <a:r>
              <a:rPr lang="en-US" sz="2400" dirty="0" smtClean="0">
                <a:latin typeface="Times New Roman" pitchFamily="18" charset="0"/>
                <a:cs typeface="Times New Roman" pitchFamily="18" charset="0"/>
              </a:rPr>
              <a:t>This field uses artificial intelligence for creating various contents. The entertainment industry also uses artificial intelligence for the categorization and classification of content according to the user. Let's take a closer look at AI applications in Entertainment.</a:t>
            </a:r>
          </a:p>
          <a:p>
            <a:pPr algn="just" fontAlgn="base"/>
            <a:r>
              <a:rPr lang="en-US" sz="2400" b="1" dirty="0" smtClean="0">
                <a:latin typeface="Times New Roman" pitchFamily="18" charset="0"/>
                <a:cs typeface="Times New Roman" pitchFamily="18" charset="0"/>
              </a:rPr>
              <a:t>Recommendation: </a:t>
            </a:r>
            <a:r>
              <a:rPr lang="en-US" sz="2400" dirty="0" smtClean="0">
                <a:latin typeface="Times New Roman" pitchFamily="18" charset="0"/>
                <a:cs typeface="Times New Roman" pitchFamily="18" charset="0"/>
              </a:rPr>
              <a:t>It can analyze vast amounts of data that includes viewing patterns user preference and historic data. Then this data is used to provide personalized recommendations to keep up the engagement ratio and watch time. </a:t>
            </a:r>
          </a:p>
          <a:p>
            <a:pPr algn="just" fontAlgn="base"/>
            <a:r>
              <a:rPr lang="en-US" sz="2400" b="1" dirty="0" smtClean="0">
                <a:latin typeface="Times New Roman" pitchFamily="18" charset="0"/>
                <a:cs typeface="Times New Roman" pitchFamily="18" charset="0"/>
              </a:rPr>
              <a:t>Audience Insight:</a:t>
            </a:r>
            <a:r>
              <a:rPr lang="en-US" sz="2400" dirty="0" smtClean="0">
                <a:latin typeface="Times New Roman" pitchFamily="18" charset="0"/>
                <a:cs typeface="Times New Roman" pitchFamily="18" charset="0"/>
              </a:rPr>
              <a:t> AI helps entertainment companies analyze large volumes of data and then decide mainstream content and make effective business decisions.</a:t>
            </a: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929354"/>
          </a:xfrm>
        </p:spPr>
        <p:txBody>
          <a:bodyPr>
            <a:noAutofit/>
          </a:bodyPr>
          <a:lstStyle/>
          <a:p>
            <a:pPr algn="just" fontAlgn="base">
              <a:buNone/>
            </a:pPr>
            <a:r>
              <a:rPr lang="en-US" sz="2400" dirty="0" smtClean="0">
                <a:latin typeface="Times New Roman" pitchFamily="18" charset="0"/>
                <a:cs typeface="Times New Roman" pitchFamily="18" charset="0"/>
              </a:rPr>
              <a:t>    The </a:t>
            </a:r>
            <a:r>
              <a:rPr lang="en-US" sz="2400" dirty="0" smtClean="0">
                <a:latin typeface="Times New Roman" pitchFamily="18" charset="0"/>
                <a:cs typeface="Times New Roman" pitchFamily="18" charset="0"/>
              </a:rPr>
              <a:t>history and evolution of artificial intelligence (AI) span from early conceptual ideas to today's advanced technologies. AI roots go back to ancient myths about intelligent automatons, but its formal study began </a:t>
            </a:r>
            <a:r>
              <a:rPr lang="en-US" sz="2400" dirty="0" smtClean="0">
                <a:latin typeface="Times New Roman" pitchFamily="18" charset="0"/>
                <a:cs typeface="Times New Roman" pitchFamily="18" charset="0"/>
              </a:rPr>
              <a:t>in </a:t>
            </a:r>
            <a:r>
              <a:rPr lang="en-US" sz="2400" dirty="0" smtClean="0">
                <a:latin typeface="Times New Roman" pitchFamily="18" charset="0"/>
                <a:cs typeface="Times New Roman" pitchFamily="18" charset="0"/>
              </a:rPr>
              <a:t>the mid-20th century. </a:t>
            </a:r>
            <a:endParaRPr lang="en-US" sz="24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TextBox 21"/>
          <p:cNvSpPr txBox="1"/>
          <p:nvPr/>
        </p:nvSpPr>
        <p:spPr>
          <a:xfrm>
            <a:off x="500034" y="142852"/>
            <a:ext cx="8072494" cy="584775"/>
          </a:xfrm>
          <a:prstGeom prst="rect">
            <a:avLst/>
          </a:prstGeom>
          <a:noFill/>
        </p:spPr>
        <p:txBody>
          <a:bodyPr wrap="square" rtlCol="0">
            <a:spAutoFit/>
          </a:bodyPr>
          <a:lstStyle/>
          <a:p>
            <a:pPr algn="ctr"/>
            <a:r>
              <a:rPr lang="en-IN" sz="3200" b="1" dirty="0" smtClean="0">
                <a:latin typeface="Times New Roman" pitchFamily="18" charset="0"/>
                <a:cs typeface="Times New Roman" pitchFamily="18" charset="0"/>
              </a:rPr>
              <a:t>History of Artificial Intelligence</a:t>
            </a:r>
            <a:endParaRPr lang="en-US" sz="3200" b="1" dirty="0">
              <a:latin typeface="Times New Roman" pitchFamily="18" charset="0"/>
              <a:cs typeface="Times New Roman" pitchFamily="18" charset="0"/>
            </a:endParaRPr>
          </a:p>
        </p:txBody>
      </p:sp>
      <p:pic>
        <p:nvPicPr>
          <p:cNvPr id="25" name="Picture 24" descr="Evolution-of-AI.png"/>
          <p:cNvPicPr>
            <a:picLocks noChangeAspect="1"/>
          </p:cNvPicPr>
          <p:nvPr/>
        </p:nvPicPr>
        <p:blipFill>
          <a:blip r:embed="rId6"/>
          <a:stretch>
            <a:fillRect/>
          </a:stretch>
        </p:blipFill>
        <p:spPr>
          <a:xfrm>
            <a:off x="500034" y="2357430"/>
            <a:ext cx="8215370" cy="3910020"/>
          </a:xfrm>
          <a:prstGeom prst="rect">
            <a:avLst/>
          </a:prstGeom>
        </p:spPr>
      </p:pic>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642918"/>
            <a:ext cx="8643998" cy="6072230"/>
          </a:xfrm>
        </p:spPr>
        <p:txBody>
          <a:bodyPr>
            <a:noAutofit/>
          </a:bodyPr>
          <a:lstStyle/>
          <a:p>
            <a:pPr algn="just"/>
            <a:r>
              <a:rPr lang="en-US" sz="2200" dirty="0" smtClean="0">
                <a:latin typeface="Times New Roman" pitchFamily="18" charset="0"/>
                <a:cs typeface="Times New Roman" pitchFamily="18" charset="0"/>
              </a:rPr>
              <a:t>1950</a:t>
            </a:r>
            <a:r>
              <a:rPr lang="en-US" sz="2200" dirty="0" smtClean="0">
                <a:latin typeface="Times New Roman" pitchFamily="18" charset="0"/>
                <a:cs typeface="Times New Roman" pitchFamily="18" charset="0"/>
              </a:rPr>
              <a:t>: Alan Turing proposed the "Turing Test" as a measure of machine intelligence.</a:t>
            </a:r>
          </a:p>
          <a:p>
            <a:pPr algn="just"/>
            <a:r>
              <a:rPr lang="en-US" sz="2200" dirty="0" smtClean="0">
                <a:latin typeface="Times New Roman" pitchFamily="18" charset="0"/>
                <a:cs typeface="Times New Roman" pitchFamily="18" charset="0"/>
              </a:rPr>
              <a:t>1956: John McCarthy coined the term "Artificial Intelligence" at the Dartmouth workshop, marking AI's birth as a formal discipline.</a:t>
            </a:r>
          </a:p>
          <a:p>
            <a:pPr algn="just"/>
            <a:r>
              <a:rPr lang="en-US" sz="2200" dirty="0" smtClean="0">
                <a:latin typeface="Times New Roman" pitchFamily="18" charset="0"/>
                <a:cs typeface="Times New Roman" pitchFamily="18" charset="0"/>
              </a:rPr>
              <a:t>1950s-60s: Early AI programs like Logic Theorist and ELIZA demonstrated problem-solving and natural language processing.</a:t>
            </a:r>
          </a:p>
          <a:p>
            <a:pPr algn="just"/>
            <a:r>
              <a:rPr lang="en-US" sz="2200" dirty="0" smtClean="0">
                <a:latin typeface="Times New Roman" pitchFamily="18" charset="0"/>
                <a:cs typeface="Times New Roman" pitchFamily="18" charset="0"/>
              </a:rPr>
              <a:t>1980s: AI revival with expert systems focusing on rule-based reasoning.</a:t>
            </a:r>
          </a:p>
          <a:p>
            <a:pPr algn="just"/>
            <a:r>
              <a:rPr lang="en-US" sz="2200" dirty="0" smtClean="0">
                <a:latin typeface="Times New Roman" pitchFamily="18" charset="0"/>
                <a:cs typeface="Times New Roman" pitchFamily="18" charset="0"/>
              </a:rPr>
              <a:t>1997: IBM's Deep Blue defeated world chess champion Garry Kasparov, showing AI's capabilities in complex tasks.</a:t>
            </a:r>
          </a:p>
          <a:p>
            <a:pPr algn="just"/>
            <a:r>
              <a:rPr lang="en-US" sz="2200" dirty="0" smtClean="0">
                <a:latin typeface="Times New Roman" pitchFamily="18" charset="0"/>
                <a:cs typeface="Times New Roman" pitchFamily="18" charset="0"/>
              </a:rPr>
              <a:t>2000s: Growth of machine learning, neural networks, and data-driven AI.</a:t>
            </a:r>
          </a:p>
          <a:p>
            <a:pPr algn="just"/>
            <a:r>
              <a:rPr lang="en-US" sz="2200" dirty="0" smtClean="0">
                <a:latin typeface="Times New Roman" pitchFamily="18" charset="0"/>
                <a:cs typeface="Times New Roman" pitchFamily="18" charset="0"/>
              </a:rPr>
              <a:t>2010s-present: Deep learning and neural networks revolutionized AI, enabling major advancements in image recognition, language translation, and autonomous systems.</a:t>
            </a:r>
          </a:p>
          <a:p>
            <a:pPr algn="just"/>
            <a:r>
              <a:rPr lang="en-US" sz="2200" dirty="0" smtClean="0">
                <a:latin typeface="Times New Roman" pitchFamily="18" charset="0"/>
                <a:cs typeface="Times New Roman" pitchFamily="18" charset="0"/>
              </a:rPr>
              <a:t>2018-2025: </a:t>
            </a:r>
            <a:r>
              <a:rPr lang="en-US" sz="2200" dirty="0" smtClean="0">
                <a:latin typeface="Times New Roman" pitchFamily="18" charset="0"/>
                <a:cs typeface="Times New Roman" pitchFamily="18" charset="0"/>
              </a:rPr>
              <a:t>Development and widespread use of large language models like GPT series, transforming AI interaction and content generation.</a:t>
            </a:r>
            <a:endParaRPr lang="en-US" sz="22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TextBox 21"/>
          <p:cNvSpPr txBox="1"/>
          <p:nvPr/>
        </p:nvSpPr>
        <p:spPr>
          <a:xfrm>
            <a:off x="500034" y="142852"/>
            <a:ext cx="8072494" cy="584775"/>
          </a:xfrm>
          <a:prstGeom prst="rect">
            <a:avLst/>
          </a:prstGeom>
          <a:noFill/>
        </p:spPr>
        <p:txBody>
          <a:bodyPr wrap="square" rtlCol="0">
            <a:spAutoFit/>
          </a:bodyPr>
          <a:lstStyle/>
          <a:p>
            <a:pPr algn="ctr"/>
            <a:r>
              <a:rPr lang="en-IN" sz="3200" b="1" dirty="0" smtClean="0">
                <a:latin typeface="Times New Roman" pitchFamily="18" charset="0"/>
                <a:cs typeface="Times New Roman" pitchFamily="18" charset="0"/>
              </a:rPr>
              <a:t>History of Artificial Intelligence</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a:r>
              <a:rPr lang="en-US" sz="2100" dirty="0" smtClean="0">
                <a:latin typeface="Times New Roman" pitchFamily="18" charset="0"/>
                <a:cs typeface="Times New Roman" pitchFamily="18" charset="0"/>
              </a:rPr>
              <a:t>Machine Learning (ML) is a subfield of artificial intelligence (AI) that focuses on developing computer systems that can learn from data and improve their performance over time without being explicitly programmed. Instead of writing step-by-step rules for every task, ML algorithms identify patterns in data and use them to make predictions or decisions</a:t>
            </a:r>
            <a:r>
              <a:rPr lang="en-US" sz="2100" dirty="0" smtClean="0">
                <a:latin typeface="Times New Roman" pitchFamily="18" charset="0"/>
                <a:cs typeface="Times New Roman" pitchFamily="18" charset="0"/>
              </a:rPr>
              <a:t>.</a:t>
            </a:r>
          </a:p>
          <a:p>
            <a:pPr algn="just">
              <a:buNone/>
            </a:pPr>
            <a:r>
              <a:rPr lang="en-US" sz="2100" b="1" dirty="0" smtClean="0">
                <a:latin typeface="Times New Roman" pitchFamily="18" charset="0"/>
                <a:cs typeface="Times New Roman" pitchFamily="18" charset="0"/>
              </a:rPr>
              <a:t>Why Machine Learning?</a:t>
            </a:r>
          </a:p>
          <a:p>
            <a:pPr algn="just"/>
            <a:r>
              <a:rPr lang="en-US" sz="2100" dirty="0" smtClean="0">
                <a:latin typeface="Times New Roman" pitchFamily="18" charset="0"/>
                <a:cs typeface="Times New Roman" pitchFamily="18" charset="0"/>
              </a:rPr>
              <a:t>Traditional programming fails when tasks are too complex, such as recognizing faces, detecting diseases from images, or predicting customer behavior. Machine learning helps solve such problems by learning patterns automatically.</a:t>
            </a:r>
          </a:p>
          <a:p>
            <a:pPr algn="just">
              <a:buNone/>
            </a:pPr>
            <a:r>
              <a:rPr lang="en-US" sz="2100" b="1" dirty="0" smtClean="0">
                <a:latin typeface="Times New Roman" pitchFamily="18" charset="0"/>
                <a:cs typeface="Times New Roman" pitchFamily="18" charset="0"/>
              </a:rPr>
              <a:t>Key Characteristics of Machine Learning</a:t>
            </a:r>
          </a:p>
          <a:p>
            <a:pPr algn="just"/>
            <a:r>
              <a:rPr lang="en-US" sz="2100" b="1" dirty="0" smtClean="0">
                <a:latin typeface="Times New Roman" pitchFamily="18" charset="0"/>
                <a:cs typeface="Times New Roman" pitchFamily="18" charset="0"/>
              </a:rPr>
              <a:t>Data-driven:</a:t>
            </a:r>
            <a:r>
              <a:rPr lang="en-US" sz="2100" dirty="0" smtClean="0">
                <a:latin typeface="Times New Roman" pitchFamily="18" charset="0"/>
                <a:cs typeface="Times New Roman" pitchFamily="18" charset="0"/>
              </a:rPr>
              <a:t> ML relies on large datasets to learn patterns.</a:t>
            </a:r>
          </a:p>
          <a:p>
            <a:pPr algn="just"/>
            <a:r>
              <a:rPr lang="en-US" sz="2100" b="1" dirty="0" smtClean="0">
                <a:latin typeface="Times New Roman" pitchFamily="18" charset="0"/>
                <a:cs typeface="Times New Roman" pitchFamily="18" charset="0"/>
              </a:rPr>
              <a:t>Adaptive:</a:t>
            </a:r>
            <a:r>
              <a:rPr lang="en-US" sz="2100" dirty="0" smtClean="0">
                <a:latin typeface="Times New Roman" pitchFamily="18" charset="0"/>
                <a:cs typeface="Times New Roman" pitchFamily="18" charset="0"/>
              </a:rPr>
              <a:t> Models improve as they receive more data.</a:t>
            </a:r>
          </a:p>
          <a:p>
            <a:pPr algn="just"/>
            <a:r>
              <a:rPr lang="en-US" sz="2100" b="1" dirty="0" smtClean="0">
                <a:latin typeface="Times New Roman" pitchFamily="18" charset="0"/>
                <a:cs typeface="Times New Roman" pitchFamily="18" charset="0"/>
              </a:rPr>
              <a:t>Predictive:</a:t>
            </a:r>
            <a:r>
              <a:rPr lang="en-US" sz="2100" dirty="0" smtClean="0">
                <a:latin typeface="Times New Roman" pitchFamily="18" charset="0"/>
                <a:cs typeface="Times New Roman" pitchFamily="18" charset="0"/>
              </a:rPr>
              <a:t> ML is used to forecast outcomes (e.g., weather, disease risk).</a:t>
            </a:r>
          </a:p>
          <a:p>
            <a:pPr algn="just"/>
            <a:r>
              <a:rPr lang="en-US" sz="2100" b="1" dirty="0" smtClean="0">
                <a:latin typeface="Times New Roman" pitchFamily="18" charset="0"/>
                <a:cs typeface="Times New Roman" pitchFamily="18" charset="0"/>
              </a:rPr>
              <a:t>Automated decision-making:</a:t>
            </a:r>
            <a:r>
              <a:rPr lang="en-US" sz="2100" dirty="0" smtClean="0">
                <a:latin typeface="Times New Roman" pitchFamily="18" charset="0"/>
                <a:cs typeface="Times New Roman" pitchFamily="18" charset="0"/>
              </a:rPr>
              <a:t> ML supports or replaces human decisions</a:t>
            </a:r>
            <a:r>
              <a:rPr lang="en-US" sz="2100" dirty="0" smtClean="0">
                <a:latin typeface="Times New Roman" pitchFamily="18" charset="0"/>
                <a:cs typeface="Times New Roman" pitchFamily="18" charset="0"/>
              </a:rPr>
              <a:t>.</a:t>
            </a:r>
            <a:endParaRPr lang="en-US" sz="2100" dirty="0" smtClean="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TextBox 21"/>
          <p:cNvSpPr txBox="1"/>
          <p:nvPr/>
        </p:nvSpPr>
        <p:spPr>
          <a:xfrm>
            <a:off x="500034" y="142852"/>
            <a:ext cx="8072494" cy="584775"/>
          </a:xfrm>
          <a:prstGeom prst="rect">
            <a:avLst/>
          </a:prstGeom>
          <a:noFill/>
        </p:spPr>
        <p:txBody>
          <a:bodyPr wrap="square" rtlCol="0">
            <a:spAutoFit/>
          </a:bodyPr>
          <a:lstStyle/>
          <a:p>
            <a:pPr algn="ctr"/>
            <a:r>
              <a:rPr lang="en-IN" sz="3200" b="1" dirty="0" smtClean="0">
                <a:latin typeface="Times New Roman" pitchFamily="18" charset="0"/>
                <a:cs typeface="Times New Roman" pitchFamily="18" charset="0"/>
              </a:rPr>
              <a:t>Introduction to Machine Learning</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85794"/>
            <a:ext cx="8643998" cy="5715040"/>
          </a:xfrm>
        </p:spPr>
        <p:txBody>
          <a:bodyPr>
            <a:noAutofit/>
          </a:bodyPr>
          <a:lstStyle/>
          <a:p>
            <a:pPr algn="just">
              <a:buNone/>
            </a:pPr>
            <a:r>
              <a:rPr lang="en-US" sz="2400" dirty="0" smtClean="0">
                <a:latin typeface="Times New Roman" pitchFamily="18" charset="0"/>
                <a:cs typeface="Times New Roman" pitchFamily="18" charset="0"/>
              </a:rPr>
              <a:t>How Machine Learning Works (Basic Process)</a:t>
            </a:r>
          </a:p>
          <a:p>
            <a:pPr algn="just"/>
            <a:r>
              <a:rPr lang="en-US" sz="2400" dirty="0" smtClean="0">
                <a:latin typeface="Times New Roman" pitchFamily="18" charset="0"/>
                <a:cs typeface="Times New Roman" pitchFamily="18" charset="0"/>
              </a:rPr>
              <a:t>Collect Data</a:t>
            </a:r>
          </a:p>
          <a:p>
            <a:pPr algn="just"/>
            <a:r>
              <a:rPr lang="en-US" sz="2400" dirty="0" smtClean="0">
                <a:latin typeface="Times New Roman" pitchFamily="18" charset="0"/>
                <a:cs typeface="Times New Roman" pitchFamily="18" charset="0"/>
              </a:rPr>
              <a:t>Prepare and clean the data</a:t>
            </a:r>
          </a:p>
          <a:p>
            <a:pPr algn="just"/>
            <a:r>
              <a:rPr lang="en-US" sz="2400" dirty="0" smtClean="0">
                <a:latin typeface="Times New Roman" pitchFamily="18" charset="0"/>
                <a:cs typeface="Times New Roman" pitchFamily="18" charset="0"/>
              </a:rPr>
              <a:t>Choose an appropriate algorithm</a:t>
            </a:r>
          </a:p>
          <a:p>
            <a:pPr algn="just"/>
            <a:r>
              <a:rPr lang="en-US" sz="2400" dirty="0" smtClean="0">
                <a:latin typeface="Times New Roman" pitchFamily="18" charset="0"/>
                <a:cs typeface="Times New Roman" pitchFamily="18" charset="0"/>
              </a:rPr>
              <a:t>Train the model (learning from data)</a:t>
            </a:r>
          </a:p>
          <a:p>
            <a:pPr algn="just"/>
            <a:r>
              <a:rPr lang="en-US" sz="2400" dirty="0" smtClean="0">
                <a:latin typeface="Times New Roman" pitchFamily="18" charset="0"/>
                <a:cs typeface="Times New Roman" pitchFamily="18" charset="0"/>
              </a:rPr>
              <a:t>Test/evaluate the model</a:t>
            </a:r>
          </a:p>
          <a:p>
            <a:pPr algn="just"/>
            <a:r>
              <a:rPr lang="en-US" sz="2400" dirty="0" smtClean="0">
                <a:latin typeface="Times New Roman" pitchFamily="18" charset="0"/>
                <a:cs typeface="Times New Roman" pitchFamily="18" charset="0"/>
              </a:rPr>
              <a:t>Deploy and use the model for prediction</a:t>
            </a: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TextBox 21"/>
          <p:cNvSpPr txBox="1"/>
          <p:nvPr/>
        </p:nvSpPr>
        <p:spPr>
          <a:xfrm>
            <a:off x="500034" y="142852"/>
            <a:ext cx="8072494" cy="584775"/>
          </a:xfrm>
          <a:prstGeom prst="rect">
            <a:avLst/>
          </a:prstGeom>
          <a:noFill/>
        </p:spPr>
        <p:txBody>
          <a:bodyPr wrap="square" rtlCol="0">
            <a:spAutoFit/>
          </a:bodyPr>
          <a:lstStyle/>
          <a:p>
            <a:pPr algn="ctr"/>
            <a:r>
              <a:rPr lang="en-IN" sz="3200" b="1" dirty="0" smtClean="0">
                <a:latin typeface="Times New Roman" pitchFamily="18" charset="0"/>
                <a:cs typeface="Times New Roman" pitchFamily="18" charset="0"/>
              </a:rPr>
              <a:t>Introduction to Machine Learning</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714356"/>
            <a:ext cx="8643998" cy="5786478"/>
          </a:xfrm>
        </p:spPr>
        <p:txBody>
          <a:bodyPr>
            <a:noAutofit/>
          </a:bodyPr>
          <a:lstStyle/>
          <a:p>
            <a:pPr algn="just">
              <a:buNone/>
            </a:pPr>
            <a:r>
              <a:rPr lang="en-US" sz="1900" b="1" dirty="0" smtClean="0">
                <a:latin typeface="Times New Roman" pitchFamily="18" charset="0"/>
                <a:cs typeface="Times New Roman" pitchFamily="18" charset="0"/>
              </a:rPr>
              <a:t>1. Supervised Learning</a:t>
            </a:r>
          </a:p>
          <a:p>
            <a:pPr algn="just"/>
            <a:r>
              <a:rPr lang="en-US" sz="1900" dirty="0" smtClean="0">
                <a:latin typeface="Times New Roman" pitchFamily="18" charset="0"/>
                <a:cs typeface="Times New Roman" pitchFamily="18" charset="0"/>
              </a:rPr>
              <a:t>The model learns from </a:t>
            </a:r>
            <a:r>
              <a:rPr lang="en-US" sz="1900" b="1" dirty="0" smtClean="0">
                <a:latin typeface="Times New Roman" pitchFamily="18" charset="0"/>
                <a:cs typeface="Times New Roman" pitchFamily="18" charset="0"/>
              </a:rPr>
              <a:t>labeled data</a:t>
            </a:r>
            <a:r>
              <a:rPr lang="en-US" sz="1900" dirty="0" smtClean="0">
                <a:latin typeface="Times New Roman" pitchFamily="18" charset="0"/>
                <a:cs typeface="Times New Roman" pitchFamily="18" charset="0"/>
              </a:rPr>
              <a:t> (input + correct output provided</a:t>
            </a:r>
            <a:r>
              <a:rPr lang="en-US" sz="1900" dirty="0" smtClean="0">
                <a:latin typeface="Times New Roman" pitchFamily="18" charset="0"/>
                <a:cs typeface="Times New Roman" pitchFamily="18" charset="0"/>
              </a:rPr>
              <a:t>). </a:t>
            </a:r>
          </a:p>
          <a:p>
            <a:pPr algn="just">
              <a:buNone/>
            </a:pPr>
            <a:r>
              <a:rPr lang="en-US" sz="1900" dirty="0" smtClean="0">
                <a:latin typeface="Times New Roman" pitchFamily="18" charset="0"/>
                <a:cs typeface="Times New Roman" pitchFamily="18" charset="0"/>
              </a:rPr>
              <a:t>Used </a:t>
            </a:r>
            <a:r>
              <a:rPr lang="en-US" sz="1900" dirty="0" smtClean="0">
                <a:latin typeface="Times New Roman" pitchFamily="18" charset="0"/>
                <a:cs typeface="Times New Roman" pitchFamily="18" charset="0"/>
              </a:rPr>
              <a:t>for:</a:t>
            </a:r>
          </a:p>
          <a:p>
            <a:pPr algn="just"/>
            <a:r>
              <a:rPr lang="en-US" sz="1900" dirty="0" smtClean="0">
                <a:latin typeface="Times New Roman" pitchFamily="18" charset="0"/>
                <a:cs typeface="Times New Roman" pitchFamily="18" charset="0"/>
              </a:rPr>
              <a:t>Classification (e.g., identify bacteria species)</a:t>
            </a:r>
          </a:p>
          <a:p>
            <a:pPr algn="just"/>
            <a:r>
              <a:rPr lang="en-US" sz="1900" dirty="0" smtClean="0">
                <a:latin typeface="Times New Roman" pitchFamily="18" charset="0"/>
                <a:cs typeface="Times New Roman" pitchFamily="18" charset="0"/>
              </a:rPr>
              <a:t>Regression (e.g., predicting temperature)</a:t>
            </a:r>
          </a:p>
          <a:p>
            <a:pPr algn="just">
              <a:buNone/>
            </a:pPr>
            <a:r>
              <a:rPr lang="en-US" sz="1900" b="1" dirty="0" smtClean="0">
                <a:latin typeface="Times New Roman" pitchFamily="18" charset="0"/>
                <a:cs typeface="Times New Roman" pitchFamily="18" charset="0"/>
              </a:rPr>
              <a:t>2. Unsupervised Learning</a:t>
            </a:r>
          </a:p>
          <a:p>
            <a:pPr algn="just"/>
            <a:r>
              <a:rPr lang="en-US" sz="1900" dirty="0" smtClean="0">
                <a:latin typeface="Times New Roman" pitchFamily="18" charset="0"/>
                <a:cs typeface="Times New Roman" pitchFamily="18" charset="0"/>
              </a:rPr>
              <a:t>The model learns patterns from </a:t>
            </a:r>
            <a:r>
              <a:rPr lang="en-US" sz="1900" b="1" dirty="0" smtClean="0">
                <a:latin typeface="Times New Roman" pitchFamily="18" charset="0"/>
                <a:cs typeface="Times New Roman" pitchFamily="18" charset="0"/>
              </a:rPr>
              <a:t>unlabeled </a:t>
            </a:r>
            <a:r>
              <a:rPr lang="en-US" sz="1900" b="1" dirty="0" smtClean="0">
                <a:latin typeface="Times New Roman" pitchFamily="18" charset="0"/>
                <a:cs typeface="Times New Roman" pitchFamily="18" charset="0"/>
              </a:rPr>
              <a:t>data</a:t>
            </a:r>
            <a:r>
              <a:rPr lang="en-US" sz="1900" dirty="0" smtClean="0">
                <a:latin typeface="Times New Roman" pitchFamily="18" charset="0"/>
                <a:cs typeface="Times New Roman" pitchFamily="18" charset="0"/>
              </a:rPr>
              <a:t>. </a:t>
            </a:r>
          </a:p>
          <a:p>
            <a:pPr algn="just">
              <a:buNone/>
            </a:pPr>
            <a:r>
              <a:rPr lang="en-US" sz="1900" dirty="0" smtClean="0">
                <a:latin typeface="Times New Roman" pitchFamily="18" charset="0"/>
                <a:cs typeface="Times New Roman" pitchFamily="18" charset="0"/>
              </a:rPr>
              <a:t>Used </a:t>
            </a:r>
            <a:r>
              <a:rPr lang="en-US" sz="1900" dirty="0" smtClean="0">
                <a:latin typeface="Times New Roman" pitchFamily="18" charset="0"/>
                <a:cs typeface="Times New Roman" pitchFamily="18" charset="0"/>
              </a:rPr>
              <a:t>for:</a:t>
            </a:r>
          </a:p>
          <a:p>
            <a:pPr algn="just"/>
            <a:r>
              <a:rPr lang="en-US" sz="1900" dirty="0" smtClean="0">
                <a:latin typeface="Times New Roman" pitchFamily="18" charset="0"/>
                <a:cs typeface="Times New Roman" pitchFamily="18" charset="0"/>
              </a:rPr>
              <a:t>Clustering (group similar data)</a:t>
            </a:r>
          </a:p>
          <a:p>
            <a:pPr algn="just"/>
            <a:r>
              <a:rPr lang="en-US" sz="1900" dirty="0" smtClean="0">
                <a:latin typeface="Times New Roman" pitchFamily="18" charset="0"/>
                <a:cs typeface="Times New Roman" pitchFamily="18" charset="0"/>
              </a:rPr>
              <a:t>Dimensionality reduction (e.g., PCA)</a:t>
            </a:r>
          </a:p>
          <a:p>
            <a:pPr algn="just">
              <a:buNone/>
            </a:pPr>
            <a:r>
              <a:rPr lang="en-US" sz="1900" b="1" dirty="0" smtClean="0">
                <a:latin typeface="Times New Roman" pitchFamily="18" charset="0"/>
                <a:cs typeface="Times New Roman" pitchFamily="18" charset="0"/>
              </a:rPr>
              <a:t>3. Reinforcement Learning</a:t>
            </a:r>
          </a:p>
          <a:p>
            <a:pPr algn="just"/>
            <a:r>
              <a:rPr lang="en-US" sz="1900" dirty="0" smtClean="0">
                <a:latin typeface="Times New Roman" pitchFamily="18" charset="0"/>
                <a:cs typeface="Times New Roman" pitchFamily="18" charset="0"/>
              </a:rPr>
              <a:t>The model learns by interacting with an environment and receiving </a:t>
            </a:r>
            <a:r>
              <a:rPr lang="en-US" sz="1900" b="1" dirty="0" smtClean="0">
                <a:latin typeface="Times New Roman" pitchFamily="18" charset="0"/>
                <a:cs typeface="Times New Roman" pitchFamily="18" charset="0"/>
              </a:rPr>
              <a:t>rewards </a:t>
            </a:r>
            <a:r>
              <a:rPr lang="en-US" sz="1900" b="1" dirty="0" smtClean="0">
                <a:latin typeface="Times New Roman" pitchFamily="18" charset="0"/>
                <a:cs typeface="Times New Roman" pitchFamily="18" charset="0"/>
              </a:rPr>
              <a:t>or penalties</a:t>
            </a:r>
            <a:r>
              <a:rPr lang="en-US" sz="1900" dirty="0" smtClean="0">
                <a:latin typeface="Times New Roman" pitchFamily="18" charset="0"/>
                <a:cs typeface="Times New Roman" pitchFamily="18" charset="0"/>
              </a:rPr>
              <a:t>. </a:t>
            </a:r>
          </a:p>
          <a:p>
            <a:pPr algn="just">
              <a:buNone/>
            </a:pPr>
            <a:r>
              <a:rPr lang="en-US" sz="1900" dirty="0" smtClean="0">
                <a:latin typeface="Times New Roman" pitchFamily="18" charset="0"/>
                <a:cs typeface="Times New Roman" pitchFamily="18" charset="0"/>
              </a:rPr>
              <a:t>Used </a:t>
            </a:r>
            <a:r>
              <a:rPr lang="en-US" sz="1900" dirty="0" smtClean="0">
                <a:latin typeface="Times New Roman" pitchFamily="18" charset="0"/>
                <a:cs typeface="Times New Roman" pitchFamily="18" charset="0"/>
              </a:rPr>
              <a:t>in:</a:t>
            </a:r>
          </a:p>
          <a:p>
            <a:pPr algn="just"/>
            <a:r>
              <a:rPr lang="en-US" sz="1900" dirty="0" smtClean="0">
                <a:latin typeface="Times New Roman" pitchFamily="18" charset="0"/>
                <a:cs typeface="Times New Roman" pitchFamily="18" charset="0"/>
              </a:rPr>
              <a:t>Robotics</a:t>
            </a:r>
          </a:p>
          <a:p>
            <a:pPr algn="just"/>
            <a:r>
              <a:rPr lang="en-US" sz="1900" dirty="0" smtClean="0">
                <a:latin typeface="Times New Roman" pitchFamily="18" charset="0"/>
                <a:cs typeface="Times New Roman" pitchFamily="18" charset="0"/>
              </a:rPr>
              <a:t>Game playing (e.g., </a:t>
            </a:r>
            <a:r>
              <a:rPr lang="en-US" sz="1900" dirty="0" err="1" smtClean="0">
                <a:latin typeface="Times New Roman" pitchFamily="18" charset="0"/>
                <a:cs typeface="Times New Roman" pitchFamily="18" charset="0"/>
              </a:rPr>
              <a:t>AlphaGo</a:t>
            </a:r>
            <a:r>
              <a:rPr lang="en-US" sz="1900" dirty="0" smtClean="0">
                <a:latin typeface="Times New Roman" pitchFamily="18" charset="0"/>
                <a:cs typeface="Times New Roman" pitchFamily="18" charset="0"/>
              </a:rPr>
              <a:t>)</a:t>
            </a:r>
          </a:p>
          <a:p>
            <a:pPr algn="just"/>
            <a:r>
              <a:rPr lang="en-US" sz="1900" dirty="0" smtClean="0">
                <a:latin typeface="Times New Roman" pitchFamily="18" charset="0"/>
                <a:cs typeface="Times New Roman" pitchFamily="18" charset="0"/>
              </a:rPr>
              <a:t>Autonomous vehicles</a:t>
            </a:r>
            <a:endParaRPr lang="en-US" sz="1900" dirty="0">
              <a:latin typeface="Times New Roman" pitchFamily="18" charset="0"/>
              <a:cs typeface="Times New Roman" pitchFamily="18" charset="0"/>
            </a:endParaRPr>
          </a:p>
        </p:txBody>
      </p:sp>
      <p:sp>
        <p:nvSpPr>
          <p:cNvPr id="19" name="object 3"/>
          <p:cNvSpPr/>
          <p:nvPr/>
        </p:nvSpPr>
        <p:spPr>
          <a:xfrm>
            <a:off x="1500166" y="642918"/>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501090" y="428604"/>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715404" y="42860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 name="object 6"/>
          <p:cNvGrpSpPr/>
          <p:nvPr/>
        </p:nvGrpSpPr>
        <p:grpSpPr>
          <a:xfrm>
            <a:off x="7786710" y="500042"/>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4" name="object 9"/>
          <p:cNvGrpSpPr/>
          <p:nvPr/>
        </p:nvGrpSpPr>
        <p:grpSpPr>
          <a:xfrm>
            <a:off x="642910" y="500042"/>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142844" y="428604"/>
            <a:ext cx="381000" cy="368449"/>
          </a:xfrm>
          <a:prstGeom prst="rect">
            <a:avLst/>
          </a:prstGeom>
        </p:spPr>
      </p:pic>
      <p:sp>
        <p:nvSpPr>
          <p:cNvPr id="35" name="object 2"/>
          <p:cNvSpPr/>
          <p:nvPr/>
        </p:nvSpPr>
        <p:spPr>
          <a:xfrm>
            <a:off x="0" y="6572272"/>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TextBox 21"/>
          <p:cNvSpPr txBox="1"/>
          <p:nvPr/>
        </p:nvSpPr>
        <p:spPr>
          <a:xfrm>
            <a:off x="500034" y="142852"/>
            <a:ext cx="8072494" cy="584775"/>
          </a:xfrm>
          <a:prstGeom prst="rect">
            <a:avLst/>
          </a:prstGeom>
          <a:noFill/>
        </p:spPr>
        <p:txBody>
          <a:bodyPr wrap="square" rtlCol="0">
            <a:spAutoFit/>
          </a:bodyPr>
          <a:lstStyle/>
          <a:p>
            <a:pPr algn="ctr"/>
            <a:r>
              <a:rPr lang="en-IN" sz="3200" b="1" dirty="0" smtClean="0">
                <a:latin typeface="Times New Roman" pitchFamily="18" charset="0"/>
                <a:cs typeface="Times New Roman" pitchFamily="18" charset="0"/>
              </a:rPr>
              <a:t>Types of Machine Learning</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3857511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27525</TotalTime>
  <Words>1134</Words>
  <Application>Microsoft Office PowerPoint</Application>
  <PresentationFormat>On-screen Show (4:3)</PresentationFormat>
  <Paragraphs>141</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Introduction to Artificial Intelligence</vt:lpstr>
      <vt:lpstr>Introduction to Artificial Intelligence</vt:lpstr>
      <vt:lpstr>Examples of AI</vt:lpstr>
      <vt:lpstr>Scope of AI</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vikassingh</dc:creator>
  <cp:lastModifiedBy>Dr. Jatinder Manhas</cp:lastModifiedBy>
  <cp:revision>292</cp:revision>
  <dcterms:created xsi:type="dcterms:W3CDTF">2014-08-19T17:16:14Z</dcterms:created>
  <dcterms:modified xsi:type="dcterms:W3CDTF">2025-11-19T04:27:39Z</dcterms:modified>
</cp:coreProperties>
</file>