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1"/>
  </p:notesMasterIdLst>
  <p:sldIdLst>
    <p:sldId id="256" r:id="rId2"/>
    <p:sldId id="257" r:id="rId3"/>
    <p:sldId id="268" r:id="rId4"/>
    <p:sldId id="269" r:id="rId5"/>
    <p:sldId id="262" r:id="rId6"/>
    <p:sldId id="270" r:id="rId7"/>
    <p:sldId id="271" r:id="rId8"/>
    <p:sldId id="272" r:id="rId9"/>
    <p:sldId id="273" r:id="rId10"/>
    <p:sldId id="258" r:id="rId11"/>
    <p:sldId id="274" r:id="rId12"/>
    <p:sldId id="275" r:id="rId13"/>
    <p:sldId id="277" r:id="rId14"/>
    <p:sldId id="278" r:id="rId15"/>
    <p:sldId id="279" r:id="rId16"/>
    <p:sldId id="276" r:id="rId17"/>
    <p:sldId id="259" r:id="rId18"/>
    <p:sldId id="280" r:id="rId19"/>
    <p:sldId id="260" r:id="rId20"/>
    <p:sldId id="281" r:id="rId21"/>
    <p:sldId id="282" r:id="rId22"/>
    <p:sldId id="283" r:id="rId23"/>
    <p:sldId id="261" r:id="rId24"/>
    <p:sldId id="284" r:id="rId25"/>
    <p:sldId id="285" r:id="rId26"/>
    <p:sldId id="286" r:id="rId27"/>
    <p:sldId id="287" r:id="rId28"/>
    <p:sldId id="288" r:id="rId29"/>
    <p:sldId id="263" r:id="rId30"/>
    <p:sldId id="289" r:id="rId31"/>
    <p:sldId id="290" r:id="rId32"/>
    <p:sldId id="264" r:id="rId33"/>
    <p:sldId id="265" r:id="rId34"/>
    <p:sldId id="266" r:id="rId35"/>
    <p:sldId id="291" r:id="rId36"/>
    <p:sldId id="292" r:id="rId37"/>
    <p:sldId id="293" r:id="rId38"/>
    <p:sldId id="294" r:id="rId39"/>
    <p:sldId id="267" r:id="rId4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5" d="100"/>
          <a:sy n="75" d="100"/>
        </p:scale>
        <p:origin x="874"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8670230-5B78-48D9-BFE7-E049DBEFE4C1}" type="datetimeFigureOut">
              <a:rPr lang="en-IN" smtClean="0"/>
              <a:t>07-11-2024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383494A-CD20-4C1F-A523-4CBC7198B165}" type="slidenum">
              <a:rPr lang="en-IN" smtClean="0"/>
              <a:t>‹#›</a:t>
            </a:fld>
            <a:endParaRPr lang="en-IN"/>
          </a:p>
        </p:txBody>
      </p:sp>
    </p:spTree>
    <p:extLst>
      <p:ext uri="{BB962C8B-B14F-4D97-AF65-F5344CB8AC3E}">
        <p14:creationId xmlns:p14="http://schemas.microsoft.com/office/powerpoint/2010/main" val="39698234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8383494A-CD20-4C1F-A523-4CBC7198B165}" type="slidenum">
              <a:rPr lang="en-IN" smtClean="0"/>
              <a:t>10</a:t>
            </a:fld>
            <a:endParaRPr lang="en-IN"/>
          </a:p>
        </p:txBody>
      </p:sp>
    </p:spTree>
    <p:extLst>
      <p:ext uri="{BB962C8B-B14F-4D97-AF65-F5344CB8AC3E}">
        <p14:creationId xmlns:p14="http://schemas.microsoft.com/office/powerpoint/2010/main" val="8449851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DC1A6D-6E51-EC3D-058F-C2EDEBA157D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CF1A0621-784A-6C88-3F9A-DC05A79F3C8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C2C2AAA5-7C14-0A44-9202-0C3BBA83DBFA}"/>
              </a:ext>
            </a:extLst>
          </p:cNvPr>
          <p:cNvSpPr>
            <a:spLocks noGrp="1"/>
          </p:cNvSpPr>
          <p:nvPr>
            <p:ph type="dt" sz="half" idx="10"/>
          </p:nvPr>
        </p:nvSpPr>
        <p:spPr/>
        <p:txBody>
          <a:bodyPr/>
          <a:lstStyle/>
          <a:p>
            <a:fld id="{1A2D9E16-F893-474F-9BB1-F0BF2AE624AA}" type="datetimeFigureOut">
              <a:rPr lang="en-IN" smtClean="0"/>
              <a:t>07-11-2024</a:t>
            </a:fld>
            <a:endParaRPr lang="en-IN"/>
          </a:p>
        </p:txBody>
      </p:sp>
      <p:sp>
        <p:nvSpPr>
          <p:cNvPr id="5" name="Footer Placeholder 4">
            <a:extLst>
              <a:ext uri="{FF2B5EF4-FFF2-40B4-BE49-F238E27FC236}">
                <a16:creationId xmlns:a16="http://schemas.microsoft.com/office/drawing/2014/main" id="{FD62B03A-2C0D-68E1-63F3-5E0EFB5D71A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2B34879-8D27-5203-BBFD-474FCF2CC158}"/>
              </a:ext>
            </a:extLst>
          </p:cNvPr>
          <p:cNvSpPr>
            <a:spLocks noGrp="1"/>
          </p:cNvSpPr>
          <p:nvPr>
            <p:ph type="sldNum" sz="quarter" idx="12"/>
          </p:nvPr>
        </p:nvSpPr>
        <p:spPr/>
        <p:txBody>
          <a:bodyPr/>
          <a:lstStyle/>
          <a:p>
            <a:fld id="{EC6423E0-C461-49B7-B5D6-9A08199782A3}" type="slidenum">
              <a:rPr lang="en-IN" smtClean="0"/>
              <a:t>‹#›</a:t>
            </a:fld>
            <a:endParaRPr lang="en-IN"/>
          </a:p>
        </p:txBody>
      </p:sp>
    </p:spTree>
    <p:extLst>
      <p:ext uri="{BB962C8B-B14F-4D97-AF65-F5344CB8AC3E}">
        <p14:creationId xmlns:p14="http://schemas.microsoft.com/office/powerpoint/2010/main" val="2945956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9EF125-72ED-7426-03FC-ED22665E1DF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F043FAF-2C1B-0664-4CDD-E2551AB9A7E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7A32482-65DA-6B71-8B25-6B44F191E125}"/>
              </a:ext>
            </a:extLst>
          </p:cNvPr>
          <p:cNvSpPr>
            <a:spLocks noGrp="1"/>
          </p:cNvSpPr>
          <p:nvPr>
            <p:ph type="dt" sz="half" idx="10"/>
          </p:nvPr>
        </p:nvSpPr>
        <p:spPr/>
        <p:txBody>
          <a:bodyPr/>
          <a:lstStyle/>
          <a:p>
            <a:fld id="{1A2D9E16-F893-474F-9BB1-F0BF2AE624AA}" type="datetimeFigureOut">
              <a:rPr lang="en-IN" smtClean="0"/>
              <a:t>07-11-2024</a:t>
            </a:fld>
            <a:endParaRPr lang="en-IN"/>
          </a:p>
        </p:txBody>
      </p:sp>
      <p:sp>
        <p:nvSpPr>
          <p:cNvPr id="5" name="Footer Placeholder 4">
            <a:extLst>
              <a:ext uri="{FF2B5EF4-FFF2-40B4-BE49-F238E27FC236}">
                <a16:creationId xmlns:a16="http://schemas.microsoft.com/office/drawing/2014/main" id="{2C57FEE0-AFC5-49AA-3500-D66E09EDB15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65F0AAB-690F-0EEE-14A0-4395BFF2FDE1}"/>
              </a:ext>
            </a:extLst>
          </p:cNvPr>
          <p:cNvSpPr>
            <a:spLocks noGrp="1"/>
          </p:cNvSpPr>
          <p:nvPr>
            <p:ph type="sldNum" sz="quarter" idx="12"/>
          </p:nvPr>
        </p:nvSpPr>
        <p:spPr/>
        <p:txBody>
          <a:bodyPr/>
          <a:lstStyle/>
          <a:p>
            <a:fld id="{EC6423E0-C461-49B7-B5D6-9A08199782A3}" type="slidenum">
              <a:rPr lang="en-IN" smtClean="0"/>
              <a:t>‹#›</a:t>
            </a:fld>
            <a:endParaRPr lang="en-IN"/>
          </a:p>
        </p:txBody>
      </p:sp>
    </p:spTree>
    <p:extLst>
      <p:ext uri="{BB962C8B-B14F-4D97-AF65-F5344CB8AC3E}">
        <p14:creationId xmlns:p14="http://schemas.microsoft.com/office/powerpoint/2010/main" val="33466173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1CB163-F9F2-6510-5660-B464AA60414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1DBD946B-AF95-18F3-7B82-EC3707A23A2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1877CBF-4CBD-8B97-E30C-C86A390985F1}"/>
              </a:ext>
            </a:extLst>
          </p:cNvPr>
          <p:cNvSpPr>
            <a:spLocks noGrp="1"/>
          </p:cNvSpPr>
          <p:nvPr>
            <p:ph type="dt" sz="half" idx="10"/>
          </p:nvPr>
        </p:nvSpPr>
        <p:spPr/>
        <p:txBody>
          <a:bodyPr/>
          <a:lstStyle/>
          <a:p>
            <a:fld id="{1A2D9E16-F893-474F-9BB1-F0BF2AE624AA}" type="datetimeFigureOut">
              <a:rPr lang="en-IN" smtClean="0"/>
              <a:t>07-11-2024</a:t>
            </a:fld>
            <a:endParaRPr lang="en-IN"/>
          </a:p>
        </p:txBody>
      </p:sp>
      <p:sp>
        <p:nvSpPr>
          <p:cNvPr id="5" name="Footer Placeholder 4">
            <a:extLst>
              <a:ext uri="{FF2B5EF4-FFF2-40B4-BE49-F238E27FC236}">
                <a16:creationId xmlns:a16="http://schemas.microsoft.com/office/drawing/2014/main" id="{7787A117-131C-19F1-69C7-A1DEEDF2E07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D01AAF2-C551-ECD4-524A-2831438A9233}"/>
              </a:ext>
            </a:extLst>
          </p:cNvPr>
          <p:cNvSpPr>
            <a:spLocks noGrp="1"/>
          </p:cNvSpPr>
          <p:nvPr>
            <p:ph type="sldNum" sz="quarter" idx="12"/>
          </p:nvPr>
        </p:nvSpPr>
        <p:spPr/>
        <p:txBody>
          <a:bodyPr/>
          <a:lstStyle/>
          <a:p>
            <a:fld id="{EC6423E0-C461-49B7-B5D6-9A08199782A3}" type="slidenum">
              <a:rPr lang="en-IN" smtClean="0"/>
              <a:t>‹#›</a:t>
            </a:fld>
            <a:endParaRPr lang="en-IN"/>
          </a:p>
        </p:txBody>
      </p:sp>
    </p:spTree>
    <p:extLst>
      <p:ext uri="{BB962C8B-B14F-4D97-AF65-F5344CB8AC3E}">
        <p14:creationId xmlns:p14="http://schemas.microsoft.com/office/powerpoint/2010/main" val="659673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FCFFCD-687C-243D-53A8-55534292C02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C48E59B-6524-314D-9B0D-E9AB9A17EF1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92407DCD-E446-4F27-5DD0-0F3516CA908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87B32E76-8512-7D82-582E-6195DA5BD799}"/>
              </a:ext>
            </a:extLst>
          </p:cNvPr>
          <p:cNvSpPr>
            <a:spLocks noGrp="1"/>
          </p:cNvSpPr>
          <p:nvPr>
            <p:ph type="dt" sz="half" idx="10"/>
          </p:nvPr>
        </p:nvSpPr>
        <p:spPr/>
        <p:txBody>
          <a:bodyPr/>
          <a:lstStyle/>
          <a:p>
            <a:fld id="{1A2D9E16-F893-474F-9BB1-F0BF2AE624AA}" type="datetimeFigureOut">
              <a:rPr lang="en-IN" smtClean="0"/>
              <a:t>07-11-2024</a:t>
            </a:fld>
            <a:endParaRPr lang="en-IN"/>
          </a:p>
        </p:txBody>
      </p:sp>
      <p:sp>
        <p:nvSpPr>
          <p:cNvPr id="6" name="Footer Placeholder 5">
            <a:extLst>
              <a:ext uri="{FF2B5EF4-FFF2-40B4-BE49-F238E27FC236}">
                <a16:creationId xmlns:a16="http://schemas.microsoft.com/office/drawing/2014/main" id="{9E2218F8-B1BA-3BC8-A4F9-A304309F698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0E9F7C1-A23F-97C5-5D13-26AC6DF88F12}"/>
              </a:ext>
            </a:extLst>
          </p:cNvPr>
          <p:cNvSpPr>
            <a:spLocks noGrp="1"/>
          </p:cNvSpPr>
          <p:nvPr>
            <p:ph type="sldNum" sz="quarter" idx="12"/>
          </p:nvPr>
        </p:nvSpPr>
        <p:spPr/>
        <p:txBody>
          <a:bodyPr/>
          <a:lstStyle/>
          <a:p>
            <a:fld id="{EC6423E0-C461-49B7-B5D6-9A08199782A3}" type="slidenum">
              <a:rPr lang="en-IN" smtClean="0"/>
              <a:t>‹#›</a:t>
            </a:fld>
            <a:endParaRPr lang="en-IN"/>
          </a:p>
        </p:txBody>
      </p:sp>
    </p:spTree>
    <p:extLst>
      <p:ext uri="{BB962C8B-B14F-4D97-AF65-F5344CB8AC3E}">
        <p14:creationId xmlns:p14="http://schemas.microsoft.com/office/powerpoint/2010/main" val="17719447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1C59A7-936D-A5FE-FED4-F18AA88CE7C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E1D000D-B1CF-F0B2-B237-57B8D3FBA74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559CAC8-BFFA-DB44-3BB6-00549210F6E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295CA919-DED3-49AA-9803-1B81729E510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E48BCAF-3036-89FA-5477-4F48ADD93D9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666DEEB0-C518-824F-330C-E91872DD0F65}"/>
              </a:ext>
            </a:extLst>
          </p:cNvPr>
          <p:cNvSpPr>
            <a:spLocks noGrp="1"/>
          </p:cNvSpPr>
          <p:nvPr>
            <p:ph type="dt" sz="half" idx="10"/>
          </p:nvPr>
        </p:nvSpPr>
        <p:spPr/>
        <p:txBody>
          <a:bodyPr/>
          <a:lstStyle/>
          <a:p>
            <a:fld id="{1A2D9E16-F893-474F-9BB1-F0BF2AE624AA}" type="datetimeFigureOut">
              <a:rPr lang="en-IN" smtClean="0"/>
              <a:t>07-11-2024</a:t>
            </a:fld>
            <a:endParaRPr lang="en-IN"/>
          </a:p>
        </p:txBody>
      </p:sp>
      <p:sp>
        <p:nvSpPr>
          <p:cNvPr id="8" name="Footer Placeholder 7">
            <a:extLst>
              <a:ext uri="{FF2B5EF4-FFF2-40B4-BE49-F238E27FC236}">
                <a16:creationId xmlns:a16="http://schemas.microsoft.com/office/drawing/2014/main" id="{E44C7E11-2867-3508-E5E2-61437F0579E0}"/>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06CDF409-EA21-50F1-239D-BE3861AB1213}"/>
              </a:ext>
            </a:extLst>
          </p:cNvPr>
          <p:cNvSpPr>
            <a:spLocks noGrp="1"/>
          </p:cNvSpPr>
          <p:nvPr>
            <p:ph type="sldNum" sz="quarter" idx="12"/>
          </p:nvPr>
        </p:nvSpPr>
        <p:spPr/>
        <p:txBody>
          <a:bodyPr/>
          <a:lstStyle/>
          <a:p>
            <a:fld id="{EC6423E0-C461-49B7-B5D6-9A08199782A3}" type="slidenum">
              <a:rPr lang="en-IN" smtClean="0"/>
              <a:t>‹#›</a:t>
            </a:fld>
            <a:endParaRPr lang="en-IN"/>
          </a:p>
        </p:txBody>
      </p:sp>
    </p:spTree>
    <p:extLst>
      <p:ext uri="{BB962C8B-B14F-4D97-AF65-F5344CB8AC3E}">
        <p14:creationId xmlns:p14="http://schemas.microsoft.com/office/powerpoint/2010/main" val="18114635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5BDEF8-92B6-214A-C6FF-E1DEE836F459}"/>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B129A9D0-0D17-8EE4-03B3-7E0AA2729363}"/>
              </a:ext>
            </a:extLst>
          </p:cNvPr>
          <p:cNvSpPr>
            <a:spLocks noGrp="1"/>
          </p:cNvSpPr>
          <p:nvPr>
            <p:ph type="dt" sz="half" idx="10"/>
          </p:nvPr>
        </p:nvSpPr>
        <p:spPr/>
        <p:txBody>
          <a:bodyPr/>
          <a:lstStyle/>
          <a:p>
            <a:fld id="{1A2D9E16-F893-474F-9BB1-F0BF2AE624AA}" type="datetimeFigureOut">
              <a:rPr lang="en-IN" smtClean="0"/>
              <a:t>07-11-2024</a:t>
            </a:fld>
            <a:endParaRPr lang="en-IN"/>
          </a:p>
        </p:txBody>
      </p:sp>
      <p:sp>
        <p:nvSpPr>
          <p:cNvPr id="4" name="Footer Placeholder 3">
            <a:extLst>
              <a:ext uri="{FF2B5EF4-FFF2-40B4-BE49-F238E27FC236}">
                <a16:creationId xmlns:a16="http://schemas.microsoft.com/office/drawing/2014/main" id="{098944B5-D94E-AA64-06AD-738038A73E88}"/>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F22A8761-226C-8C62-4F2B-D5ABF604EC19}"/>
              </a:ext>
            </a:extLst>
          </p:cNvPr>
          <p:cNvSpPr>
            <a:spLocks noGrp="1"/>
          </p:cNvSpPr>
          <p:nvPr>
            <p:ph type="sldNum" sz="quarter" idx="12"/>
          </p:nvPr>
        </p:nvSpPr>
        <p:spPr/>
        <p:txBody>
          <a:bodyPr/>
          <a:lstStyle/>
          <a:p>
            <a:fld id="{EC6423E0-C461-49B7-B5D6-9A08199782A3}" type="slidenum">
              <a:rPr lang="en-IN" smtClean="0"/>
              <a:t>‹#›</a:t>
            </a:fld>
            <a:endParaRPr lang="en-IN"/>
          </a:p>
        </p:txBody>
      </p:sp>
    </p:spTree>
    <p:extLst>
      <p:ext uri="{BB962C8B-B14F-4D97-AF65-F5344CB8AC3E}">
        <p14:creationId xmlns:p14="http://schemas.microsoft.com/office/powerpoint/2010/main" val="40945129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EC55162-8725-3116-3F1E-E0B5D5FE0D7F}"/>
              </a:ext>
            </a:extLst>
          </p:cNvPr>
          <p:cNvSpPr>
            <a:spLocks noGrp="1"/>
          </p:cNvSpPr>
          <p:nvPr>
            <p:ph type="dt" sz="half" idx="10"/>
          </p:nvPr>
        </p:nvSpPr>
        <p:spPr/>
        <p:txBody>
          <a:bodyPr/>
          <a:lstStyle/>
          <a:p>
            <a:fld id="{1A2D9E16-F893-474F-9BB1-F0BF2AE624AA}" type="datetimeFigureOut">
              <a:rPr lang="en-IN" smtClean="0"/>
              <a:t>07-11-2024</a:t>
            </a:fld>
            <a:endParaRPr lang="en-IN"/>
          </a:p>
        </p:txBody>
      </p:sp>
      <p:sp>
        <p:nvSpPr>
          <p:cNvPr id="3" name="Footer Placeholder 2">
            <a:extLst>
              <a:ext uri="{FF2B5EF4-FFF2-40B4-BE49-F238E27FC236}">
                <a16:creationId xmlns:a16="http://schemas.microsoft.com/office/drawing/2014/main" id="{C1123762-FA99-FE89-0736-9843B727B53D}"/>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DDA50BDA-AB84-412D-EABC-F14A5DB6B923}"/>
              </a:ext>
            </a:extLst>
          </p:cNvPr>
          <p:cNvSpPr>
            <a:spLocks noGrp="1"/>
          </p:cNvSpPr>
          <p:nvPr>
            <p:ph type="sldNum" sz="quarter" idx="12"/>
          </p:nvPr>
        </p:nvSpPr>
        <p:spPr/>
        <p:txBody>
          <a:bodyPr/>
          <a:lstStyle/>
          <a:p>
            <a:fld id="{EC6423E0-C461-49B7-B5D6-9A08199782A3}" type="slidenum">
              <a:rPr lang="en-IN" smtClean="0"/>
              <a:t>‹#›</a:t>
            </a:fld>
            <a:endParaRPr lang="en-IN"/>
          </a:p>
        </p:txBody>
      </p:sp>
    </p:spTree>
    <p:extLst>
      <p:ext uri="{BB962C8B-B14F-4D97-AF65-F5344CB8AC3E}">
        <p14:creationId xmlns:p14="http://schemas.microsoft.com/office/powerpoint/2010/main" val="6476968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93922A-B17B-7271-4B60-E74C39C7BC7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EF34B7F4-8D42-4E4C-5B3F-DE32BCC1C6E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B7E32E5A-5C3D-E856-752D-0084DC0B595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63F37DF-1759-2A36-FFA4-3D137A39039A}"/>
              </a:ext>
            </a:extLst>
          </p:cNvPr>
          <p:cNvSpPr>
            <a:spLocks noGrp="1"/>
          </p:cNvSpPr>
          <p:nvPr>
            <p:ph type="dt" sz="half" idx="10"/>
          </p:nvPr>
        </p:nvSpPr>
        <p:spPr/>
        <p:txBody>
          <a:bodyPr/>
          <a:lstStyle/>
          <a:p>
            <a:fld id="{1A2D9E16-F893-474F-9BB1-F0BF2AE624AA}" type="datetimeFigureOut">
              <a:rPr lang="en-IN" smtClean="0"/>
              <a:t>07-11-2024</a:t>
            </a:fld>
            <a:endParaRPr lang="en-IN"/>
          </a:p>
        </p:txBody>
      </p:sp>
      <p:sp>
        <p:nvSpPr>
          <p:cNvPr id="6" name="Footer Placeholder 5">
            <a:extLst>
              <a:ext uri="{FF2B5EF4-FFF2-40B4-BE49-F238E27FC236}">
                <a16:creationId xmlns:a16="http://schemas.microsoft.com/office/drawing/2014/main" id="{9ABBD27B-8C0D-EF2F-E8A4-CC5B9F37A5B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44768ED-85F2-9421-3376-88D811462BB8}"/>
              </a:ext>
            </a:extLst>
          </p:cNvPr>
          <p:cNvSpPr>
            <a:spLocks noGrp="1"/>
          </p:cNvSpPr>
          <p:nvPr>
            <p:ph type="sldNum" sz="quarter" idx="12"/>
          </p:nvPr>
        </p:nvSpPr>
        <p:spPr/>
        <p:txBody>
          <a:bodyPr/>
          <a:lstStyle/>
          <a:p>
            <a:fld id="{EC6423E0-C461-49B7-B5D6-9A08199782A3}" type="slidenum">
              <a:rPr lang="en-IN" smtClean="0"/>
              <a:t>‹#›</a:t>
            </a:fld>
            <a:endParaRPr lang="en-IN"/>
          </a:p>
        </p:txBody>
      </p:sp>
    </p:spTree>
    <p:extLst>
      <p:ext uri="{BB962C8B-B14F-4D97-AF65-F5344CB8AC3E}">
        <p14:creationId xmlns:p14="http://schemas.microsoft.com/office/powerpoint/2010/main" val="40549534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75BB1F-CE36-6AF4-3CAE-E191B79FF45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56CEC8FE-315E-851A-6818-F722FE70155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D633B36F-93AF-A4FE-E805-C035773B653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646191F-C043-3ECE-AB22-933814734306}"/>
              </a:ext>
            </a:extLst>
          </p:cNvPr>
          <p:cNvSpPr>
            <a:spLocks noGrp="1"/>
          </p:cNvSpPr>
          <p:nvPr>
            <p:ph type="dt" sz="half" idx="10"/>
          </p:nvPr>
        </p:nvSpPr>
        <p:spPr/>
        <p:txBody>
          <a:bodyPr/>
          <a:lstStyle/>
          <a:p>
            <a:fld id="{1A2D9E16-F893-474F-9BB1-F0BF2AE624AA}" type="datetimeFigureOut">
              <a:rPr lang="en-IN" smtClean="0"/>
              <a:t>07-11-2024</a:t>
            </a:fld>
            <a:endParaRPr lang="en-IN"/>
          </a:p>
        </p:txBody>
      </p:sp>
      <p:sp>
        <p:nvSpPr>
          <p:cNvPr id="6" name="Footer Placeholder 5">
            <a:extLst>
              <a:ext uri="{FF2B5EF4-FFF2-40B4-BE49-F238E27FC236}">
                <a16:creationId xmlns:a16="http://schemas.microsoft.com/office/drawing/2014/main" id="{974A0EB2-9F7B-AA35-8B9B-49812307DF2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4A44B89-EBA0-9CB0-961B-C94CBC674A84}"/>
              </a:ext>
            </a:extLst>
          </p:cNvPr>
          <p:cNvSpPr>
            <a:spLocks noGrp="1"/>
          </p:cNvSpPr>
          <p:nvPr>
            <p:ph type="sldNum" sz="quarter" idx="12"/>
          </p:nvPr>
        </p:nvSpPr>
        <p:spPr/>
        <p:txBody>
          <a:bodyPr/>
          <a:lstStyle/>
          <a:p>
            <a:fld id="{EC6423E0-C461-49B7-B5D6-9A08199782A3}" type="slidenum">
              <a:rPr lang="en-IN" smtClean="0"/>
              <a:t>‹#›</a:t>
            </a:fld>
            <a:endParaRPr lang="en-IN"/>
          </a:p>
        </p:txBody>
      </p:sp>
    </p:spTree>
    <p:extLst>
      <p:ext uri="{BB962C8B-B14F-4D97-AF65-F5344CB8AC3E}">
        <p14:creationId xmlns:p14="http://schemas.microsoft.com/office/powerpoint/2010/main" val="17106723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E36C06-6E55-B635-9EC4-CE2F7A91F7D5}"/>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A81C4AE-BEC8-64CA-71E1-05E312EF636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4659E83-83A2-DE1D-5EDA-269601BA686F}"/>
              </a:ext>
            </a:extLst>
          </p:cNvPr>
          <p:cNvSpPr>
            <a:spLocks noGrp="1"/>
          </p:cNvSpPr>
          <p:nvPr>
            <p:ph type="dt" sz="half" idx="10"/>
          </p:nvPr>
        </p:nvSpPr>
        <p:spPr/>
        <p:txBody>
          <a:bodyPr/>
          <a:lstStyle/>
          <a:p>
            <a:fld id="{1A2D9E16-F893-474F-9BB1-F0BF2AE624AA}" type="datetimeFigureOut">
              <a:rPr lang="en-IN" smtClean="0"/>
              <a:t>07-11-2024</a:t>
            </a:fld>
            <a:endParaRPr lang="en-IN"/>
          </a:p>
        </p:txBody>
      </p:sp>
      <p:sp>
        <p:nvSpPr>
          <p:cNvPr id="5" name="Footer Placeholder 4">
            <a:extLst>
              <a:ext uri="{FF2B5EF4-FFF2-40B4-BE49-F238E27FC236}">
                <a16:creationId xmlns:a16="http://schemas.microsoft.com/office/drawing/2014/main" id="{91DF18F9-7557-B0F4-72C2-6A566B57FF0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6B77A68-A663-39A4-C534-75F779610CE2}"/>
              </a:ext>
            </a:extLst>
          </p:cNvPr>
          <p:cNvSpPr>
            <a:spLocks noGrp="1"/>
          </p:cNvSpPr>
          <p:nvPr>
            <p:ph type="sldNum" sz="quarter" idx="12"/>
          </p:nvPr>
        </p:nvSpPr>
        <p:spPr/>
        <p:txBody>
          <a:bodyPr/>
          <a:lstStyle/>
          <a:p>
            <a:fld id="{EC6423E0-C461-49B7-B5D6-9A08199782A3}" type="slidenum">
              <a:rPr lang="en-IN" smtClean="0"/>
              <a:t>‹#›</a:t>
            </a:fld>
            <a:endParaRPr lang="en-IN"/>
          </a:p>
        </p:txBody>
      </p:sp>
    </p:spTree>
    <p:extLst>
      <p:ext uri="{BB962C8B-B14F-4D97-AF65-F5344CB8AC3E}">
        <p14:creationId xmlns:p14="http://schemas.microsoft.com/office/powerpoint/2010/main" val="23439678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C98F082-9DFD-CE99-D14D-DE9F340BBE7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B2E059E-A189-BA80-8770-A662F9B246C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509E038-824C-013C-C0D5-6687E60D4316}"/>
              </a:ext>
            </a:extLst>
          </p:cNvPr>
          <p:cNvSpPr>
            <a:spLocks noGrp="1"/>
          </p:cNvSpPr>
          <p:nvPr>
            <p:ph type="dt" sz="half" idx="10"/>
          </p:nvPr>
        </p:nvSpPr>
        <p:spPr/>
        <p:txBody>
          <a:bodyPr/>
          <a:lstStyle/>
          <a:p>
            <a:fld id="{1A2D9E16-F893-474F-9BB1-F0BF2AE624AA}" type="datetimeFigureOut">
              <a:rPr lang="en-IN" smtClean="0"/>
              <a:t>07-11-2024</a:t>
            </a:fld>
            <a:endParaRPr lang="en-IN"/>
          </a:p>
        </p:txBody>
      </p:sp>
      <p:sp>
        <p:nvSpPr>
          <p:cNvPr id="5" name="Footer Placeholder 4">
            <a:extLst>
              <a:ext uri="{FF2B5EF4-FFF2-40B4-BE49-F238E27FC236}">
                <a16:creationId xmlns:a16="http://schemas.microsoft.com/office/drawing/2014/main" id="{2D8D66B9-4D43-E5E0-4F5A-B1489D0119E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95368CA-78F2-9A29-9DEF-94CD1B3E2861}"/>
              </a:ext>
            </a:extLst>
          </p:cNvPr>
          <p:cNvSpPr>
            <a:spLocks noGrp="1"/>
          </p:cNvSpPr>
          <p:nvPr>
            <p:ph type="sldNum" sz="quarter" idx="12"/>
          </p:nvPr>
        </p:nvSpPr>
        <p:spPr/>
        <p:txBody>
          <a:bodyPr/>
          <a:lstStyle/>
          <a:p>
            <a:fld id="{EC6423E0-C461-49B7-B5D6-9A08199782A3}" type="slidenum">
              <a:rPr lang="en-IN" smtClean="0"/>
              <a:t>‹#›</a:t>
            </a:fld>
            <a:endParaRPr lang="en-IN"/>
          </a:p>
        </p:txBody>
      </p:sp>
    </p:spTree>
    <p:extLst>
      <p:ext uri="{BB962C8B-B14F-4D97-AF65-F5344CB8AC3E}">
        <p14:creationId xmlns:p14="http://schemas.microsoft.com/office/powerpoint/2010/main" val="24868782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E5B5447-FAC0-F5CA-D922-D78A5AAECDA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EBF53BE-F42F-E421-938D-69407563B55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5F095F1-F7AA-B785-6E82-57CAEDFE825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A2D9E16-F893-474F-9BB1-F0BF2AE624AA}" type="datetimeFigureOut">
              <a:rPr lang="en-IN" smtClean="0"/>
              <a:t>07-11-2024</a:t>
            </a:fld>
            <a:endParaRPr lang="en-IN"/>
          </a:p>
        </p:txBody>
      </p:sp>
      <p:sp>
        <p:nvSpPr>
          <p:cNvPr id="5" name="Footer Placeholder 4">
            <a:extLst>
              <a:ext uri="{FF2B5EF4-FFF2-40B4-BE49-F238E27FC236}">
                <a16:creationId xmlns:a16="http://schemas.microsoft.com/office/drawing/2014/main" id="{1997B84A-0ED8-0E40-16F7-CBCFF392C21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84A61F53-6A32-66BF-2406-6B1D7B50321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C6423E0-C461-49B7-B5D6-9A08199782A3}" type="slidenum">
              <a:rPr lang="en-IN" smtClean="0"/>
              <a:t>‹#›</a:t>
            </a:fld>
            <a:endParaRPr lang="en-IN"/>
          </a:p>
        </p:txBody>
      </p:sp>
    </p:spTree>
    <p:extLst>
      <p:ext uri="{BB962C8B-B14F-4D97-AF65-F5344CB8AC3E}">
        <p14:creationId xmlns:p14="http://schemas.microsoft.com/office/powerpoint/2010/main" val="95518588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hyperlink" Target="https://www.questionpro.com/blog/quantitative-research/" TargetMode="External"/><Relationship Id="rId2" Type="http://schemas.openxmlformats.org/officeDocument/2006/relationships/hyperlink" Target="https://www.questionpro.com/blog/primary-research/" TargetMode="Externa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hyperlink" Target="https://www.questionpro.com/blog/data-organization/" TargetMode="External"/><Relationship Id="rId2" Type="http://schemas.openxmlformats.org/officeDocument/2006/relationships/hyperlink" Target="https://www.questionpro.com/blog/data-source/" TargetMode="Externa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CA35E2-369A-BE93-58E7-06847521BA96}"/>
              </a:ext>
            </a:extLst>
          </p:cNvPr>
          <p:cNvSpPr>
            <a:spLocks noGrp="1"/>
          </p:cNvSpPr>
          <p:nvPr>
            <p:ph type="ctrTitle"/>
          </p:nvPr>
        </p:nvSpPr>
        <p:spPr/>
        <p:txBody>
          <a:bodyPr/>
          <a:lstStyle/>
          <a:p>
            <a:r>
              <a:rPr lang="en-IN" dirty="0"/>
              <a:t>Unit-VI</a:t>
            </a:r>
          </a:p>
        </p:txBody>
      </p:sp>
      <p:sp>
        <p:nvSpPr>
          <p:cNvPr id="3" name="Subtitle 2">
            <a:extLst>
              <a:ext uri="{FF2B5EF4-FFF2-40B4-BE49-F238E27FC236}">
                <a16:creationId xmlns:a16="http://schemas.microsoft.com/office/drawing/2014/main" id="{A28FAD03-876C-69A6-C7B3-1D1857F4B616}"/>
              </a:ext>
            </a:extLst>
          </p:cNvPr>
          <p:cNvSpPr>
            <a:spLocks noGrp="1"/>
          </p:cNvSpPr>
          <p:nvPr>
            <p:ph type="subTitle" idx="1"/>
          </p:nvPr>
        </p:nvSpPr>
        <p:spPr/>
        <p:txBody>
          <a:bodyPr>
            <a:normAutofit/>
          </a:bodyPr>
          <a:lstStyle/>
          <a:p>
            <a:r>
              <a:rPr lang="en-IN" sz="8800" dirty="0"/>
              <a:t>Data Science</a:t>
            </a:r>
          </a:p>
        </p:txBody>
      </p:sp>
    </p:spTree>
    <p:extLst>
      <p:ext uri="{BB962C8B-B14F-4D97-AF65-F5344CB8AC3E}">
        <p14:creationId xmlns:p14="http://schemas.microsoft.com/office/powerpoint/2010/main" val="11422237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2330E5-2C12-A65F-D9E8-C17A70C99742}"/>
              </a:ext>
            </a:extLst>
          </p:cNvPr>
          <p:cNvSpPr>
            <a:spLocks noGrp="1"/>
          </p:cNvSpPr>
          <p:nvPr>
            <p:ph type="title"/>
          </p:nvPr>
        </p:nvSpPr>
        <p:spPr/>
        <p:txBody>
          <a:bodyPr/>
          <a:lstStyle/>
          <a:p>
            <a:r>
              <a:rPr lang="en-US" dirty="0">
                <a:latin typeface="Verdana" panose="020B0604030504040204" pitchFamily="34" charset="0"/>
              </a:rPr>
              <a:t>D</a:t>
            </a:r>
            <a:r>
              <a:rPr lang="en-US" sz="4400" b="0" i="0" u="none" strike="noStrike" baseline="0" dirty="0">
                <a:latin typeface="Verdana" panose="020B0604030504040204" pitchFamily="34" charset="0"/>
              </a:rPr>
              <a:t>efinition</a:t>
            </a:r>
            <a:endParaRPr lang="en-IN" dirty="0"/>
          </a:p>
        </p:txBody>
      </p:sp>
      <p:sp>
        <p:nvSpPr>
          <p:cNvPr id="3" name="Content Placeholder 2">
            <a:extLst>
              <a:ext uri="{FF2B5EF4-FFF2-40B4-BE49-F238E27FC236}">
                <a16:creationId xmlns:a16="http://schemas.microsoft.com/office/drawing/2014/main" id="{0B03DF8C-A8A5-4493-5416-74C1707DBAE3}"/>
              </a:ext>
            </a:extLst>
          </p:cNvPr>
          <p:cNvSpPr>
            <a:spLocks noGrp="1"/>
          </p:cNvSpPr>
          <p:nvPr>
            <p:ph idx="1"/>
          </p:nvPr>
        </p:nvSpPr>
        <p:spPr/>
        <p:txBody>
          <a:bodyPr/>
          <a:lstStyle/>
          <a:p>
            <a:r>
              <a:rPr lang="en-US" b="1" dirty="0"/>
              <a:t>Data Science</a:t>
            </a:r>
            <a:r>
              <a:rPr lang="en-US" dirty="0"/>
              <a:t> is a multidisciplinary field that combines statistics, mathematics, programming, and domain knowledge to extract insights and knowledge from structured and unstructured data. </a:t>
            </a:r>
          </a:p>
          <a:p>
            <a:r>
              <a:rPr lang="en-US" dirty="0"/>
              <a:t>It involves techniques from data analysis, machine learning, data mining, and visualization to analyze large amounts of data, discover patterns, and make informed decisions.</a:t>
            </a:r>
          </a:p>
          <a:p>
            <a:r>
              <a:rPr lang="en-US" b="0" i="0" dirty="0">
                <a:solidFill>
                  <a:srgbClr val="001D35"/>
                </a:solidFill>
                <a:effectLst/>
                <a:latin typeface="Google Sans"/>
              </a:rPr>
              <a:t>Data science is </a:t>
            </a:r>
            <a:r>
              <a:rPr lang="en-US" dirty="0"/>
              <a:t>the study of data to extract knowledge and insights that can help businesses make decisions</a:t>
            </a:r>
            <a:r>
              <a:rPr lang="en-US" b="0" i="0" dirty="0">
                <a:solidFill>
                  <a:srgbClr val="001D35"/>
                </a:solidFill>
                <a:effectLst/>
                <a:latin typeface="Google Sans"/>
              </a:rPr>
              <a:t>.</a:t>
            </a:r>
            <a:endParaRPr lang="en-IN" dirty="0"/>
          </a:p>
        </p:txBody>
      </p:sp>
    </p:spTree>
    <p:extLst>
      <p:ext uri="{BB962C8B-B14F-4D97-AF65-F5344CB8AC3E}">
        <p14:creationId xmlns:p14="http://schemas.microsoft.com/office/powerpoint/2010/main" val="25599127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85C793-C330-8829-97E3-396B584127F5}"/>
              </a:ext>
            </a:extLst>
          </p:cNvPr>
          <p:cNvSpPr>
            <a:spLocks noGrp="1"/>
          </p:cNvSpPr>
          <p:nvPr>
            <p:ph type="title"/>
          </p:nvPr>
        </p:nvSpPr>
        <p:spPr/>
        <p:txBody>
          <a:bodyPr/>
          <a:lstStyle/>
          <a:p>
            <a:r>
              <a:rPr lang="en-US" dirty="0"/>
              <a:t>Key aspects of data science include:</a:t>
            </a:r>
            <a:br>
              <a:rPr lang="en-US" dirty="0"/>
            </a:br>
            <a:endParaRPr lang="en-IN" dirty="0"/>
          </a:p>
        </p:txBody>
      </p:sp>
      <p:sp>
        <p:nvSpPr>
          <p:cNvPr id="3" name="Content Placeholder 2">
            <a:extLst>
              <a:ext uri="{FF2B5EF4-FFF2-40B4-BE49-F238E27FC236}">
                <a16:creationId xmlns:a16="http://schemas.microsoft.com/office/drawing/2014/main" id="{561C230B-50BE-2E07-ED3D-7EE480CAD1BA}"/>
              </a:ext>
            </a:extLst>
          </p:cNvPr>
          <p:cNvSpPr>
            <a:spLocks noGrp="1"/>
          </p:cNvSpPr>
          <p:nvPr>
            <p:ph idx="1"/>
          </p:nvPr>
        </p:nvSpPr>
        <p:spPr/>
        <p:txBody>
          <a:bodyPr>
            <a:normAutofit fontScale="77500" lnSpcReduction="20000"/>
          </a:bodyPr>
          <a:lstStyle/>
          <a:p>
            <a:pPr>
              <a:buFont typeface="Arial" panose="020B0604020202020204" pitchFamily="34" charset="0"/>
              <a:buChar char="•"/>
            </a:pPr>
            <a:r>
              <a:rPr lang="en-US" b="1" dirty="0"/>
              <a:t>Data Collection</a:t>
            </a:r>
            <a:r>
              <a:rPr lang="en-US" dirty="0"/>
              <a:t>: Gathering raw data from various sources, such as databases, web scraping, sensors, or manual input.</a:t>
            </a:r>
          </a:p>
          <a:p>
            <a:pPr>
              <a:buFont typeface="Arial" panose="020B0604020202020204" pitchFamily="34" charset="0"/>
              <a:buChar char="•"/>
            </a:pPr>
            <a:r>
              <a:rPr lang="en-US" b="1" dirty="0"/>
              <a:t>Data Cleaning</a:t>
            </a:r>
            <a:r>
              <a:rPr lang="en-US" dirty="0"/>
              <a:t>: Preparing data by removing errors, duplicates, and inconsistencies to ensure data quality.</a:t>
            </a:r>
          </a:p>
          <a:p>
            <a:pPr>
              <a:buFont typeface="Arial" panose="020B0604020202020204" pitchFamily="34" charset="0"/>
              <a:buChar char="•"/>
            </a:pPr>
            <a:r>
              <a:rPr lang="en-US" b="1" dirty="0"/>
              <a:t>Data Analysis</a:t>
            </a:r>
            <a:r>
              <a:rPr lang="en-US" dirty="0"/>
              <a:t>: Using statistical and mathematical methods to explore data, identify patterns, and generate insights.</a:t>
            </a:r>
          </a:p>
          <a:p>
            <a:pPr>
              <a:buFont typeface="Arial" panose="020B0604020202020204" pitchFamily="34" charset="0"/>
              <a:buChar char="•"/>
            </a:pPr>
            <a:r>
              <a:rPr lang="en-US" b="1" dirty="0"/>
              <a:t>Machine Learning</a:t>
            </a:r>
            <a:r>
              <a:rPr lang="en-US" dirty="0"/>
              <a:t>: Applying algorithms that allow computers to learn from data and make predictions or decisions.</a:t>
            </a:r>
          </a:p>
          <a:p>
            <a:pPr>
              <a:buFont typeface="Arial" panose="020B0604020202020204" pitchFamily="34" charset="0"/>
              <a:buChar char="•"/>
            </a:pPr>
            <a:r>
              <a:rPr lang="en-US" b="1" dirty="0"/>
              <a:t>Data Visualization</a:t>
            </a:r>
            <a:r>
              <a:rPr lang="en-US" dirty="0"/>
              <a:t>: Representing data in visual formats like charts and graphs to make insights easier to understand and communicate.</a:t>
            </a:r>
          </a:p>
          <a:p>
            <a:pPr>
              <a:buFont typeface="Arial" panose="020B0604020202020204" pitchFamily="34" charset="0"/>
              <a:buChar char="•"/>
            </a:pPr>
            <a:r>
              <a:rPr lang="en-US" b="1" dirty="0"/>
              <a:t>Interpretation and Decision-Making</a:t>
            </a:r>
            <a:r>
              <a:rPr lang="en-US" dirty="0"/>
              <a:t>: Translating data insights into actionable steps that drive business strategy, innovation, and problem-solving.</a:t>
            </a:r>
          </a:p>
          <a:p>
            <a:r>
              <a:rPr lang="en-US" dirty="0"/>
              <a:t>Data science is used in various fields, such as healthcare, finance, marketing, and engineering, to make data-driven decisions, improve processes, and drive innovation.</a:t>
            </a:r>
          </a:p>
          <a:p>
            <a:endParaRPr lang="en-IN" dirty="0"/>
          </a:p>
        </p:txBody>
      </p:sp>
    </p:spTree>
    <p:extLst>
      <p:ext uri="{BB962C8B-B14F-4D97-AF65-F5344CB8AC3E}">
        <p14:creationId xmlns:p14="http://schemas.microsoft.com/office/powerpoint/2010/main" val="40682389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FD4BDD-210F-A5CF-AD42-B40BEF4321C7}"/>
              </a:ext>
            </a:extLst>
          </p:cNvPr>
          <p:cNvSpPr>
            <a:spLocks noGrp="1"/>
          </p:cNvSpPr>
          <p:nvPr>
            <p:ph type="title"/>
          </p:nvPr>
        </p:nvSpPr>
        <p:spPr/>
        <p:txBody>
          <a:bodyPr/>
          <a:lstStyle/>
          <a:p>
            <a:endParaRPr lang="en-IN"/>
          </a:p>
        </p:txBody>
      </p:sp>
      <p:pic>
        <p:nvPicPr>
          <p:cNvPr id="1026" name="Picture 2" descr="Data Analytics vs Data Science - Data Science Process Alliance">
            <a:extLst>
              <a:ext uri="{FF2B5EF4-FFF2-40B4-BE49-F238E27FC236}">
                <a16:creationId xmlns:a16="http://schemas.microsoft.com/office/drawing/2014/main" id="{1682DCA8-AC70-FECA-CA45-20E874642DDC}"/>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103120" y="2062480"/>
            <a:ext cx="8249919" cy="429767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862739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A340EF-EC69-CDA1-AE33-53AEA6FCB2BC}"/>
              </a:ext>
            </a:extLst>
          </p:cNvPr>
          <p:cNvSpPr>
            <a:spLocks noGrp="1"/>
          </p:cNvSpPr>
          <p:nvPr>
            <p:ph type="title"/>
          </p:nvPr>
        </p:nvSpPr>
        <p:spPr/>
        <p:txBody>
          <a:bodyPr>
            <a:normAutofit fontScale="90000"/>
          </a:bodyPr>
          <a:lstStyle/>
          <a:p>
            <a:r>
              <a:rPr lang="en-US" sz="4400" b="0" i="0" u="none" strike="noStrike" baseline="0" dirty="0">
                <a:latin typeface="Verdana" panose="020B0604030504040204" pitchFamily="34" charset="0"/>
              </a:rPr>
              <a:t> </a:t>
            </a:r>
            <a:br>
              <a:rPr lang="en-US" sz="4400" b="0" i="0" u="none" strike="noStrike" baseline="0" dirty="0">
                <a:latin typeface="Verdana" panose="020B0604030504040204" pitchFamily="34" charset="0"/>
              </a:rPr>
            </a:br>
            <a:r>
              <a:rPr lang="en-US" sz="4400" b="0" i="0" u="none" strike="noStrike" baseline="0" dirty="0">
                <a:latin typeface="Verdana" panose="020B0604030504040204" pitchFamily="34" charset="0"/>
              </a:rPr>
              <a:t>    </a:t>
            </a:r>
            <a:r>
              <a:rPr lang="en-US" dirty="0">
                <a:latin typeface="Verdana" panose="020B0604030504040204" pitchFamily="34" charset="0"/>
              </a:rPr>
              <a:t>I</a:t>
            </a:r>
            <a:r>
              <a:rPr lang="en-US" sz="4400" b="0" i="0" u="none" strike="noStrike" baseline="0" dirty="0">
                <a:latin typeface="Verdana" panose="020B0604030504040204" pitchFamily="34" charset="0"/>
              </a:rPr>
              <a:t>mportance of data Science</a:t>
            </a:r>
            <a:br>
              <a:rPr lang="en-IN" dirty="0"/>
            </a:br>
            <a:endParaRPr lang="en-IN" dirty="0"/>
          </a:p>
        </p:txBody>
      </p:sp>
      <p:sp>
        <p:nvSpPr>
          <p:cNvPr id="3" name="Content Placeholder 2">
            <a:extLst>
              <a:ext uri="{FF2B5EF4-FFF2-40B4-BE49-F238E27FC236}">
                <a16:creationId xmlns:a16="http://schemas.microsoft.com/office/drawing/2014/main" id="{911DAEC0-7689-6ABF-6367-EA15B0F642FC}"/>
              </a:ext>
            </a:extLst>
          </p:cNvPr>
          <p:cNvSpPr>
            <a:spLocks noGrp="1"/>
          </p:cNvSpPr>
          <p:nvPr>
            <p:ph idx="1"/>
          </p:nvPr>
        </p:nvSpPr>
        <p:spPr/>
        <p:txBody>
          <a:bodyPr/>
          <a:lstStyle/>
          <a:p>
            <a:r>
              <a:rPr lang="en-US" dirty="0"/>
              <a:t>The importance of data science lies in its ability to transform raw data into actionable insights that drive better decision-making, improve efficiency, and foster innovation across numerous fields. Here are some key reasons why data science is crucial today.</a:t>
            </a:r>
          </a:p>
          <a:p>
            <a:r>
              <a:rPr lang="en-US" dirty="0"/>
              <a:t>In essence, data science is vital in today’s data-driven world because it empowers organizations, researchers, and governments to harness data for growth, innovation, and societal benefit</a:t>
            </a:r>
            <a:endParaRPr lang="en-IN" dirty="0"/>
          </a:p>
        </p:txBody>
      </p:sp>
    </p:spTree>
    <p:extLst>
      <p:ext uri="{BB962C8B-B14F-4D97-AF65-F5344CB8AC3E}">
        <p14:creationId xmlns:p14="http://schemas.microsoft.com/office/powerpoint/2010/main" val="29047776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3">
            <a:extLst>
              <a:ext uri="{FF2B5EF4-FFF2-40B4-BE49-F238E27FC236}">
                <a16:creationId xmlns:a16="http://schemas.microsoft.com/office/drawing/2014/main" id="{05D879E5-A2F1-43E8-9D29-32487E952DAD}"/>
              </a:ext>
            </a:extLst>
          </p:cNvPr>
          <p:cNvSpPr>
            <a:spLocks noGrp="1" noChangeArrowheads="1"/>
          </p:cNvSpPr>
          <p:nvPr>
            <p:ph idx="1"/>
          </p:nvPr>
        </p:nvSpPr>
        <p:spPr bwMode="auto">
          <a:xfrm>
            <a:off x="838200" y="1010296"/>
            <a:ext cx="10378440"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Informed Decision-Making</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Data science enables organizations to make evidence-based decisions, reducing reliance on intuition and guesswork. By analyzing past and current data, businesses can identify trends, predict outcomes, and make strategic choices that improve their success rates.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Efficiency and Automation</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Through data science, repetitive tasks can be automated, allowing organizations to streamline operations and reduce costs. Machine learning algorithms, for instance, can automate data processing, forecasting, and anomaly detection.</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Improved Customer Insights and Personalization</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Data science helps businesses understand customer behavior, preferences, and needs. This information is used to offer personalized experiences, develop targeted marketing campaigns, and improve customer satisfaction, leading to higher retention rates and loyalty.</a:t>
            </a:r>
          </a:p>
        </p:txBody>
      </p:sp>
    </p:spTree>
    <p:extLst>
      <p:ext uri="{BB962C8B-B14F-4D97-AF65-F5344CB8AC3E}">
        <p14:creationId xmlns:p14="http://schemas.microsoft.com/office/powerpoint/2010/main" val="3428039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0867E0-8E66-2881-0A19-F07523A17728}"/>
              </a:ext>
            </a:extLst>
          </p:cNvPr>
          <p:cNvSpPr>
            <a:spLocks noGrp="1"/>
          </p:cNvSpPr>
          <p:nvPr>
            <p:ph type="title"/>
          </p:nvPr>
        </p:nvSpPr>
        <p:spPr/>
        <p:txBody>
          <a:bodyPr/>
          <a:lstStyle/>
          <a:p>
            <a:endParaRPr lang="en-IN"/>
          </a:p>
        </p:txBody>
      </p:sp>
      <p:sp>
        <p:nvSpPr>
          <p:cNvPr id="6" name="Rectangle 3">
            <a:extLst>
              <a:ext uri="{FF2B5EF4-FFF2-40B4-BE49-F238E27FC236}">
                <a16:creationId xmlns:a16="http://schemas.microsoft.com/office/drawing/2014/main" id="{04E6B080-2F47-C339-4EAB-77842A391387}"/>
              </a:ext>
            </a:extLst>
          </p:cNvPr>
          <p:cNvSpPr>
            <a:spLocks noGrp="1" noChangeArrowheads="1"/>
          </p:cNvSpPr>
          <p:nvPr>
            <p:ph idx="1"/>
          </p:nvPr>
        </p:nvSpPr>
        <p:spPr bwMode="auto">
          <a:xfrm>
            <a:off x="838200" y="1877636"/>
            <a:ext cx="8592879" cy="4247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Risk Management</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By identifying patterns and anomalies, data science helps detect potential risks, such as fraud or operational inefficiencies, early. Financial institutions, for example, use data science to detect fraudulent transactions and assess credit risk.</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Enhanced Product Development</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Data science enables organizations to analyze customer feedback, market trends, and user behavior, providing insights that guide product improvements or new product development. This ensures products are more aligned with market demands and customer needs.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Healthcare Advancements</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In healthcare, data science is used to predict disease outbreaks, improve diagnostic accuracy, personalize treatments, and optimize hospital operations. This leads to better patient outcomes and more efficient healthcare systems.</a:t>
            </a:r>
          </a:p>
        </p:txBody>
      </p:sp>
    </p:spTree>
    <p:extLst>
      <p:ext uri="{BB962C8B-B14F-4D97-AF65-F5344CB8AC3E}">
        <p14:creationId xmlns:p14="http://schemas.microsoft.com/office/powerpoint/2010/main" val="27130914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D187A1-0924-9B20-3F19-42DE22B559D5}"/>
              </a:ext>
            </a:extLst>
          </p:cNvPr>
          <p:cNvSpPr>
            <a:spLocks noGrp="1"/>
          </p:cNvSpPr>
          <p:nvPr>
            <p:ph type="title"/>
          </p:nvPr>
        </p:nvSpPr>
        <p:spPr/>
        <p:txBody>
          <a:bodyPr/>
          <a:lstStyle/>
          <a:p>
            <a:endParaRPr lang="en-IN"/>
          </a:p>
        </p:txBody>
      </p:sp>
      <p:sp>
        <p:nvSpPr>
          <p:cNvPr id="4" name="Rectangle 1">
            <a:extLst>
              <a:ext uri="{FF2B5EF4-FFF2-40B4-BE49-F238E27FC236}">
                <a16:creationId xmlns:a16="http://schemas.microsoft.com/office/drawing/2014/main" id="{D38C0F0C-BC1C-A087-C4B4-6F948F475B5E}"/>
              </a:ext>
            </a:extLst>
          </p:cNvPr>
          <p:cNvSpPr>
            <a:spLocks noGrp="1" noChangeArrowheads="1"/>
          </p:cNvSpPr>
          <p:nvPr>
            <p:ph idx="1"/>
          </p:nvPr>
        </p:nvSpPr>
        <p:spPr bwMode="auto">
          <a:xfrm>
            <a:off x="838200" y="1865353"/>
            <a:ext cx="8550349"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Scientific Research and Discovery</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In fields like biology, physics, and climate science, data science is crucial for processing and analyzing massive datasets that would be impossible to interpret manually. This accelerates discoveries and the development of new technologies.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Better Supply Chain Management</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Data science helps companies optimize their supply chain by predicting demand, identifying bottlenecks, and improving inventory management. This leads to cost savings and more resilient operations.</a:t>
            </a:r>
          </a:p>
        </p:txBody>
      </p:sp>
    </p:spTree>
    <p:extLst>
      <p:ext uri="{BB962C8B-B14F-4D97-AF65-F5344CB8AC3E}">
        <p14:creationId xmlns:p14="http://schemas.microsoft.com/office/powerpoint/2010/main" val="33437402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F58C89-86F5-971A-4558-8CF548F564A9}"/>
              </a:ext>
            </a:extLst>
          </p:cNvPr>
          <p:cNvSpPr>
            <a:spLocks noGrp="1"/>
          </p:cNvSpPr>
          <p:nvPr>
            <p:ph type="title"/>
          </p:nvPr>
        </p:nvSpPr>
        <p:spPr/>
        <p:txBody>
          <a:bodyPr/>
          <a:lstStyle/>
          <a:p>
            <a:endParaRPr lang="en-IN"/>
          </a:p>
        </p:txBody>
      </p:sp>
      <p:sp>
        <p:nvSpPr>
          <p:cNvPr id="4" name="Rectangle 1">
            <a:extLst>
              <a:ext uri="{FF2B5EF4-FFF2-40B4-BE49-F238E27FC236}">
                <a16:creationId xmlns:a16="http://schemas.microsoft.com/office/drawing/2014/main" id="{539BDAD2-6D31-CCA0-DA52-362E1358267B}"/>
              </a:ext>
            </a:extLst>
          </p:cNvPr>
          <p:cNvSpPr>
            <a:spLocks noGrp="1" noChangeArrowheads="1"/>
          </p:cNvSpPr>
          <p:nvPr>
            <p:ph idx="1"/>
          </p:nvPr>
        </p:nvSpPr>
        <p:spPr bwMode="auto">
          <a:xfrm>
            <a:off x="838200" y="2136338"/>
            <a:ext cx="10693400"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Competitive Advantage</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Organizations that harness data science effectively often gain an edge over competitors. Data-driven insights help them stay ahead of industry trends, respond more quickly to market changes, and innovate continuously.</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Supporting Smart Cities and Sustainability</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Data science plays a key role in creating smart city initiatives, optimizing traffic flows, reducing energy consumption, and planning sustainable urban development. This supports economic growth while reducing environmental impact.</a:t>
            </a:r>
          </a:p>
        </p:txBody>
      </p:sp>
    </p:spTree>
    <p:extLst>
      <p:ext uri="{BB962C8B-B14F-4D97-AF65-F5344CB8AC3E}">
        <p14:creationId xmlns:p14="http://schemas.microsoft.com/office/powerpoint/2010/main" val="35356422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EF9EBC-A634-C04C-5CEB-06D73E5394CF}"/>
              </a:ext>
            </a:extLst>
          </p:cNvPr>
          <p:cNvSpPr>
            <a:spLocks noGrp="1"/>
          </p:cNvSpPr>
          <p:nvPr>
            <p:ph type="title"/>
          </p:nvPr>
        </p:nvSpPr>
        <p:spPr/>
        <p:txBody>
          <a:bodyPr/>
          <a:lstStyle/>
          <a:p>
            <a:r>
              <a:rPr lang="en-US" dirty="0">
                <a:latin typeface="Verdana" panose="020B0604030504040204" pitchFamily="34" charset="0"/>
              </a:rPr>
              <a:t>B</a:t>
            </a:r>
            <a:r>
              <a:rPr lang="en-US" sz="4400" b="0" i="0" u="none" strike="noStrike" baseline="0" dirty="0">
                <a:latin typeface="Verdana" panose="020B0604030504040204" pitchFamily="34" charset="0"/>
              </a:rPr>
              <a:t>ig data</a:t>
            </a:r>
            <a:endParaRPr lang="en-IN" dirty="0"/>
          </a:p>
        </p:txBody>
      </p:sp>
      <p:sp>
        <p:nvSpPr>
          <p:cNvPr id="3" name="Content Placeholder 2">
            <a:extLst>
              <a:ext uri="{FF2B5EF4-FFF2-40B4-BE49-F238E27FC236}">
                <a16:creationId xmlns:a16="http://schemas.microsoft.com/office/drawing/2014/main" id="{7E664258-AFB4-3F48-1F8A-853596C22196}"/>
              </a:ext>
            </a:extLst>
          </p:cNvPr>
          <p:cNvSpPr>
            <a:spLocks noGrp="1"/>
          </p:cNvSpPr>
          <p:nvPr>
            <p:ph idx="1"/>
          </p:nvPr>
        </p:nvSpPr>
        <p:spPr>
          <a:xfrm>
            <a:off x="960120" y="1409065"/>
            <a:ext cx="10515600" cy="4351338"/>
          </a:xfrm>
        </p:spPr>
        <p:txBody>
          <a:bodyPr>
            <a:normAutofit fontScale="92500"/>
          </a:bodyPr>
          <a:lstStyle/>
          <a:p>
            <a:pPr marL="0" indent="0">
              <a:buNone/>
            </a:pPr>
            <a:r>
              <a:rPr lang="en-US" b="0" i="0" dirty="0">
                <a:solidFill>
                  <a:srgbClr val="001D35"/>
                </a:solidFill>
                <a:effectLst/>
                <a:latin typeface="Google Sans"/>
              </a:rPr>
              <a:t>Big data is a approach to collection of data that is extremely large, complex, and diverse, and that grows exponentially over time.</a:t>
            </a:r>
          </a:p>
          <a:p>
            <a:pPr marL="0" indent="0">
              <a:buNone/>
            </a:pPr>
            <a:r>
              <a:rPr lang="en-US" b="0" i="0" dirty="0">
                <a:solidFill>
                  <a:srgbClr val="001D35"/>
                </a:solidFill>
                <a:effectLst/>
                <a:latin typeface="Google Sans"/>
              </a:rPr>
              <a:t>It can be structured, semi-structured, or unstructured, and comes from a variety of sources, such as mobile devices, social media, and the web. </a:t>
            </a:r>
          </a:p>
          <a:p>
            <a:pPr marL="0" indent="0">
              <a:buNone/>
            </a:pPr>
            <a:r>
              <a:rPr lang="en-US" dirty="0"/>
              <a:t>Big Data technologies, such as </a:t>
            </a:r>
            <a:r>
              <a:rPr lang="en-US" dirty="0">
                <a:highlight>
                  <a:srgbClr val="FFFF00"/>
                </a:highlight>
              </a:rPr>
              <a:t>Hadoop, Spark, and NoSQL ,</a:t>
            </a:r>
            <a:r>
              <a:rPr lang="en-IN" b="1" dirty="0"/>
              <a:t> MongoDB, Cloudera</a:t>
            </a:r>
            <a:r>
              <a:rPr lang="en-IN" dirty="0"/>
              <a:t> </a:t>
            </a:r>
            <a:r>
              <a:rPr lang="en-US" dirty="0"/>
              <a:t>databases, are designed to handle high volumes, velocity, and variety of data, enabling organizations to gain insights, make informed decisions, and drive innovation across industries.</a:t>
            </a:r>
          </a:p>
          <a:p>
            <a:pPr marL="0" indent="0">
              <a:buNone/>
            </a:pPr>
            <a:endParaRPr lang="en-US" dirty="0"/>
          </a:p>
          <a:p>
            <a:pPr marL="0" indent="0">
              <a:buNone/>
            </a:pPr>
            <a:r>
              <a:rPr lang="en-US" dirty="0"/>
              <a:t>Read the List of big data software</a:t>
            </a:r>
            <a:endParaRPr lang="en-IN" dirty="0"/>
          </a:p>
        </p:txBody>
      </p:sp>
    </p:spTree>
    <p:extLst>
      <p:ext uri="{BB962C8B-B14F-4D97-AF65-F5344CB8AC3E}">
        <p14:creationId xmlns:p14="http://schemas.microsoft.com/office/powerpoint/2010/main" val="28206223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F087A5-9AFD-715A-3695-BCC96A882D36}"/>
              </a:ext>
            </a:extLst>
          </p:cNvPr>
          <p:cNvSpPr>
            <a:spLocks noGrp="1"/>
          </p:cNvSpPr>
          <p:nvPr>
            <p:ph type="title"/>
          </p:nvPr>
        </p:nvSpPr>
        <p:spPr>
          <a:xfrm>
            <a:off x="838200" y="365126"/>
            <a:ext cx="10515600" cy="315912"/>
          </a:xfrm>
        </p:spPr>
        <p:txBody>
          <a:bodyPr>
            <a:normAutofit fontScale="90000"/>
          </a:bodyPr>
          <a:lstStyle/>
          <a:p>
            <a:endParaRPr lang="en-IN" dirty="0"/>
          </a:p>
        </p:txBody>
      </p:sp>
      <p:sp>
        <p:nvSpPr>
          <p:cNvPr id="3" name="Content Placeholder 2">
            <a:extLst>
              <a:ext uri="{FF2B5EF4-FFF2-40B4-BE49-F238E27FC236}">
                <a16:creationId xmlns:a16="http://schemas.microsoft.com/office/drawing/2014/main" id="{E2D2D0A8-F8F7-55F1-8C25-5531B3F246DD}"/>
              </a:ext>
            </a:extLst>
          </p:cNvPr>
          <p:cNvSpPr>
            <a:spLocks noGrp="1"/>
          </p:cNvSpPr>
          <p:nvPr>
            <p:ph idx="1"/>
          </p:nvPr>
        </p:nvSpPr>
        <p:spPr>
          <a:xfrm>
            <a:off x="838200" y="850264"/>
            <a:ext cx="10515600" cy="5215255"/>
          </a:xfrm>
        </p:spPr>
        <p:txBody>
          <a:bodyPr>
            <a:normAutofit/>
          </a:bodyPr>
          <a:lstStyle/>
          <a:p>
            <a:r>
              <a:rPr lang="en-US" b="0" i="0" dirty="0">
                <a:solidFill>
                  <a:srgbClr val="001D35"/>
                </a:solidFill>
                <a:effectLst/>
                <a:latin typeface="Google Sans"/>
              </a:rPr>
              <a:t>Big data is so large and complex that traditional data management systems can't store, process, or analyze it. </a:t>
            </a:r>
          </a:p>
          <a:p>
            <a:r>
              <a:rPr lang="en-US" b="0" i="0" dirty="0">
                <a:solidFill>
                  <a:srgbClr val="001D35"/>
                </a:solidFill>
                <a:effectLst/>
                <a:latin typeface="Google Sans"/>
              </a:rPr>
              <a:t>To make sense of big data, organizations use big data analytics, which involves tools, methods, and applications that are designed specifically for this purpose. </a:t>
            </a:r>
          </a:p>
          <a:p>
            <a:r>
              <a:rPr lang="en-US" b="0" i="0" dirty="0">
                <a:solidFill>
                  <a:srgbClr val="001D35"/>
                </a:solidFill>
                <a:effectLst/>
                <a:latin typeface="Google Sans"/>
              </a:rPr>
              <a:t>It is used by many multinational companies to process the data and business of many organizations. The data flow would exceed 150 exabytes per day before replication.</a:t>
            </a:r>
          </a:p>
          <a:p>
            <a:r>
              <a:rPr lang="en-US" dirty="0"/>
              <a:t>The amount and availability of data is growing rapidly,  by digital technology advancements, such as connectivity, mobility, the Internet of Things (IoT), and artificial intelligence (AI).</a:t>
            </a:r>
            <a:endParaRPr lang="en-IN" dirty="0"/>
          </a:p>
        </p:txBody>
      </p:sp>
    </p:spTree>
    <p:extLst>
      <p:ext uri="{BB962C8B-B14F-4D97-AF65-F5344CB8AC3E}">
        <p14:creationId xmlns:p14="http://schemas.microsoft.com/office/powerpoint/2010/main" val="40270779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9222F-78C5-F811-3108-2F5CA2282758}"/>
              </a:ext>
            </a:extLst>
          </p:cNvPr>
          <p:cNvSpPr>
            <a:spLocks noGrp="1"/>
          </p:cNvSpPr>
          <p:nvPr>
            <p:ph type="title"/>
          </p:nvPr>
        </p:nvSpPr>
        <p:spPr/>
        <p:txBody>
          <a:bodyPr/>
          <a:lstStyle/>
          <a:p>
            <a:endParaRPr lang="en-IN"/>
          </a:p>
        </p:txBody>
      </p:sp>
      <p:pic>
        <p:nvPicPr>
          <p:cNvPr id="1026" name="Picture 2" descr="Big Data Characteristics">
            <a:extLst>
              <a:ext uri="{FF2B5EF4-FFF2-40B4-BE49-F238E27FC236}">
                <a16:creationId xmlns:a16="http://schemas.microsoft.com/office/drawing/2014/main" id="{94D9A3F8-7672-0147-8F61-C9D03A4C7730}"/>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127760" y="1991519"/>
            <a:ext cx="9855200" cy="40195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897818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6554B0-C242-023D-61A3-22C6C491B50F}"/>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8875D04B-A694-A2CD-DB12-1912A539B146}"/>
              </a:ext>
            </a:extLst>
          </p:cNvPr>
          <p:cNvSpPr>
            <a:spLocks noGrp="1"/>
          </p:cNvSpPr>
          <p:nvPr>
            <p:ph idx="1"/>
          </p:nvPr>
        </p:nvSpPr>
        <p:spPr>
          <a:xfrm>
            <a:off x="838200" y="1825625"/>
            <a:ext cx="9423400" cy="4351338"/>
          </a:xfrm>
        </p:spPr>
        <p:txBody>
          <a:bodyPr/>
          <a:lstStyle/>
          <a:p>
            <a:r>
              <a:rPr lang="en-US" dirty="0"/>
              <a:t>Volume: Refers to the </a:t>
            </a:r>
            <a:r>
              <a:rPr lang="en-US" b="1" dirty="0">
                <a:highlight>
                  <a:srgbClr val="FFFF00"/>
                </a:highlight>
              </a:rPr>
              <a:t>enormous amount of data </a:t>
            </a:r>
            <a:r>
              <a:rPr lang="en-US" dirty="0"/>
              <a:t>generated every second. With vast quantities of data coming from various sources (social media, IoT devices, transactions, etc.), Big Data focuses on managing and analyzing these massive volumes.</a:t>
            </a:r>
          </a:p>
          <a:p>
            <a:r>
              <a:rPr lang="en-US" dirty="0"/>
              <a:t>Velocity: This is </a:t>
            </a:r>
            <a:r>
              <a:rPr lang="en-US" dirty="0">
                <a:highlight>
                  <a:srgbClr val="FFFF00"/>
                </a:highlight>
              </a:rPr>
              <a:t>the speed at which data is generated, collected, and processed. </a:t>
            </a:r>
            <a:r>
              <a:rPr lang="en-US" dirty="0"/>
              <a:t>High velocity is critical in real-time applications like fraud detection or personalized recommendations, where immediate insights are valuable.</a:t>
            </a:r>
          </a:p>
          <a:p>
            <a:endParaRPr lang="en-US" dirty="0"/>
          </a:p>
          <a:p>
            <a:endParaRPr lang="en-IN" dirty="0"/>
          </a:p>
        </p:txBody>
      </p:sp>
    </p:spTree>
    <p:extLst>
      <p:ext uri="{BB962C8B-B14F-4D97-AF65-F5344CB8AC3E}">
        <p14:creationId xmlns:p14="http://schemas.microsoft.com/office/powerpoint/2010/main" val="11926247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1EAF2A-B583-FF10-8713-1801F60CE7A3}"/>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76936A35-5DED-5721-368B-7C5CCB69BEDC}"/>
              </a:ext>
            </a:extLst>
          </p:cNvPr>
          <p:cNvSpPr>
            <a:spLocks noGrp="1"/>
          </p:cNvSpPr>
          <p:nvPr>
            <p:ph idx="1"/>
          </p:nvPr>
        </p:nvSpPr>
        <p:spPr/>
        <p:txBody>
          <a:bodyPr/>
          <a:lstStyle/>
          <a:p>
            <a:r>
              <a:rPr lang="en-US" dirty="0"/>
              <a:t>Variety: Indicates the </a:t>
            </a:r>
            <a:r>
              <a:rPr lang="en-US" dirty="0">
                <a:highlight>
                  <a:srgbClr val="FFFF00"/>
                </a:highlight>
              </a:rPr>
              <a:t>diverse types of data sources and formats</a:t>
            </a:r>
            <a:r>
              <a:rPr lang="en-US" dirty="0"/>
              <a:t>. Big Data can come from structured data (like databases), unstructured data (such as text, video, and images), or semi-structured data (like JSON files or XML).</a:t>
            </a:r>
          </a:p>
          <a:p>
            <a:r>
              <a:rPr lang="en-US" b="1" dirty="0"/>
              <a:t>Veracity</a:t>
            </a:r>
            <a:r>
              <a:rPr lang="en-US" dirty="0"/>
              <a:t>: Represents the </a:t>
            </a:r>
            <a:r>
              <a:rPr lang="en-US" dirty="0">
                <a:highlight>
                  <a:srgbClr val="FFFF00"/>
                </a:highlight>
              </a:rPr>
              <a:t>accuracy, quality, and trustworthiness of the data. </a:t>
            </a:r>
            <a:r>
              <a:rPr lang="en-US" dirty="0"/>
              <a:t>Due to the large amount of data coming from multiple sources, there can </a:t>
            </a:r>
            <a:r>
              <a:rPr lang="en-US" dirty="0">
                <a:highlight>
                  <a:srgbClr val="FFFF00"/>
                </a:highlight>
              </a:rPr>
              <a:t>be inconsistencies or uncertainties</a:t>
            </a:r>
            <a:r>
              <a:rPr lang="en-US" dirty="0"/>
              <a:t>, which makes data quality management essential.</a:t>
            </a:r>
            <a:endParaRPr lang="en-IN" dirty="0"/>
          </a:p>
        </p:txBody>
      </p:sp>
    </p:spTree>
    <p:extLst>
      <p:ext uri="{BB962C8B-B14F-4D97-AF65-F5344CB8AC3E}">
        <p14:creationId xmlns:p14="http://schemas.microsoft.com/office/powerpoint/2010/main" val="4740461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00D43C-7684-7A8F-3C90-DEB4028EF381}"/>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C692478C-4008-E192-236A-B3B2E805A097}"/>
              </a:ext>
            </a:extLst>
          </p:cNvPr>
          <p:cNvSpPr>
            <a:spLocks noGrp="1"/>
          </p:cNvSpPr>
          <p:nvPr>
            <p:ph idx="1"/>
          </p:nvPr>
        </p:nvSpPr>
        <p:spPr/>
        <p:txBody>
          <a:bodyPr/>
          <a:lstStyle/>
          <a:p>
            <a:r>
              <a:rPr lang="en-US" dirty="0"/>
              <a:t>Value: The </a:t>
            </a:r>
            <a:r>
              <a:rPr lang="en-US" dirty="0">
                <a:highlight>
                  <a:srgbClr val="FFFF00"/>
                </a:highlight>
              </a:rPr>
              <a:t>ultimate worth or usefulness of the data</a:t>
            </a:r>
            <a:r>
              <a:rPr lang="en-US" dirty="0"/>
              <a:t>, representing the </a:t>
            </a:r>
            <a:r>
              <a:rPr lang="en-US" dirty="0">
                <a:highlight>
                  <a:srgbClr val="FFFF00"/>
                </a:highlight>
              </a:rPr>
              <a:t>insights, knowledge, or actionable information </a:t>
            </a:r>
            <a:r>
              <a:rPr lang="en-US" dirty="0"/>
              <a:t>that can be derived from it. Not all data is valuable, so identifying and extracting meaningful information is key.</a:t>
            </a:r>
          </a:p>
          <a:p>
            <a:r>
              <a:rPr lang="en-US" dirty="0"/>
              <a:t>Variability: This refers to the </a:t>
            </a:r>
            <a:r>
              <a:rPr lang="en-US" dirty="0">
                <a:highlight>
                  <a:srgbClr val="FFFF00"/>
                </a:highlight>
              </a:rPr>
              <a:t>inconsistencies and fluctuations </a:t>
            </a:r>
            <a:r>
              <a:rPr lang="en-US" dirty="0"/>
              <a:t>in data, especially with unstructured data. Data can vary in meaning or structure, adding complexity to data management and analysis.</a:t>
            </a:r>
            <a:endParaRPr lang="en-IN" dirty="0"/>
          </a:p>
        </p:txBody>
      </p:sp>
    </p:spTree>
    <p:extLst>
      <p:ext uri="{BB962C8B-B14F-4D97-AF65-F5344CB8AC3E}">
        <p14:creationId xmlns:p14="http://schemas.microsoft.com/office/powerpoint/2010/main" val="18440106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510E81-A5F6-88FA-4068-5DCA127AACFA}"/>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3D5582E2-8A5A-FAB6-4AF5-75B7D503D524}"/>
              </a:ext>
            </a:extLst>
          </p:cNvPr>
          <p:cNvSpPr>
            <a:spLocks noGrp="1"/>
          </p:cNvSpPr>
          <p:nvPr>
            <p:ph idx="1"/>
          </p:nvPr>
        </p:nvSpPr>
        <p:spPr/>
        <p:txBody>
          <a:bodyPr>
            <a:normAutofit lnSpcReduction="10000"/>
          </a:bodyPr>
          <a:lstStyle/>
          <a:p>
            <a:r>
              <a:rPr lang="en-US" b="0" i="0" dirty="0">
                <a:solidFill>
                  <a:srgbClr val="273239"/>
                </a:solidFill>
                <a:effectLst/>
                <a:latin typeface="Nunito" pitchFamily="2" charset="0"/>
              </a:rPr>
              <a:t>but now there is “6</a:t>
            </a:r>
            <a:r>
              <a:rPr lang="en-US" b="0" i="1" dirty="0">
                <a:solidFill>
                  <a:srgbClr val="273239"/>
                </a:solidFill>
                <a:effectLst/>
                <a:latin typeface="Nunito" pitchFamily="2" charset="0"/>
              </a:rPr>
              <a:t>Vs</a:t>
            </a:r>
            <a:r>
              <a:rPr lang="en-US" b="0" i="0" dirty="0">
                <a:solidFill>
                  <a:srgbClr val="273239"/>
                </a:solidFill>
                <a:effectLst/>
                <a:latin typeface="Nunito" pitchFamily="2" charset="0"/>
              </a:rPr>
              <a:t>” of Big Data which are also termed as the characteristics of Big Data as follows: </a:t>
            </a:r>
          </a:p>
          <a:p>
            <a:pPr algn="l" fontAlgn="base">
              <a:spcAft>
                <a:spcPts val="750"/>
              </a:spcAft>
            </a:pPr>
            <a:r>
              <a:rPr lang="en-US" b="1" i="0" dirty="0">
                <a:solidFill>
                  <a:srgbClr val="273239"/>
                </a:solidFill>
                <a:effectLst/>
                <a:latin typeface="Nunito" pitchFamily="2" charset="0"/>
              </a:rPr>
              <a:t>Variability:</a:t>
            </a:r>
            <a:endParaRPr lang="en-US" b="0" i="0" dirty="0">
              <a:solidFill>
                <a:srgbClr val="273239"/>
              </a:solidFill>
              <a:effectLst/>
              <a:latin typeface="Nunito" pitchFamily="2" charset="0"/>
            </a:endParaRPr>
          </a:p>
          <a:p>
            <a:pPr algn="l" fontAlgn="base">
              <a:spcAft>
                <a:spcPts val="1800"/>
              </a:spcAft>
              <a:buFont typeface="Arial" panose="020B0604020202020204" pitchFamily="34" charset="0"/>
              <a:buChar char="•"/>
            </a:pPr>
            <a:r>
              <a:rPr lang="en-US" b="0" i="0" dirty="0">
                <a:solidFill>
                  <a:srgbClr val="273239"/>
                </a:solidFill>
                <a:effectLst/>
                <a:latin typeface="Nunito" pitchFamily="2" charset="0"/>
              </a:rPr>
              <a:t>How fast or available data that extent is the structure of your data is changing?</a:t>
            </a:r>
          </a:p>
          <a:p>
            <a:pPr algn="l" fontAlgn="base">
              <a:spcAft>
                <a:spcPts val="1800"/>
              </a:spcAft>
              <a:buFont typeface="Arial" panose="020B0604020202020204" pitchFamily="34" charset="0"/>
              <a:buChar char="•"/>
            </a:pPr>
            <a:r>
              <a:rPr lang="en-US" b="0" i="0" dirty="0">
                <a:solidFill>
                  <a:srgbClr val="273239"/>
                </a:solidFill>
                <a:effectLst/>
                <a:latin typeface="Nunito" pitchFamily="2" charset="0"/>
              </a:rPr>
              <a:t>How often does the meaning or shape of your data change?</a:t>
            </a:r>
          </a:p>
          <a:p>
            <a:pPr marL="0" indent="0">
              <a:buNone/>
            </a:pPr>
            <a:endParaRPr lang="en-US" dirty="0">
              <a:solidFill>
                <a:srgbClr val="273239"/>
              </a:solidFill>
              <a:latin typeface="Nunito" pitchFamily="2" charset="0"/>
            </a:endParaRPr>
          </a:p>
          <a:p>
            <a:r>
              <a:rPr lang="en-IN" dirty="0"/>
              <a:t>https://www.javatpoint.com/big-data-characteristics</a:t>
            </a:r>
          </a:p>
        </p:txBody>
      </p:sp>
    </p:spTree>
    <p:extLst>
      <p:ext uri="{BB962C8B-B14F-4D97-AF65-F5344CB8AC3E}">
        <p14:creationId xmlns:p14="http://schemas.microsoft.com/office/powerpoint/2010/main" val="30289738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D493D8-0E57-4FDC-1EAB-AB44AB1D56A1}"/>
              </a:ext>
            </a:extLst>
          </p:cNvPr>
          <p:cNvSpPr>
            <a:spLocks noGrp="1"/>
          </p:cNvSpPr>
          <p:nvPr>
            <p:ph type="title"/>
          </p:nvPr>
        </p:nvSpPr>
        <p:spPr/>
        <p:txBody>
          <a:bodyPr/>
          <a:lstStyle/>
          <a:p>
            <a:r>
              <a:rPr lang="en-US" sz="4400" b="0" i="0" u="none" strike="noStrike" baseline="0" dirty="0">
                <a:latin typeface="Verdana" panose="020B0604030504040204" pitchFamily="34" charset="0"/>
              </a:rPr>
              <a:t>Data collection methods</a:t>
            </a:r>
            <a:endParaRPr lang="en-IN" dirty="0"/>
          </a:p>
        </p:txBody>
      </p:sp>
      <p:sp>
        <p:nvSpPr>
          <p:cNvPr id="3" name="Content Placeholder 2">
            <a:extLst>
              <a:ext uri="{FF2B5EF4-FFF2-40B4-BE49-F238E27FC236}">
                <a16:creationId xmlns:a16="http://schemas.microsoft.com/office/drawing/2014/main" id="{63C404AF-7286-3DB6-2874-E5C926AAFEBD}"/>
              </a:ext>
            </a:extLst>
          </p:cNvPr>
          <p:cNvSpPr>
            <a:spLocks noGrp="1"/>
          </p:cNvSpPr>
          <p:nvPr>
            <p:ph idx="1"/>
          </p:nvPr>
        </p:nvSpPr>
        <p:spPr/>
        <p:txBody>
          <a:bodyPr>
            <a:normAutofit fontScale="70000" lnSpcReduction="20000"/>
          </a:bodyPr>
          <a:lstStyle/>
          <a:p>
            <a:pPr marL="0" indent="0">
              <a:buNone/>
            </a:pPr>
            <a:r>
              <a:rPr lang="en-US" b="0" i="0" dirty="0">
                <a:solidFill>
                  <a:srgbClr val="001D35"/>
                </a:solidFill>
                <a:effectLst/>
                <a:latin typeface="Google Sans"/>
              </a:rPr>
              <a:t>Data collection methods are techniques and processes used to gather information for research purposes. </a:t>
            </a:r>
          </a:p>
          <a:p>
            <a:r>
              <a:rPr lang="en-US" dirty="0"/>
              <a:t>Surveys: A structured questionnaire or survey can be used to collect data from a group of people. Surveys can be conducted by mail, online, by phone, or in person. </a:t>
            </a:r>
          </a:p>
          <a:p>
            <a:r>
              <a:rPr lang="en-US" dirty="0"/>
              <a:t>Interviews: A researcher can gather information from a respondent in person, by phone, or through video conferencing. Interviews can be structured, semi-structured, or unstructured. </a:t>
            </a:r>
          </a:p>
          <a:p>
            <a:r>
              <a:rPr lang="en-US" dirty="0"/>
              <a:t>Focus groups: A small group of people discuss specific topics in a moderated setting. </a:t>
            </a:r>
          </a:p>
          <a:p>
            <a:r>
              <a:rPr lang="en-US" dirty="0"/>
              <a:t>Observations: A researcher can observe and record behaviors, actions, or events in their natural setting. </a:t>
            </a:r>
          </a:p>
          <a:p>
            <a:r>
              <a:rPr lang="en-US" dirty="0"/>
              <a:t>Experiments: A researcher can manipulate variables to observe their impact on the outcome. </a:t>
            </a:r>
          </a:p>
          <a:p>
            <a:r>
              <a:rPr lang="en-US" dirty="0"/>
              <a:t>Transactional tracking: A researcher can track a customer's purchases to derive data. </a:t>
            </a:r>
          </a:p>
          <a:p>
            <a:r>
              <a:rPr lang="en-US" dirty="0"/>
              <a:t>Textual or content analysis: A researcher can investigate changes in views on a specific topic.</a:t>
            </a:r>
            <a:endParaRPr lang="en-IN" dirty="0"/>
          </a:p>
          <a:p>
            <a:endParaRPr lang="en-US" b="0" i="0" dirty="0">
              <a:solidFill>
                <a:srgbClr val="001D35"/>
              </a:solidFill>
              <a:effectLst/>
              <a:latin typeface="Google Sans"/>
            </a:endParaRPr>
          </a:p>
          <a:p>
            <a:endParaRPr lang="en-IN" dirty="0"/>
          </a:p>
        </p:txBody>
      </p:sp>
    </p:spTree>
    <p:extLst>
      <p:ext uri="{BB962C8B-B14F-4D97-AF65-F5344CB8AC3E}">
        <p14:creationId xmlns:p14="http://schemas.microsoft.com/office/powerpoint/2010/main" val="17992261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EE9CD3-FC38-98CB-D512-AF2D71D009AE}"/>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93711EA5-45F4-DC28-E45F-5920CE8B6070}"/>
              </a:ext>
            </a:extLst>
          </p:cNvPr>
          <p:cNvSpPr>
            <a:spLocks noGrp="1"/>
          </p:cNvSpPr>
          <p:nvPr>
            <p:ph idx="1"/>
          </p:nvPr>
        </p:nvSpPr>
        <p:spPr/>
        <p:txBody>
          <a:bodyPr>
            <a:normAutofit/>
          </a:bodyPr>
          <a:lstStyle/>
          <a:p>
            <a:r>
              <a:rPr lang="en-US" b="0" i="0" dirty="0">
                <a:solidFill>
                  <a:srgbClr val="001D35"/>
                </a:solidFill>
                <a:effectLst/>
                <a:latin typeface="Google Sans"/>
              </a:rPr>
              <a:t>Data collection methods can be either qualitative or quantitative. Qualitative methods help understand the driving forces behind the results. Quantitative methods include conducting experiments and observing well-defined situations or events. </a:t>
            </a:r>
          </a:p>
          <a:p>
            <a:pPr algn="l" fontAlgn="ctr">
              <a:spcBef>
                <a:spcPts val="750"/>
              </a:spcBef>
              <a:spcAft>
                <a:spcPts val="1500"/>
              </a:spcAft>
            </a:pPr>
            <a:r>
              <a:rPr lang="en-US" b="0" i="0" dirty="0">
                <a:solidFill>
                  <a:srgbClr val="001D35"/>
                </a:solidFill>
                <a:effectLst/>
                <a:latin typeface="Google Sans"/>
              </a:rPr>
              <a:t>Data collection methods can also be primary or secondary. Primary data is data that's gathered firsthand, while secondary data is data that has been collected previously. </a:t>
            </a:r>
          </a:p>
          <a:p>
            <a:br>
              <a:rPr lang="en-US" b="0" i="0" dirty="0">
                <a:solidFill>
                  <a:srgbClr val="001D35"/>
                </a:solidFill>
                <a:effectLst/>
                <a:latin typeface="Google Sans"/>
              </a:rPr>
            </a:br>
            <a:endParaRPr lang="en-IN" dirty="0"/>
          </a:p>
        </p:txBody>
      </p:sp>
    </p:spTree>
    <p:extLst>
      <p:ext uri="{BB962C8B-B14F-4D97-AF65-F5344CB8AC3E}">
        <p14:creationId xmlns:p14="http://schemas.microsoft.com/office/powerpoint/2010/main" val="343179297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51FD6D-1DD2-C215-FA45-A21F8006B923}"/>
              </a:ext>
            </a:extLst>
          </p:cNvPr>
          <p:cNvSpPr>
            <a:spLocks noGrp="1"/>
          </p:cNvSpPr>
          <p:nvPr>
            <p:ph type="title"/>
          </p:nvPr>
        </p:nvSpPr>
        <p:spPr>
          <a:xfrm>
            <a:off x="838200" y="365125"/>
            <a:ext cx="10515600" cy="701675"/>
          </a:xfrm>
        </p:spPr>
        <p:txBody>
          <a:bodyPr>
            <a:normAutofit fontScale="90000"/>
          </a:bodyPr>
          <a:lstStyle/>
          <a:p>
            <a:r>
              <a:rPr lang="en-IN" dirty="0">
                <a:latin typeface="Verdana" panose="020B0604030504040204" pitchFamily="34" charset="0"/>
              </a:rPr>
              <a:t>P</a:t>
            </a:r>
            <a:r>
              <a:rPr lang="en-IN" sz="4400" b="0" i="0" u="none" strike="noStrike" baseline="0" dirty="0">
                <a:latin typeface="Verdana" panose="020B0604030504040204" pitchFamily="34" charset="0"/>
              </a:rPr>
              <a:t>rimary vs. Secondary Data</a:t>
            </a:r>
            <a:br>
              <a:rPr lang="en-IN" sz="4400" b="0" i="0" u="none" strike="noStrike" baseline="0" dirty="0">
                <a:latin typeface="Verdana" panose="020B0604030504040204" pitchFamily="34" charset="0"/>
              </a:rPr>
            </a:br>
            <a:endParaRPr lang="en-IN" dirty="0"/>
          </a:p>
        </p:txBody>
      </p:sp>
      <p:pic>
        <p:nvPicPr>
          <p:cNvPr id="7170" name="Picture 2" descr="Data Collection Methods">
            <a:extLst>
              <a:ext uri="{FF2B5EF4-FFF2-40B4-BE49-F238E27FC236}">
                <a16:creationId xmlns:a16="http://schemas.microsoft.com/office/drawing/2014/main" id="{E2F5E9B0-9504-AD24-E250-4304BEF79075}"/>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209040" y="792480"/>
            <a:ext cx="9712960" cy="60655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484326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FACABF-28A5-F0B5-482E-E5C1AC1FD0D2}"/>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0E1F3FA9-96F5-54FB-D35B-E34E0D4C7B8B}"/>
              </a:ext>
            </a:extLst>
          </p:cNvPr>
          <p:cNvSpPr>
            <a:spLocks noGrp="1"/>
          </p:cNvSpPr>
          <p:nvPr>
            <p:ph idx="1"/>
          </p:nvPr>
        </p:nvSpPr>
        <p:spPr/>
        <p:txBody>
          <a:bodyPr/>
          <a:lstStyle/>
          <a:p>
            <a:pPr algn="l">
              <a:spcBef>
                <a:spcPts val="375"/>
              </a:spcBef>
              <a:spcAft>
                <a:spcPts val="1200"/>
              </a:spcAft>
            </a:pPr>
            <a:r>
              <a:rPr lang="en-US" b="0" i="0" dirty="0">
                <a:solidFill>
                  <a:srgbClr val="082C64"/>
                </a:solidFill>
                <a:effectLst/>
                <a:latin typeface="Fira Sans" panose="020B0503050000020004" pitchFamily="34" charset="0"/>
              </a:rPr>
              <a:t>Primary Data Collection Methods</a:t>
            </a:r>
          </a:p>
          <a:p>
            <a:pPr algn="l">
              <a:spcAft>
                <a:spcPts val="1950"/>
              </a:spcAft>
            </a:pPr>
            <a:r>
              <a:rPr lang="en-US" b="0" i="0" u="none" strike="noStrike" dirty="0">
                <a:solidFill>
                  <a:srgbClr val="1B87E6"/>
                </a:solidFill>
                <a:effectLst/>
                <a:latin typeface="Fira Sans" panose="020B0503050000020004" pitchFamily="34" charset="0"/>
                <a:hlinkClick r:id="rId2"/>
              </a:rPr>
              <a:t>Primary data</a:t>
            </a:r>
            <a:r>
              <a:rPr lang="en-US" b="0" i="0" dirty="0">
                <a:effectLst/>
                <a:latin typeface="Fira Sans" panose="020B0503050000020004" pitchFamily="34" charset="0"/>
              </a:rPr>
              <a:t> is collected from first-hand experience and is not used in the past. The data gathered by primary data collection methods are highly accurate and specific to the research’s motive.</a:t>
            </a:r>
          </a:p>
          <a:p>
            <a:pPr algn="l">
              <a:spcAft>
                <a:spcPts val="1950"/>
              </a:spcAft>
            </a:pPr>
            <a:r>
              <a:rPr lang="en-US" b="0" i="0" dirty="0">
                <a:effectLst/>
                <a:latin typeface="Fira Sans" panose="020B0503050000020004" pitchFamily="34" charset="0"/>
              </a:rPr>
              <a:t>Primary data collection methods can be divided into two categories: </a:t>
            </a:r>
            <a:r>
              <a:rPr lang="en-US" b="0" i="0" u="none" strike="noStrike" dirty="0">
                <a:solidFill>
                  <a:srgbClr val="1B87E6"/>
                </a:solidFill>
                <a:effectLst/>
                <a:latin typeface="Fira Sans" panose="020B0503050000020004" pitchFamily="34" charset="0"/>
                <a:hlinkClick r:id="rId3"/>
              </a:rPr>
              <a:t>quantitative </a:t>
            </a:r>
            <a:r>
              <a:rPr lang="en-US" b="0" i="0" dirty="0">
                <a:effectLst/>
                <a:latin typeface="Fira Sans" panose="020B0503050000020004" pitchFamily="34" charset="0"/>
              </a:rPr>
              <a:t>and qualitative.</a:t>
            </a:r>
          </a:p>
          <a:p>
            <a:endParaRPr lang="en-IN" dirty="0"/>
          </a:p>
        </p:txBody>
      </p:sp>
    </p:spTree>
    <p:extLst>
      <p:ext uri="{BB962C8B-B14F-4D97-AF65-F5344CB8AC3E}">
        <p14:creationId xmlns:p14="http://schemas.microsoft.com/office/powerpoint/2010/main" val="217141459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1C4108-623E-62C4-51B6-6C63B84385DA}"/>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F1C6AD7C-18B3-8E9D-AA56-CFF1D662B0D4}"/>
              </a:ext>
            </a:extLst>
          </p:cNvPr>
          <p:cNvSpPr>
            <a:spLocks noGrp="1"/>
          </p:cNvSpPr>
          <p:nvPr>
            <p:ph idx="1"/>
          </p:nvPr>
        </p:nvSpPr>
        <p:spPr/>
        <p:txBody>
          <a:bodyPr>
            <a:normAutofit fontScale="70000" lnSpcReduction="20000"/>
          </a:bodyPr>
          <a:lstStyle/>
          <a:p>
            <a:pPr algn="l">
              <a:spcBef>
                <a:spcPts val="375"/>
              </a:spcBef>
              <a:spcAft>
                <a:spcPts val="1200"/>
              </a:spcAft>
            </a:pPr>
            <a:r>
              <a:rPr lang="en-US" b="0" i="0" dirty="0">
                <a:solidFill>
                  <a:srgbClr val="082C64"/>
                </a:solidFill>
                <a:effectLst/>
                <a:latin typeface="Fira Sans" panose="020B0503050000020004" pitchFamily="34" charset="0"/>
              </a:rPr>
              <a:t>Secondary Data Collection Methods</a:t>
            </a:r>
          </a:p>
          <a:p>
            <a:pPr algn="l">
              <a:spcAft>
                <a:spcPts val="1950"/>
              </a:spcAft>
            </a:pPr>
            <a:r>
              <a:rPr lang="en-US" b="1" i="0" dirty="0">
                <a:effectLst/>
                <a:latin typeface="Fira Sans" panose="020B0503050000020004" pitchFamily="34" charset="0"/>
              </a:rPr>
              <a:t>Secondary data is data that has been used in the past.</a:t>
            </a:r>
            <a:r>
              <a:rPr lang="en-US" b="0" i="0" dirty="0">
                <a:effectLst/>
                <a:latin typeface="Fira Sans" panose="020B0503050000020004" pitchFamily="34" charset="0"/>
              </a:rPr>
              <a:t> The researcher can obtain data from the </a:t>
            </a:r>
            <a:r>
              <a:rPr lang="en-US" b="0" i="0" u="none" strike="noStrike" dirty="0">
                <a:solidFill>
                  <a:srgbClr val="1B87E6"/>
                </a:solidFill>
                <a:effectLst/>
                <a:latin typeface="Fira Sans" panose="020B0503050000020004" pitchFamily="34" charset="0"/>
                <a:hlinkClick r:id="rId2"/>
              </a:rPr>
              <a:t>data sources</a:t>
            </a:r>
            <a:r>
              <a:rPr lang="en-US" b="0" i="0" dirty="0">
                <a:effectLst/>
                <a:latin typeface="Fira Sans" panose="020B0503050000020004" pitchFamily="34" charset="0"/>
              </a:rPr>
              <a:t>, both internal and external, to the </a:t>
            </a:r>
            <a:r>
              <a:rPr lang="en-US" b="0" i="0" u="none" strike="noStrike" dirty="0">
                <a:solidFill>
                  <a:srgbClr val="1B87E6"/>
                </a:solidFill>
                <a:effectLst/>
                <a:latin typeface="Fira Sans" panose="020B0503050000020004" pitchFamily="34" charset="0"/>
                <a:hlinkClick r:id="rId3"/>
              </a:rPr>
              <a:t>organizational data</a:t>
            </a:r>
            <a:r>
              <a:rPr lang="en-US" b="0" i="0" dirty="0">
                <a:effectLst/>
                <a:latin typeface="Fira Sans" panose="020B0503050000020004" pitchFamily="34" charset="0"/>
              </a:rPr>
              <a:t>. </a:t>
            </a:r>
          </a:p>
          <a:p>
            <a:pPr algn="l">
              <a:spcAft>
                <a:spcPts val="1950"/>
              </a:spcAft>
            </a:pPr>
            <a:r>
              <a:rPr lang="en-US" b="0" i="0" dirty="0">
                <a:effectLst/>
                <a:latin typeface="Fira Sans" panose="020B0503050000020004" pitchFamily="34" charset="0"/>
              </a:rPr>
              <a:t>Internal sources of secondary data:</a:t>
            </a:r>
          </a:p>
          <a:p>
            <a:pPr algn="l">
              <a:buFont typeface="Arial" panose="020B0604020202020204" pitchFamily="34" charset="0"/>
              <a:buChar char="•"/>
            </a:pPr>
            <a:r>
              <a:rPr lang="en-US" b="0" i="0" dirty="0">
                <a:effectLst/>
                <a:latin typeface="Fira Sans" panose="020B0503050000020004" pitchFamily="34" charset="0"/>
              </a:rPr>
              <a:t>Organization’s health and safety records</a:t>
            </a:r>
          </a:p>
          <a:p>
            <a:pPr algn="l">
              <a:buFont typeface="Arial" panose="020B0604020202020204" pitchFamily="34" charset="0"/>
              <a:buChar char="•"/>
            </a:pPr>
            <a:r>
              <a:rPr lang="en-US" b="0" i="0" dirty="0">
                <a:effectLst/>
                <a:latin typeface="Fira Sans" panose="020B0503050000020004" pitchFamily="34" charset="0"/>
              </a:rPr>
              <a:t>Mission and vision statements</a:t>
            </a:r>
          </a:p>
          <a:p>
            <a:pPr algn="l">
              <a:buFont typeface="Arial" panose="020B0604020202020204" pitchFamily="34" charset="0"/>
              <a:buChar char="•"/>
            </a:pPr>
            <a:r>
              <a:rPr lang="en-US" b="0" i="0" dirty="0">
                <a:effectLst/>
                <a:latin typeface="Fira Sans" panose="020B0503050000020004" pitchFamily="34" charset="0"/>
              </a:rPr>
              <a:t>Financial Statements</a:t>
            </a:r>
          </a:p>
          <a:p>
            <a:pPr algn="l">
              <a:buFont typeface="Arial" panose="020B0604020202020204" pitchFamily="34" charset="0"/>
              <a:buChar char="•"/>
            </a:pPr>
            <a:r>
              <a:rPr lang="en-US" b="0" i="0" dirty="0">
                <a:effectLst/>
                <a:latin typeface="Fira Sans" panose="020B0503050000020004" pitchFamily="34" charset="0"/>
              </a:rPr>
              <a:t>Magazines</a:t>
            </a:r>
          </a:p>
          <a:p>
            <a:pPr algn="l">
              <a:buFont typeface="Arial" panose="020B0604020202020204" pitchFamily="34" charset="0"/>
              <a:buChar char="•"/>
            </a:pPr>
            <a:r>
              <a:rPr lang="en-US" b="0" i="0" dirty="0">
                <a:effectLst/>
                <a:latin typeface="Fira Sans" panose="020B0503050000020004" pitchFamily="34" charset="0"/>
              </a:rPr>
              <a:t>Sales Report</a:t>
            </a:r>
          </a:p>
          <a:p>
            <a:pPr algn="l">
              <a:buFont typeface="Arial" panose="020B0604020202020204" pitchFamily="34" charset="0"/>
              <a:buChar char="•"/>
            </a:pPr>
            <a:r>
              <a:rPr lang="en-US" b="0" i="0" dirty="0">
                <a:effectLst/>
                <a:latin typeface="Fira Sans" panose="020B0503050000020004" pitchFamily="34" charset="0"/>
              </a:rPr>
              <a:t>CRM Software</a:t>
            </a:r>
          </a:p>
          <a:p>
            <a:pPr algn="l">
              <a:buFont typeface="Arial" panose="020B0604020202020204" pitchFamily="34" charset="0"/>
              <a:buChar char="•"/>
            </a:pPr>
            <a:r>
              <a:rPr lang="en-US" b="0" i="0" dirty="0">
                <a:effectLst/>
                <a:latin typeface="Fira Sans" panose="020B0503050000020004" pitchFamily="34" charset="0"/>
              </a:rPr>
              <a:t>Executive summaries</a:t>
            </a:r>
          </a:p>
          <a:p>
            <a:endParaRPr lang="en-IN" dirty="0"/>
          </a:p>
        </p:txBody>
      </p:sp>
    </p:spTree>
    <p:extLst>
      <p:ext uri="{BB962C8B-B14F-4D97-AF65-F5344CB8AC3E}">
        <p14:creationId xmlns:p14="http://schemas.microsoft.com/office/powerpoint/2010/main" val="343884225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F7770B-1DEB-891C-C4D8-EFB68D78D48E}"/>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0778A0AB-4277-D488-2562-C41CB83818B3}"/>
              </a:ext>
            </a:extLst>
          </p:cNvPr>
          <p:cNvSpPr>
            <a:spLocks noGrp="1"/>
          </p:cNvSpPr>
          <p:nvPr>
            <p:ph idx="1"/>
          </p:nvPr>
        </p:nvSpPr>
        <p:spPr/>
        <p:txBody>
          <a:bodyPr/>
          <a:lstStyle/>
          <a:p>
            <a:r>
              <a:rPr lang="en-IN" b="1" dirty="0"/>
              <a:t>https://www.questionpro.com/blog/data-collection-methods/</a:t>
            </a:r>
          </a:p>
        </p:txBody>
      </p:sp>
    </p:spTree>
    <p:extLst>
      <p:ext uri="{BB962C8B-B14F-4D97-AF65-F5344CB8AC3E}">
        <p14:creationId xmlns:p14="http://schemas.microsoft.com/office/powerpoint/2010/main" val="151871823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977A2B-61FC-1F87-C9E1-BD1B64463FE1}"/>
              </a:ext>
            </a:extLst>
          </p:cNvPr>
          <p:cNvSpPr>
            <a:spLocks noGrp="1"/>
          </p:cNvSpPr>
          <p:nvPr>
            <p:ph type="title"/>
          </p:nvPr>
        </p:nvSpPr>
        <p:spPr/>
        <p:txBody>
          <a:bodyPr/>
          <a:lstStyle/>
          <a:p>
            <a:r>
              <a:rPr lang="en-US" dirty="0">
                <a:latin typeface="Verdana" panose="020B0604030504040204" pitchFamily="34" charset="0"/>
              </a:rPr>
              <a:t>B</a:t>
            </a:r>
            <a:r>
              <a:rPr lang="en-US" sz="4400" b="0" i="0" u="none" strike="noStrike" baseline="0" dirty="0">
                <a:latin typeface="Verdana" panose="020B0604030504040204" pitchFamily="34" charset="0"/>
              </a:rPr>
              <a:t>asics of data cleaning and transformation</a:t>
            </a:r>
            <a:endParaRPr lang="en-IN" dirty="0"/>
          </a:p>
        </p:txBody>
      </p:sp>
      <p:sp>
        <p:nvSpPr>
          <p:cNvPr id="3" name="Content Placeholder 2">
            <a:extLst>
              <a:ext uri="{FF2B5EF4-FFF2-40B4-BE49-F238E27FC236}">
                <a16:creationId xmlns:a16="http://schemas.microsoft.com/office/drawing/2014/main" id="{18E21581-EFFB-1B77-4990-C95EFBF62124}"/>
              </a:ext>
            </a:extLst>
          </p:cNvPr>
          <p:cNvSpPr>
            <a:spLocks noGrp="1"/>
          </p:cNvSpPr>
          <p:nvPr>
            <p:ph idx="1"/>
          </p:nvPr>
        </p:nvSpPr>
        <p:spPr/>
        <p:txBody>
          <a:bodyPr/>
          <a:lstStyle/>
          <a:p>
            <a:pPr marL="0" indent="0">
              <a:buNone/>
            </a:pPr>
            <a:r>
              <a:rPr lang="en-US" b="0" i="0" dirty="0">
                <a:solidFill>
                  <a:srgbClr val="001D35"/>
                </a:solidFill>
                <a:effectLst/>
                <a:latin typeface="Google Sans"/>
              </a:rPr>
              <a:t>Data cleaning and transformation are essential steps in preparing data for analysis and decision-making. </a:t>
            </a:r>
          </a:p>
          <a:p>
            <a:pPr marL="0" indent="0">
              <a:buNone/>
            </a:pPr>
            <a:r>
              <a:rPr lang="en-US" b="0" i="0" dirty="0">
                <a:solidFill>
                  <a:srgbClr val="001D35"/>
                </a:solidFill>
                <a:effectLst/>
                <a:latin typeface="Google Sans"/>
              </a:rPr>
              <a:t>Data cleaning involves identifying and fixing errors, while data transformation converts data into a more suitable format.</a:t>
            </a:r>
          </a:p>
          <a:p>
            <a:pPr marL="0" indent="0">
              <a:buNone/>
            </a:pPr>
            <a:endParaRPr lang="en-US" b="0" i="0" dirty="0">
              <a:solidFill>
                <a:srgbClr val="001D35"/>
              </a:solidFill>
              <a:effectLst/>
              <a:latin typeface="Google Sans"/>
            </a:endParaRPr>
          </a:p>
          <a:p>
            <a:endParaRPr lang="en-IN" dirty="0"/>
          </a:p>
        </p:txBody>
      </p:sp>
    </p:spTree>
    <p:extLst>
      <p:ext uri="{BB962C8B-B14F-4D97-AF65-F5344CB8AC3E}">
        <p14:creationId xmlns:p14="http://schemas.microsoft.com/office/powerpoint/2010/main" val="92276845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0CC057-6AB4-7965-2E5B-FFB272C5DA79}"/>
              </a:ext>
            </a:extLst>
          </p:cNvPr>
          <p:cNvSpPr>
            <a:spLocks noGrp="1"/>
          </p:cNvSpPr>
          <p:nvPr>
            <p:ph type="title"/>
          </p:nvPr>
        </p:nvSpPr>
        <p:spPr/>
        <p:txBody>
          <a:bodyPr/>
          <a:lstStyle/>
          <a:p>
            <a:endParaRPr lang="en-IN"/>
          </a:p>
        </p:txBody>
      </p:sp>
      <p:pic>
        <p:nvPicPr>
          <p:cNvPr id="9218" name="Picture 2" descr="Difference between Data Cleaning and Data Processing - GeeksforGeeks">
            <a:extLst>
              <a:ext uri="{FF2B5EF4-FFF2-40B4-BE49-F238E27FC236}">
                <a16:creationId xmlns:a16="http://schemas.microsoft.com/office/drawing/2014/main" id="{E452AAB4-66CC-F5B8-9A15-23B3ECF7F1B5}"/>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828800" y="1825625"/>
            <a:ext cx="8260080" cy="4351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4234827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descr="Data Cleansing vs. Data Transformation | Coupler.io Blog">
            <a:extLst>
              <a:ext uri="{FF2B5EF4-FFF2-40B4-BE49-F238E27FC236}">
                <a16:creationId xmlns:a16="http://schemas.microsoft.com/office/drawing/2014/main" id="{47E294C4-A172-F15B-F024-C498D2A268C6}"/>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772708" y="609600"/>
            <a:ext cx="9108652" cy="55165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3728383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6EF104-8778-B52A-FD26-BCE30E69CE4E}"/>
              </a:ext>
            </a:extLst>
          </p:cNvPr>
          <p:cNvSpPr>
            <a:spLocks noGrp="1"/>
          </p:cNvSpPr>
          <p:nvPr>
            <p:ph type="title"/>
          </p:nvPr>
        </p:nvSpPr>
        <p:spPr/>
        <p:txBody>
          <a:bodyPr/>
          <a:lstStyle/>
          <a:p>
            <a:endParaRPr lang="en-IN"/>
          </a:p>
        </p:txBody>
      </p:sp>
      <p:pic>
        <p:nvPicPr>
          <p:cNvPr id="11266" name="Picture 2" descr="Data Cleansing vs. Data Transformation | Coupler.io Blog">
            <a:extLst>
              <a:ext uri="{FF2B5EF4-FFF2-40B4-BE49-F238E27FC236}">
                <a16:creationId xmlns:a16="http://schemas.microsoft.com/office/drawing/2014/main" id="{C3CAC3C5-5B5E-C49F-1F83-C9F8AE2222FD}"/>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072640" y="1825625"/>
            <a:ext cx="7691120" cy="4351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104072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73EF55-42C1-7319-5E6E-41258B973422}"/>
              </a:ext>
            </a:extLst>
          </p:cNvPr>
          <p:cNvSpPr>
            <a:spLocks noGrp="1"/>
          </p:cNvSpPr>
          <p:nvPr>
            <p:ph type="title"/>
          </p:nvPr>
        </p:nvSpPr>
        <p:spPr/>
        <p:txBody>
          <a:bodyPr/>
          <a:lstStyle/>
          <a:p>
            <a:endParaRPr lang="en-IN"/>
          </a:p>
        </p:txBody>
      </p:sp>
      <p:pic>
        <p:nvPicPr>
          <p:cNvPr id="12290" name="Picture 2" descr="The importance of cleaning, selecting and transforming data – Cleverdata">
            <a:extLst>
              <a:ext uri="{FF2B5EF4-FFF2-40B4-BE49-F238E27FC236}">
                <a16:creationId xmlns:a16="http://schemas.microsoft.com/office/drawing/2014/main" id="{61B2DBB9-FD7C-E930-46C2-B957E381E2BE}"/>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950720" y="1513840"/>
            <a:ext cx="9489439" cy="44907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1288405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4" name="Picture 2" descr="Data Preprocessing in Data Mining - GeeksforGeeks">
            <a:extLst>
              <a:ext uri="{FF2B5EF4-FFF2-40B4-BE49-F238E27FC236}">
                <a16:creationId xmlns:a16="http://schemas.microsoft.com/office/drawing/2014/main" id="{DEED7113-B666-61F2-CBA5-3A8262F822A7}"/>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686560" y="314961"/>
            <a:ext cx="8077200" cy="55730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7921345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E87871-E0FD-9791-EA0B-BF88A91203C5}"/>
              </a:ext>
            </a:extLst>
          </p:cNvPr>
          <p:cNvSpPr>
            <a:spLocks noGrp="1"/>
          </p:cNvSpPr>
          <p:nvPr>
            <p:ph type="title"/>
          </p:nvPr>
        </p:nvSpPr>
        <p:spPr/>
        <p:txBody>
          <a:bodyPr/>
          <a:lstStyle/>
          <a:p>
            <a:r>
              <a:rPr lang="en-US" sz="4400" b="0" i="0" u="none" strike="noStrike" baseline="0" dirty="0">
                <a:latin typeface="Verdana" panose="020B0604030504040204" pitchFamily="34" charset="0"/>
              </a:rPr>
              <a:t>Introduction to data analytics</a:t>
            </a:r>
            <a:endParaRPr lang="en-IN" dirty="0"/>
          </a:p>
        </p:txBody>
      </p:sp>
      <p:pic>
        <p:nvPicPr>
          <p:cNvPr id="14338" name="Picture 2" descr="What is Data Analytics? A Complete Guide for Beginners">
            <a:extLst>
              <a:ext uri="{FF2B5EF4-FFF2-40B4-BE49-F238E27FC236}">
                <a16:creationId xmlns:a16="http://schemas.microsoft.com/office/drawing/2014/main" id="{B776363D-AEA1-C1B0-FDB3-02483C7D3151}"/>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065551" y="1825625"/>
            <a:ext cx="10060897" cy="4351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8354389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22CF02-40D6-9F89-2592-5459E43B10C3}"/>
              </a:ext>
            </a:extLst>
          </p:cNvPr>
          <p:cNvSpPr>
            <a:spLocks noGrp="1"/>
          </p:cNvSpPr>
          <p:nvPr>
            <p:ph type="title"/>
          </p:nvPr>
        </p:nvSpPr>
        <p:spPr/>
        <p:txBody>
          <a:bodyPr/>
          <a:lstStyle/>
          <a:p>
            <a:endParaRPr lang="en-IN"/>
          </a:p>
        </p:txBody>
      </p:sp>
      <p:pic>
        <p:nvPicPr>
          <p:cNvPr id="15362" name="Picture 2" descr="What is Data Analytics? A Complete Guide for Beginners">
            <a:extLst>
              <a:ext uri="{FF2B5EF4-FFF2-40B4-BE49-F238E27FC236}">
                <a16:creationId xmlns:a16="http://schemas.microsoft.com/office/drawing/2014/main" id="{0EEAC18C-C004-F345-DC07-21FFB259FF6C}"/>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38200" y="2248694"/>
            <a:ext cx="10515600" cy="3505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6964502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CAA852-1449-01DD-D099-A636EB79F6C8}"/>
              </a:ext>
            </a:extLst>
          </p:cNvPr>
          <p:cNvSpPr>
            <a:spLocks noGrp="1"/>
          </p:cNvSpPr>
          <p:nvPr>
            <p:ph type="title"/>
          </p:nvPr>
        </p:nvSpPr>
        <p:spPr/>
        <p:txBody>
          <a:bodyPr/>
          <a:lstStyle/>
          <a:p>
            <a:endParaRPr lang="en-IN"/>
          </a:p>
        </p:txBody>
      </p:sp>
      <p:pic>
        <p:nvPicPr>
          <p:cNvPr id="16386" name="Picture 2" descr="Six Steps of Data Analysis Process - GeeksforGeeks">
            <a:extLst>
              <a:ext uri="{FF2B5EF4-FFF2-40B4-BE49-F238E27FC236}">
                <a16:creationId xmlns:a16="http://schemas.microsoft.com/office/drawing/2014/main" id="{929BE564-F682-9639-E611-47426F6B4280}"/>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209040" y="1930400"/>
            <a:ext cx="9235439" cy="36779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0748590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C45028-1322-F816-EF8A-0B076BE0B7DB}"/>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F433F69D-5078-D826-AE97-F9B78D751DA7}"/>
              </a:ext>
            </a:extLst>
          </p:cNvPr>
          <p:cNvSpPr>
            <a:spLocks noGrp="1"/>
          </p:cNvSpPr>
          <p:nvPr>
            <p:ph idx="1"/>
          </p:nvPr>
        </p:nvSpPr>
        <p:spPr/>
        <p:txBody>
          <a:bodyPr/>
          <a:lstStyle/>
          <a:p>
            <a:pPr marL="0" indent="0">
              <a:buNone/>
            </a:pPr>
            <a:r>
              <a:rPr lang="en-US" b="0" i="0" dirty="0">
                <a:solidFill>
                  <a:srgbClr val="626A70"/>
                </a:solidFill>
                <a:effectLst/>
                <a:latin typeface="TradeGothic"/>
              </a:rPr>
              <a:t>Most companies are collecting loads of data all the time—but, in its raw form, this data doesn’t really mean anything. </a:t>
            </a:r>
          </a:p>
          <a:p>
            <a:pPr marL="0" indent="0">
              <a:buNone/>
            </a:pPr>
            <a:r>
              <a:rPr lang="en-US" b="0" i="0" dirty="0">
                <a:solidFill>
                  <a:srgbClr val="626A70"/>
                </a:solidFill>
                <a:effectLst/>
                <a:latin typeface="TradeGothic"/>
              </a:rPr>
              <a:t>This is where data analytics comes in. Data analytics is </a:t>
            </a:r>
            <a:r>
              <a:rPr lang="en-US" b="1" i="0" dirty="0">
                <a:solidFill>
                  <a:srgbClr val="626A70"/>
                </a:solidFill>
                <a:effectLst/>
                <a:latin typeface="TradeGothic"/>
              </a:rPr>
              <a:t>the process of analyzing raw data in order to draw out meaningful, actionable insights</a:t>
            </a:r>
            <a:r>
              <a:rPr lang="en-US" b="0" i="0" dirty="0">
                <a:solidFill>
                  <a:srgbClr val="626A70"/>
                </a:solidFill>
                <a:effectLst/>
                <a:latin typeface="TradeGothic"/>
              </a:rPr>
              <a:t>, which are then used to inform and drive smart business decisions.</a:t>
            </a:r>
            <a:endParaRPr lang="en-IN" dirty="0"/>
          </a:p>
        </p:txBody>
      </p:sp>
    </p:spTree>
    <p:extLst>
      <p:ext uri="{BB962C8B-B14F-4D97-AF65-F5344CB8AC3E}">
        <p14:creationId xmlns:p14="http://schemas.microsoft.com/office/powerpoint/2010/main" val="416273333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342609-AE04-BAD5-FC74-49864340F3BE}"/>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A4E0F447-DF6F-0CA4-2F26-E00E2DE83110}"/>
              </a:ext>
            </a:extLst>
          </p:cNvPr>
          <p:cNvSpPr>
            <a:spLocks noGrp="1"/>
          </p:cNvSpPr>
          <p:nvPr>
            <p:ph idx="1"/>
          </p:nvPr>
        </p:nvSpPr>
        <p:spPr/>
        <p:txBody>
          <a:bodyPr/>
          <a:lstStyle/>
          <a:p>
            <a:pPr marL="0" indent="0">
              <a:buNone/>
            </a:pPr>
            <a:r>
              <a:rPr lang="en-US" b="0" i="0" dirty="0">
                <a:solidFill>
                  <a:srgbClr val="626A70"/>
                </a:solidFill>
                <a:effectLst/>
                <a:latin typeface="TradeGothic"/>
              </a:rPr>
              <a:t>A data analyst will extract raw data, organize it, and then analyze it, transforming it from incomprehensible numbers into coherent, intelligible information. Having interpreted the data, the data analyst will then pass on their findings in the form of suggestions or recommendations about what the company’s next steps should be.</a:t>
            </a:r>
            <a:endParaRPr lang="en-IN" dirty="0"/>
          </a:p>
        </p:txBody>
      </p:sp>
    </p:spTree>
    <p:extLst>
      <p:ext uri="{BB962C8B-B14F-4D97-AF65-F5344CB8AC3E}">
        <p14:creationId xmlns:p14="http://schemas.microsoft.com/office/powerpoint/2010/main" val="263234684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E17A8-C0FD-38C6-A4DA-86E5D471ACEA}"/>
              </a:ext>
            </a:extLst>
          </p:cNvPr>
          <p:cNvSpPr>
            <a:spLocks noGrp="1"/>
          </p:cNvSpPr>
          <p:nvPr>
            <p:ph type="title"/>
          </p:nvPr>
        </p:nvSpPr>
        <p:spPr/>
        <p:txBody>
          <a:bodyPr/>
          <a:lstStyle/>
          <a:p>
            <a:r>
              <a:rPr lang="en-US" b="1" i="0" dirty="0">
                <a:solidFill>
                  <a:srgbClr val="273239"/>
                </a:solidFill>
                <a:effectLst/>
                <a:latin typeface="Nunito" pitchFamily="2" charset="0"/>
              </a:rPr>
              <a:t>Types of Data Analytics</a:t>
            </a:r>
            <a:br>
              <a:rPr lang="en-US" b="1" i="0" dirty="0">
                <a:solidFill>
                  <a:srgbClr val="273239"/>
                </a:solidFill>
                <a:effectLst/>
                <a:latin typeface="Nunito" pitchFamily="2" charset="0"/>
              </a:rPr>
            </a:br>
            <a:endParaRPr lang="en-IN" dirty="0"/>
          </a:p>
        </p:txBody>
      </p:sp>
      <p:sp>
        <p:nvSpPr>
          <p:cNvPr id="3" name="Content Placeholder 2">
            <a:extLst>
              <a:ext uri="{FF2B5EF4-FFF2-40B4-BE49-F238E27FC236}">
                <a16:creationId xmlns:a16="http://schemas.microsoft.com/office/drawing/2014/main" id="{72E12709-139A-0300-4E99-C322B4FF36B8}"/>
              </a:ext>
            </a:extLst>
          </p:cNvPr>
          <p:cNvSpPr>
            <a:spLocks noGrp="1"/>
          </p:cNvSpPr>
          <p:nvPr>
            <p:ph idx="1"/>
          </p:nvPr>
        </p:nvSpPr>
        <p:spPr/>
        <p:txBody>
          <a:bodyPr/>
          <a:lstStyle/>
          <a:p>
            <a:pPr algn="l" rtl="0" fontAlgn="base">
              <a:spcAft>
                <a:spcPts val="750"/>
              </a:spcAft>
            </a:pPr>
            <a:r>
              <a:rPr lang="en-US" b="0" i="0" dirty="0">
                <a:solidFill>
                  <a:srgbClr val="273239"/>
                </a:solidFill>
                <a:effectLst/>
                <a:latin typeface="Nunito" pitchFamily="2" charset="0"/>
              </a:rPr>
              <a:t>There are four major types of data analytics:</a:t>
            </a:r>
          </a:p>
          <a:p>
            <a:pPr algn="l" fontAlgn="base">
              <a:spcAft>
                <a:spcPts val="1800"/>
              </a:spcAft>
              <a:buFont typeface="+mj-lt"/>
              <a:buAutoNum type="arabicPeriod"/>
            </a:pPr>
            <a:r>
              <a:rPr lang="en-US" b="1" i="0" dirty="0">
                <a:solidFill>
                  <a:srgbClr val="273239"/>
                </a:solidFill>
                <a:effectLst/>
                <a:latin typeface="Nunito" pitchFamily="2" charset="0"/>
              </a:rPr>
              <a:t>Predictive (forecasting)</a:t>
            </a:r>
            <a:endParaRPr lang="en-US" b="0" i="0" dirty="0">
              <a:solidFill>
                <a:srgbClr val="273239"/>
              </a:solidFill>
              <a:effectLst/>
              <a:latin typeface="Nunito" pitchFamily="2" charset="0"/>
            </a:endParaRPr>
          </a:p>
          <a:p>
            <a:pPr algn="l" fontAlgn="base">
              <a:spcAft>
                <a:spcPts val="1800"/>
              </a:spcAft>
              <a:buFont typeface="+mj-lt"/>
              <a:buAutoNum type="arabicPeriod" startAt="2"/>
            </a:pPr>
            <a:r>
              <a:rPr lang="en-US" b="1" i="0" dirty="0">
                <a:solidFill>
                  <a:srgbClr val="273239"/>
                </a:solidFill>
                <a:effectLst/>
                <a:latin typeface="Nunito" pitchFamily="2" charset="0"/>
              </a:rPr>
              <a:t>Descriptive (business intelligence and data mining)</a:t>
            </a:r>
            <a:endParaRPr lang="en-US" b="0" i="0" dirty="0">
              <a:solidFill>
                <a:srgbClr val="273239"/>
              </a:solidFill>
              <a:effectLst/>
              <a:latin typeface="Nunito" pitchFamily="2" charset="0"/>
            </a:endParaRPr>
          </a:p>
          <a:p>
            <a:pPr algn="l" fontAlgn="base">
              <a:spcAft>
                <a:spcPts val="1800"/>
              </a:spcAft>
              <a:buFont typeface="+mj-lt"/>
              <a:buAutoNum type="arabicPeriod" startAt="3"/>
            </a:pPr>
            <a:r>
              <a:rPr lang="en-US" b="1" i="0" dirty="0">
                <a:solidFill>
                  <a:srgbClr val="273239"/>
                </a:solidFill>
                <a:effectLst/>
                <a:latin typeface="Nunito" pitchFamily="2" charset="0"/>
              </a:rPr>
              <a:t>Prescriptive (optimization and simulation)</a:t>
            </a:r>
            <a:endParaRPr lang="en-US" b="0" i="0" dirty="0">
              <a:solidFill>
                <a:srgbClr val="273239"/>
              </a:solidFill>
              <a:effectLst/>
              <a:latin typeface="Nunito" pitchFamily="2" charset="0"/>
            </a:endParaRPr>
          </a:p>
          <a:p>
            <a:pPr algn="l" fontAlgn="base">
              <a:spcAft>
                <a:spcPts val="1800"/>
              </a:spcAft>
              <a:buFont typeface="+mj-lt"/>
              <a:buAutoNum type="arabicPeriod" startAt="4"/>
            </a:pPr>
            <a:r>
              <a:rPr lang="en-US" b="1" i="0" dirty="0">
                <a:solidFill>
                  <a:srgbClr val="273239"/>
                </a:solidFill>
                <a:effectLst/>
                <a:latin typeface="Nunito" pitchFamily="2" charset="0"/>
              </a:rPr>
              <a:t>Diagnostic analytics</a:t>
            </a:r>
            <a:endParaRPr lang="en-US" b="0" i="0" dirty="0">
              <a:solidFill>
                <a:srgbClr val="273239"/>
              </a:solidFill>
              <a:effectLst/>
              <a:latin typeface="Nunito" pitchFamily="2" charset="0"/>
            </a:endParaRPr>
          </a:p>
          <a:p>
            <a:endParaRPr lang="en-IN" dirty="0"/>
          </a:p>
        </p:txBody>
      </p:sp>
    </p:spTree>
    <p:extLst>
      <p:ext uri="{BB962C8B-B14F-4D97-AF65-F5344CB8AC3E}">
        <p14:creationId xmlns:p14="http://schemas.microsoft.com/office/powerpoint/2010/main" val="164066680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38A8B-DAAA-8938-6BA3-C5DA380A0073}"/>
              </a:ext>
            </a:extLst>
          </p:cNvPr>
          <p:cNvSpPr>
            <a:spLocks noGrp="1"/>
          </p:cNvSpPr>
          <p:nvPr>
            <p:ph type="title"/>
          </p:nvPr>
        </p:nvSpPr>
        <p:spPr/>
        <p:txBody>
          <a:bodyPr>
            <a:noAutofit/>
          </a:bodyPr>
          <a:lstStyle/>
          <a:p>
            <a:r>
              <a:rPr lang="en-US" sz="2800" dirty="0"/>
              <a:t>Data analytics has many real-life applications across various industries, driving decisions and efficiencies. Here are some key examples:</a:t>
            </a:r>
            <a:br>
              <a:rPr lang="en-US" sz="2800" dirty="0"/>
            </a:br>
            <a:endParaRPr lang="en-IN" sz="2800" dirty="0"/>
          </a:p>
        </p:txBody>
      </p:sp>
      <p:sp>
        <p:nvSpPr>
          <p:cNvPr id="3" name="Content Placeholder 2">
            <a:extLst>
              <a:ext uri="{FF2B5EF4-FFF2-40B4-BE49-F238E27FC236}">
                <a16:creationId xmlns:a16="http://schemas.microsoft.com/office/drawing/2014/main" id="{D51E71D6-05E9-CD5A-34D6-31023A425F7F}"/>
              </a:ext>
            </a:extLst>
          </p:cNvPr>
          <p:cNvSpPr>
            <a:spLocks noGrp="1"/>
          </p:cNvSpPr>
          <p:nvPr>
            <p:ph idx="1"/>
          </p:nvPr>
        </p:nvSpPr>
        <p:spPr/>
        <p:txBody>
          <a:bodyPr>
            <a:normAutofit fontScale="77500" lnSpcReduction="20000"/>
          </a:bodyPr>
          <a:lstStyle/>
          <a:p>
            <a:pPr>
              <a:buFont typeface="+mj-lt"/>
              <a:buAutoNum type="arabicPeriod"/>
            </a:pPr>
            <a:r>
              <a:rPr lang="en-US" b="1" dirty="0"/>
              <a:t>Healthcare</a:t>
            </a:r>
            <a:r>
              <a:rPr lang="en-US" dirty="0"/>
              <a:t>: Data analytics is used to predict disease outbreaks, personalize patient treatment, and manage hospital resources. For instance, predictive analytics helps identify patients at risk of certain conditions, enabling preventive care.</a:t>
            </a:r>
          </a:p>
          <a:p>
            <a:pPr>
              <a:buFont typeface="+mj-lt"/>
              <a:buAutoNum type="arabicPeriod"/>
            </a:pPr>
            <a:r>
              <a:rPr lang="en-US" b="1" dirty="0"/>
              <a:t>Retail and E-commerce</a:t>
            </a:r>
            <a:r>
              <a:rPr lang="en-US" dirty="0"/>
              <a:t>: Retailers use analytics to personalize customer experiences, forecast demand, manage inventory, and optimize pricing strategies. Amazon and Netflix, for example, recommend products and content based on user behavior analysis.</a:t>
            </a:r>
          </a:p>
          <a:p>
            <a:pPr>
              <a:buFont typeface="+mj-lt"/>
              <a:buAutoNum type="arabicPeriod"/>
            </a:pPr>
            <a:r>
              <a:rPr lang="en-US" b="1" dirty="0"/>
              <a:t>Finance and Banking</a:t>
            </a:r>
            <a:r>
              <a:rPr lang="en-US" dirty="0"/>
              <a:t>: Financial institutions use data analytics to detect fraudulent transactions, assess credit risks, and enhance customer service. Fraud detection algorithms analyze transaction patterns in real-time, identifying unusual activity.</a:t>
            </a:r>
          </a:p>
          <a:p>
            <a:pPr>
              <a:buFont typeface="+mj-lt"/>
              <a:buAutoNum type="arabicPeriod"/>
            </a:pPr>
            <a:r>
              <a:rPr lang="en-US" b="1" dirty="0"/>
              <a:t>Transportation and Logistics</a:t>
            </a:r>
            <a:r>
              <a:rPr lang="en-US" dirty="0"/>
              <a:t>: Companies like UPS and FedEx optimize routes using data analytics to reduce delivery times and fuel consumption. Ride-sharing services like Uber and Lyft use data to match drivers with riders efficiently.</a:t>
            </a:r>
          </a:p>
          <a:p>
            <a:pPr>
              <a:buFont typeface="+mj-lt"/>
              <a:buAutoNum type="arabicPeriod"/>
            </a:pPr>
            <a:r>
              <a:rPr lang="en-US" b="1" dirty="0"/>
              <a:t>Sports</a:t>
            </a:r>
            <a:r>
              <a:rPr lang="en-US" dirty="0"/>
              <a:t>: In sports, data analytics improves team performance and player fitness. Coaches analyze players' stats, game strategies, and performance metrics. Teams in the NFL, NBA, and other leagues use analytics to gain a competitive edge.</a:t>
            </a:r>
          </a:p>
          <a:p>
            <a:endParaRPr lang="en-IN" dirty="0"/>
          </a:p>
        </p:txBody>
      </p:sp>
    </p:spTree>
    <p:extLst>
      <p:ext uri="{BB962C8B-B14F-4D97-AF65-F5344CB8AC3E}">
        <p14:creationId xmlns:p14="http://schemas.microsoft.com/office/powerpoint/2010/main" val="24265520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B1E8F3-6DC7-8E45-B785-B424987906AB}"/>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D5EB6E60-8961-1196-EFC3-C2C5795E89BB}"/>
              </a:ext>
            </a:extLst>
          </p:cNvPr>
          <p:cNvSpPr>
            <a:spLocks noGrp="1"/>
          </p:cNvSpPr>
          <p:nvPr>
            <p:ph idx="1"/>
          </p:nvPr>
        </p:nvSpPr>
        <p:spPr/>
        <p:txBody>
          <a:bodyPr>
            <a:normAutofit fontScale="77500" lnSpcReduction="20000"/>
          </a:bodyPr>
          <a:lstStyle/>
          <a:p>
            <a:pPr>
              <a:buFont typeface="+mj-lt"/>
              <a:buAutoNum type="arabicPeriod"/>
            </a:pPr>
            <a:r>
              <a:rPr lang="en-US" b="1" dirty="0"/>
              <a:t>Energy and Utilities</a:t>
            </a:r>
            <a:r>
              <a:rPr lang="en-US" dirty="0"/>
              <a:t>: Energy companies use analytics to predict equipment failures, optimize resource usage, and reduce energy costs. Smart grids analyze consumption patterns, adjusting supply in real time to meet demand.</a:t>
            </a:r>
          </a:p>
          <a:p>
            <a:pPr>
              <a:buFont typeface="+mj-lt"/>
              <a:buAutoNum type="arabicPeriod"/>
            </a:pPr>
            <a:r>
              <a:rPr lang="en-US" b="1" dirty="0"/>
              <a:t>Education</a:t>
            </a:r>
            <a:r>
              <a:rPr lang="en-US" dirty="0"/>
              <a:t>: In education, data analytics identifies students at risk of dropping out, improves personalized learning experiences, and tracks academic progress. Schools use these insights to offer tailored support, enhancing student retention and outcomes.</a:t>
            </a:r>
          </a:p>
          <a:p>
            <a:pPr>
              <a:buFont typeface="+mj-lt"/>
              <a:buAutoNum type="arabicPeriod"/>
            </a:pPr>
            <a:r>
              <a:rPr lang="en-US" b="1" dirty="0"/>
              <a:t>Marketing and Advertising</a:t>
            </a:r>
            <a:r>
              <a:rPr lang="en-US" dirty="0"/>
              <a:t>: Marketers analyze consumer data to segment audiences, predict trends, and personalize ad campaigns. Data-driven insights help companies target the right audience and improve ad effectiveness.</a:t>
            </a:r>
          </a:p>
          <a:p>
            <a:pPr>
              <a:buFont typeface="+mj-lt"/>
              <a:buAutoNum type="arabicPeriod"/>
            </a:pPr>
            <a:r>
              <a:rPr lang="en-US" b="1" dirty="0"/>
              <a:t>Manufacturing</a:t>
            </a:r>
            <a:r>
              <a:rPr lang="en-US" dirty="0"/>
              <a:t>: In manufacturing, data analytics helps optimize production processes, manage supply chains, and predict equipment maintenance needs. Predictive maintenance reduces downtime and repair costs.</a:t>
            </a:r>
          </a:p>
          <a:p>
            <a:pPr>
              <a:buFont typeface="+mj-lt"/>
              <a:buAutoNum type="arabicPeriod"/>
            </a:pPr>
            <a:r>
              <a:rPr lang="en-US" b="1" dirty="0"/>
              <a:t>Public Safety and Law Enforcement</a:t>
            </a:r>
            <a:r>
              <a:rPr lang="en-US" dirty="0"/>
              <a:t>: Police departments use analytics to predict crime hotspots, enabling better resource allocation. For example, predictive policing helps law enforcement prevent crimes by analyzing historical crime data.</a:t>
            </a:r>
          </a:p>
          <a:p>
            <a:endParaRPr lang="en-IN" dirty="0"/>
          </a:p>
        </p:txBody>
      </p:sp>
    </p:spTree>
    <p:extLst>
      <p:ext uri="{BB962C8B-B14F-4D97-AF65-F5344CB8AC3E}">
        <p14:creationId xmlns:p14="http://schemas.microsoft.com/office/powerpoint/2010/main" val="325432659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E6DF5B-6314-71A2-7CFF-095362B65853}"/>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8465468B-7D1B-5824-306C-670BD3E5CD0E}"/>
              </a:ext>
            </a:extLst>
          </p:cNvPr>
          <p:cNvSpPr>
            <a:spLocks noGrp="1"/>
          </p:cNvSpPr>
          <p:nvPr>
            <p:ph idx="1"/>
          </p:nvPr>
        </p:nvSpPr>
        <p:spPr/>
        <p:txBody>
          <a:bodyPr>
            <a:normAutofit fontScale="70000" lnSpcReduction="20000"/>
          </a:bodyPr>
          <a:lstStyle/>
          <a:p>
            <a:r>
              <a:rPr lang="en-US" dirty="0"/>
              <a:t>Data analytics offers numerous benefits that help organizations make informed decisions, optimize processes, and improve outcomes. Here are some key benefits:</a:t>
            </a:r>
          </a:p>
          <a:p>
            <a:pPr>
              <a:buFont typeface="+mj-lt"/>
              <a:buAutoNum type="arabicPeriod"/>
            </a:pPr>
            <a:r>
              <a:rPr lang="en-US" b="1" dirty="0"/>
              <a:t>Informed Decision-Making</a:t>
            </a:r>
            <a:r>
              <a:rPr lang="en-US" dirty="0"/>
              <a:t>: Data analytics provides insights from historical and real-time data, enabling better decision-making based on evidence rather than assumptions.</a:t>
            </a:r>
          </a:p>
          <a:p>
            <a:pPr>
              <a:buFont typeface="+mj-lt"/>
              <a:buAutoNum type="arabicPeriod"/>
            </a:pPr>
            <a:r>
              <a:rPr lang="en-US" b="1" dirty="0"/>
              <a:t>Cost Savings</a:t>
            </a:r>
            <a:r>
              <a:rPr lang="en-US" dirty="0"/>
              <a:t>: Analytics helps organizations identify inefficiencies, reduce waste, and optimize resource allocation, leading to significant cost reductions, especially in operations and supply chain management.</a:t>
            </a:r>
          </a:p>
          <a:p>
            <a:pPr>
              <a:buFont typeface="+mj-lt"/>
              <a:buAutoNum type="arabicPeriod"/>
            </a:pPr>
            <a:r>
              <a:rPr lang="en-US" b="1" dirty="0"/>
              <a:t>Enhanced Customer Experience</a:t>
            </a:r>
            <a:r>
              <a:rPr lang="en-US" dirty="0"/>
              <a:t>: By understanding customer preferences and behavior, businesses can personalize experiences, improve customer satisfaction, and increase loyalty, ultimately driving sales and retention.</a:t>
            </a:r>
          </a:p>
          <a:p>
            <a:pPr>
              <a:buFont typeface="+mj-lt"/>
              <a:buAutoNum type="arabicPeriod"/>
            </a:pPr>
            <a:r>
              <a:rPr lang="en-US" b="1" dirty="0"/>
              <a:t>Operational Efficiency</a:t>
            </a:r>
            <a:r>
              <a:rPr lang="en-US" dirty="0"/>
              <a:t>: Analytics identifies process bottlenecks, optimizes workflows, and predicts equipment maintenance needs, increasing productivity and reducing downtime.</a:t>
            </a:r>
          </a:p>
          <a:p>
            <a:pPr>
              <a:buFont typeface="+mj-lt"/>
              <a:buAutoNum type="arabicPeriod"/>
            </a:pPr>
            <a:r>
              <a:rPr lang="en-US" b="1" dirty="0"/>
              <a:t>Risk Management</a:t>
            </a:r>
            <a:r>
              <a:rPr lang="en-US" dirty="0"/>
              <a:t>: In sectors like finance and healthcare, data analytics helps in assessing risks, detecting fraud, and making proactive decisions to minimize potential losses.</a:t>
            </a:r>
          </a:p>
          <a:p>
            <a:endParaRPr lang="en-IN" dirty="0"/>
          </a:p>
        </p:txBody>
      </p:sp>
    </p:spTree>
    <p:extLst>
      <p:ext uri="{BB962C8B-B14F-4D97-AF65-F5344CB8AC3E}">
        <p14:creationId xmlns:p14="http://schemas.microsoft.com/office/powerpoint/2010/main" val="204475072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86CF1B-C312-A905-9EF3-5249EF9DFC73}"/>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A6D4D091-BF19-0D75-B626-4CA45F809BE4}"/>
              </a:ext>
            </a:extLst>
          </p:cNvPr>
          <p:cNvSpPr>
            <a:spLocks noGrp="1"/>
          </p:cNvSpPr>
          <p:nvPr>
            <p:ph idx="1"/>
          </p:nvPr>
        </p:nvSpPr>
        <p:spPr/>
        <p:txBody>
          <a:bodyPr>
            <a:normAutofit fontScale="77500" lnSpcReduction="20000"/>
          </a:bodyPr>
          <a:lstStyle/>
          <a:p>
            <a:pPr>
              <a:buFont typeface="+mj-lt"/>
              <a:buAutoNum type="arabicPeriod"/>
            </a:pPr>
            <a:r>
              <a:rPr lang="en-US" b="1" dirty="0"/>
              <a:t>Predictive Capabilities</a:t>
            </a:r>
            <a:r>
              <a:rPr lang="en-US" dirty="0"/>
              <a:t>: Predictive analytics enables businesses to anticipate trends and prepare for future demand, whether it’s stock levels, staffing, or market shifts, giving them a competitive edge.</a:t>
            </a:r>
          </a:p>
          <a:p>
            <a:pPr>
              <a:buFont typeface="+mj-lt"/>
              <a:buAutoNum type="arabicPeriod"/>
            </a:pPr>
            <a:r>
              <a:rPr lang="en-US" b="1" dirty="0"/>
              <a:t>Better Targeting and Marketing</a:t>
            </a:r>
            <a:r>
              <a:rPr lang="en-US" dirty="0"/>
              <a:t>: Data analytics allows companies to segment customers accurately, optimize ad spending, and personalize marketing campaigns, resulting in more effective reach and conversion rates.</a:t>
            </a:r>
          </a:p>
          <a:p>
            <a:pPr>
              <a:buFont typeface="+mj-lt"/>
              <a:buAutoNum type="arabicPeriod"/>
            </a:pPr>
            <a:r>
              <a:rPr lang="en-US" b="1" dirty="0"/>
              <a:t>Improved Product Development</a:t>
            </a:r>
            <a:r>
              <a:rPr lang="en-US" dirty="0"/>
              <a:t>: Analytics provides insights into customer feedback, market trends, and product performance, enabling companies to develop or improve products that better meet market needs.</a:t>
            </a:r>
          </a:p>
          <a:p>
            <a:pPr>
              <a:buFont typeface="+mj-lt"/>
              <a:buAutoNum type="arabicPeriod"/>
            </a:pPr>
            <a:r>
              <a:rPr lang="en-US" b="1" dirty="0"/>
              <a:t>Employee Productivity</a:t>
            </a:r>
            <a:r>
              <a:rPr lang="en-US" dirty="0"/>
              <a:t>: Organizations use analytics to track and improve employee performance, offer targeted training, and streamline HR processes, leading to higher productivity and job satisfaction.</a:t>
            </a:r>
          </a:p>
          <a:p>
            <a:pPr>
              <a:buFont typeface="+mj-lt"/>
              <a:buAutoNum type="arabicPeriod"/>
            </a:pPr>
            <a:r>
              <a:rPr lang="en-US" b="1" dirty="0"/>
              <a:t>Enhanced Innovation</a:t>
            </a:r>
            <a:r>
              <a:rPr lang="en-US" dirty="0"/>
              <a:t>: By spotting emerging trends and customer needs, data analytics fuels innovation, helping businesses adapt, evolve, and stay relevant in a changing market.</a:t>
            </a:r>
          </a:p>
          <a:p>
            <a:endParaRPr lang="en-IN" dirty="0"/>
          </a:p>
        </p:txBody>
      </p:sp>
    </p:spTree>
    <p:extLst>
      <p:ext uri="{BB962C8B-B14F-4D97-AF65-F5344CB8AC3E}">
        <p14:creationId xmlns:p14="http://schemas.microsoft.com/office/powerpoint/2010/main" val="159055891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9C9AC4-0A92-BBDD-1AEC-168098320556}"/>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96CA2DEB-8DB9-409E-F610-E136C1BF90CA}"/>
              </a:ext>
            </a:extLst>
          </p:cNvPr>
          <p:cNvSpPr>
            <a:spLocks noGrp="1"/>
          </p:cNvSpPr>
          <p:nvPr>
            <p:ph idx="1"/>
          </p:nvPr>
        </p:nvSpPr>
        <p:spPr/>
        <p:txBody>
          <a:bodyPr/>
          <a:lstStyle/>
          <a:p>
            <a:r>
              <a:rPr lang="en-IN" dirty="0"/>
              <a:t>https://www.geeksforgeeks.org/data-analytics-and-its-type/</a:t>
            </a:r>
          </a:p>
        </p:txBody>
      </p:sp>
    </p:spTree>
    <p:extLst>
      <p:ext uri="{BB962C8B-B14F-4D97-AF65-F5344CB8AC3E}">
        <p14:creationId xmlns:p14="http://schemas.microsoft.com/office/powerpoint/2010/main" val="143961311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2838</TotalTime>
  <Words>2543</Words>
  <Application>Microsoft Office PowerPoint</Application>
  <PresentationFormat>Widescreen</PresentationFormat>
  <Paragraphs>119</Paragraphs>
  <Slides>39</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39</vt:i4>
      </vt:variant>
    </vt:vector>
  </HeadingPairs>
  <TitlesOfParts>
    <vt:vector size="48" baseType="lpstr">
      <vt:lpstr>Arial</vt:lpstr>
      <vt:lpstr>Calibri</vt:lpstr>
      <vt:lpstr>Calibri Light</vt:lpstr>
      <vt:lpstr>Fira Sans</vt:lpstr>
      <vt:lpstr>Google Sans</vt:lpstr>
      <vt:lpstr>Nunito</vt:lpstr>
      <vt:lpstr>TradeGothic</vt:lpstr>
      <vt:lpstr>Verdana</vt:lpstr>
      <vt:lpstr>Office Theme</vt:lpstr>
      <vt:lpstr>Unit-VI</vt:lpstr>
      <vt:lpstr>Definition</vt:lpstr>
      <vt:lpstr>Key aspects of data science include: </vt:lpstr>
      <vt:lpstr>PowerPoint Presentation</vt:lpstr>
      <vt:lpstr>      Importance of data Science </vt:lpstr>
      <vt:lpstr>PowerPoint Presentation</vt:lpstr>
      <vt:lpstr>PowerPoint Presentation</vt:lpstr>
      <vt:lpstr>PowerPoint Presentation</vt:lpstr>
      <vt:lpstr>PowerPoint Presentation</vt:lpstr>
      <vt:lpstr>Big data</vt:lpstr>
      <vt:lpstr>PowerPoint Presentation</vt:lpstr>
      <vt:lpstr>PowerPoint Presentation</vt:lpstr>
      <vt:lpstr>PowerPoint Presentation</vt:lpstr>
      <vt:lpstr>PowerPoint Presentation</vt:lpstr>
      <vt:lpstr>PowerPoint Presentation</vt:lpstr>
      <vt:lpstr>PowerPoint Presentation</vt:lpstr>
      <vt:lpstr>Data collection methods</vt:lpstr>
      <vt:lpstr>PowerPoint Presentation</vt:lpstr>
      <vt:lpstr>Primary vs. Secondary Data </vt:lpstr>
      <vt:lpstr>PowerPoint Presentation</vt:lpstr>
      <vt:lpstr>PowerPoint Presentation</vt:lpstr>
      <vt:lpstr>PowerPoint Presentation</vt:lpstr>
      <vt:lpstr>Basics of data cleaning and transformation</vt:lpstr>
      <vt:lpstr>PowerPoint Presentation</vt:lpstr>
      <vt:lpstr>PowerPoint Presentation</vt:lpstr>
      <vt:lpstr>PowerPoint Presentation</vt:lpstr>
      <vt:lpstr>PowerPoint Presentation</vt:lpstr>
      <vt:lpstr>PowerPoint Presentation</vt:lpstr>
      <vt:lpstr>Introduction to data analytics</vt:lpstr>
      <vt:lpstr>PowerPoint Presentation</vt:lpstr>
      <vt:lpstr>PowerPoint Presentation</vt:lpstr>
      <vt:lpstr>PowerPoint Presentation</vt:lpstr>
      <vt:lpstr>PowerPoint Presentation</vt:lpstr>
      <vt:lpstr>Types of Data Analytics </vt:lpstr>
      <vt:lpstr>Data analytics has many real-life applications across various industries, driving decisions and efficiencies. Here are some key examples: </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ramandeep kaur</dc:creator>
  <cp:lastModifiedBy>ramandeep kaur</cp:lastModifiedBy>
  <cp:revision>19</cp:revision>
  <dcterms:created xsi:type="dcterms:W3CDTF">2024-11-04T04:20:08Z</dcterms:created>
  <dcterms:modified xsi:type="dcterms:W3CDTF">2024-11-07T05:32:26Z</dcterms:modified>
</cp:coreProperties>
</file>