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97" r:id="rId3"/>
    <p:sldId id="433" r:id="rId4"/>
    <p:sldId id="434" r:id="rId5"/>
    <p:sldId id="435" r:id="rId6"/>
    <p:sldId id="436" r:id="rId7"/>
    <p:sldId id="437" r:id="rId8"/>
    <p:sldId id="438" r:id="rId9"/>
    <p:sldId id="439" r:id="rId10"/>
    <p:sldId id="440" r:id="rId11"/>
    <p:sldId id="441" r:id="rId12"/>
    <p:sldId id="442" r:id="rId13"/>
    <p:sldId id="432" r:id="rId14"/>
    <p:sldId id="298" r:id="rId15"/>
    <p:sldId id="299" r:id="rId16"/>
    <p:sldId id="300" r:id="rId17"/>
    <p:sldId id="380" r:id="rId18"/>
    <p:sldId id="381" r:id="rId19"/>
    <p:sldId id="387" r:id="rId20"/>
    <p:sldId id="388" r:id="rId21"/>
    <p:sldId id="383" r:id="rId22"/>
    <p:sldId id="384" r:id="rId23"/>
    <p:sldId id="385" r:id="rId24"/>
    <p:sldId id="386" r:id="rId25"/>
    <p:sldId id="392" r:id="rId26"/>
    <p:sldId id="389" r:id="rId27"/>
    <p:sldId id="390" r:id="rId28"/>
    <p:sldId id="393" r:id="rId29"/>
    <p:sldId id="396" r:id="rId30"/>
    <p:sldId id="394" r:id="rId31"/>
    <p:sldId id="395" r:id="rId32"/>
    <p:sldId id="397" r:id="rId33"/>
    <p:sldId id="398" r:id="rId34"/>
    <p:sldId id="399" r:id="rId35"/>
    <p:sldId id="400" r:id="rId36"/>
    <p:sldId id="401" r:id="rId37"/>
    <p:sldId id="402" r:id="rId38"/>
    <p:sldId id="403" r:id="rId39"/>
    <p:sldId id="404" r:id="rId40"/>
    <p:sldId id="405" r:id="rId41"/>
    <p:sldId id="406" r:id="rId42"/>
    <p:sldId id="407" r:id="rId43"/>
    <p:sldId id="408" r:id="rId44"/>
    <p:sldId id="409" r:id="rId45"/>
    <p:sldId id="410" r:id="rId46"/>
    <p:sldId id="411" r:id="rId47"/>
    <p:sldId id="412" r:id="rId48"/>
    <p:sldId id="413" r:id="rId49"/>
    <p:sldId id="414" r:id="rId50"/>
    <p:sldId id="415" r:id="rId51"/>
    <p:sldId id="416" r:id="rId52"/>
    <p:sldId id="417" r:id="rId53"/>
    <p:sldId id="418" r:id="rId54"/>
    <p:sldId id="419" r:id="rId55"/>
    <p:sldId id="420" r:id="rId56"/>
    <p:sldId id="421" r:id="rId57"/>
    <p:sldId id="422" r:id="rId58"/>
    <p:sldId id="423" r:id="rId59"/>
    <p:sldId id="424" r:id="rId60"/>
    <p:sldId id="425" r:id="rId61"/>
    <p:sldId id="426" r:id="rId62"/>
    <p:sldId id="427" r:id="rId63"/>
    <p:sldId id="428" r:id="rId64"/>
    <p:sldId id="429" r:id="rId65"/>
    <p:sldId id="430" r:id="rId66"/>
    <p:sldId id="431"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1" d="100"/>
          <a:sy n="71" d="100"/>
        </p:scale>
        <p:origin x="-113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88085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60131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020FF2-DC22-4BDE-BBB3-08067E5C1705}"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059748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0020FF2-DC22-4BDE-BBB3-08067E5C1705}"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63464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0020FF2-DC22-4BDE-BBB3-08067E5C1705}" type="datetimeFigureOut">
              <a:rPr lang="en-US" smtClean="0"/>
              <a:pPr/>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256059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0020FF2-DC22-4BDE-BBB3-08067E5C1705}"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733888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0FF2-DC22-4BDE-BBB3-08067E5C1705}"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45265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60161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62600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312390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94978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20FF2-DC22-4BDE-BBB3-08067E5C1705}" type="datetimeFigureOut">
              <a:rPr lang="en-US" smtClean="0"/>
              <a:pPr/>
              <a:t>10/8/2025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4E26E-B4C2-4F87-BE50-7192422347C9}" type="slidenum">
              <a:rPr lang="en-US" smtClean="0"/>
              <a:pPr/>
              <a:t>‹#›</a:t>
            </a:fld>
            <a:endParaRPr lang="en-US"/>
          </a:p>
        </p:txBody>
      </p:sp>
    </p:spTree>
    <p:extLst>
      <p:ext uri="{BB962C8B-B14F-4D97-AF65-F5344CB8AC3E}">
        <p14:creationId xmlns:p14="http://schemas.microsoft.com/office/powerpoint/2010/main" val="7431117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457200"/>
            <a:ext cx="7315200" cy="3477875"/>
          </a:xfrm>
          <a:prstGeom prst="rect">
            <a:avLst/>
          </a:prstGeom>
        </p:spPr>
        <p:txBody>
          <a:bodyPr wrap="square">
            <a:spAutoFit/>
          </a:bodyPr>
          <a:lstStyle/>
          <a:p>
            <a:pPr algn="ctr"/>
            <a:r>
              <a:rPr lang="en-IN" sz="4400" dirty="0">
                <a:solidFill>
                  <a:srgbClr val="454545"/>
                </a:solidFill>
                <a:latin typeface="+mj-lt"/>
              </a:rPr>
              <a:t>CAP-170 </a:t>
            </a:r>
            <a:endParaRPr lang="en-IN" sz="4400" dirty="0" smtClean="0">
              <a:solidFill>
                <a:srgbClr val="454545"/>
              </a:solidFill>
              <a:latin typeface="+mj-lt"/>
            </a:endParaRPr>
          </a:p>
          <a:p>
            <a:pPr algn="ctr"/>
            <a:r>
              <a:rPr lang="en-IN" sz="4400" dirty="0" smtClean="0">
                <a:solidFill>
                  <a:srgbClr val="454545"/>
                </a:solidFill>
                <a:latin typeface="+mj-lt"/>
              </a:rPr>
              <a:t>FUNDAMENTAL </a:t>
            </a:r>
            <a:r>
              <a:rPr lang="en-IN" sz="4400" dirty="0">
                <a:solidFill>
                  <a:srgbClr val="454545"/>
                </a:solidFill>
                <a:latin typeface="+mj-lt"/>
              </a:rPr>
              <a:t>OF INFORMATION </a:t>
            </a:r>
            <a:r>
              <a:rPr lang="en-IN" sz="4400" dirty="0" smtClean="0">
                <a:solidFill>
                  <a:srgbClr val="454545"/>
                </a:solidFill>
                <a:latin typeface="+mj-lt"/>
              </a:rPr>
              <a:t>TECHNOLOGY</a:t>
            </a:r>
            <a:r>
              <a:rPr lang="en-IN" sz="4400" dirty="0">
                <a:solidFill>
                  <a:srgbClr val="454545"/>
                </a:solidFill>
                <a:latin typeface="+mj-lt"/>
              </a:rPr>
              <a:t/>
            </a:r>
            <a:br>
              <a:rPr lang="en-IN" sz="4400" dirty="0">
                <a:solidFill>
                  <a:srgbClr val="454545"/>
                </a:solidFill>
                <a:latin typeface="+mj-lt"/>
              </a:rPr>
            </a:br>
            <a:r>
              <a:rPr lang="en-IN" sz="4400" b="1" dirty="0" smtClean="0">
                <a:solidFill>
                  <a:srgbClr val="454545"/>
                </a:solidFill>
                <a:latin typeface="+mj-lt"/>
              </a:rPr>
              <a:t>UNIT V</a:t>
            </a:r>
            <a:endParaRPr lang="en-US" sz="3600" b="1" dirty="0">
              <a:latin typeface="+mj-lt"/>
            </a:endParaRPr>
          </a:p>
          <a:p>
            <a:pPr algn="ctr"/>
            <a:r>
              <a:rPr lang="en-IN" sz="4400" b="1" dirty="0"/>
              <a:t>Advanced IT Technologies</a:t>
            </a:r>
            <a:endParaRPr lang="en-IN" sz="4400" b="1" dirty="0" smtClean="0">
              <a:solidFill>
                <a:srgbClr val="454545"/>
              </a:solidFill>
              <a:latin typeface="+mj-lt"/>
            </a:endParaRPr>
          </a:p>
        </p:txBody>
      </p:sp>
      <p:sp>
        <p:nvSpPr>
          <p:cNvPr id="5" name="Subtitle 2"/>
          <p:cNvSpPr>
            <a:spLocks noGrp="1"/>
          </p:cNvSpPr>
          <p:nvPr>
            <p:ph type="subTitle" idx="1"/>
          </p:nvPr>
        </p:nvSpPr>
        <p:spPr>
          <a:xfrm>
            <a:off x="0" y="4495800"/>
            <a:ext cx="9144000" cy="1752600"/>
          </a:xfrm>
        </p:spPr>
        <p:txBody>
          <a:bodyPr>
            <a:noAutofit/>
          </a:bodyPr>
          <a:lstStyle/>
          <a:p>
            <a:pPr lvl="0" algn="ctr">
              <a:lnSpc>
                <a:spcPct val="110000"/>
              </a:lnSpc>
              <a:spcBef>
                <a:spcPts val="1000"/>
              </a:spcBef>
              <a:buSzPts val="1800"/>
            </a:pPr>
            <a:r>
              <a:rPr lang="en-US" dirty="0">
                <a:solidFill>
                  <a:schemeClr val="accent1"/>
                </a:solidFill>
              </a:rPr>
              <a:t>SCHOOL OF COMPUTER APPLICATIONS</a:t>
            </a:r>
            <a:endParaRPr lang="en-US" dirty="0"/>
          </a:p>
          <a:p>
            <a:pPr lvl="0" algn="ctr">
              <a:lnSpc>
                <a:spcPct val="110000"/>
              </a:lnSpc>
              <a:spcBef>
                <a:spcPts val="1000"/>
              </a:spcBef>
              <a:buSzPts val="1800"/>
            </a:pPr>
            <a:r>
              <a:rPr lang="en-US" dirty="0">
                <a:solidFill>
                  <a:schemeClr val="accent1"/>
                </a:solidFill>
              </a:rPr>
              <a:t>LOVELY PROFESSIONAL UNIVERSITY</a:t>
            </a:r>
            <a:endParaRPr lang="en-US" dirty="0"/>
          </a:p>
          <a:p>
            <a:pPr algn="ct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a:t>
            </a:r>
            <a:r>
              <a:rPr lang="en-IN" b="1" dirty="0" smtClean="0"/>
              <a:t>ntroduction </a:t>
            </a:r>
            <a:r>
              <a:rPr lang="en-IN" b="1" dirty="0"/>
              <a:t>to </a:t>
            </a:r>
            <a:r>
              <a:rPr lang="en-IN" b="1" dirty="0" smtClean="0"/>
              <a:t>Cloud </a:t>
            </a:r>
            <a:r>
              <a:rPr lang="en-IN" b="1" dirty="0"/>
              <a:t>C</a:t>
            </a:r>
            <a:r>
              <a:rPr lang="en-IN" b="1" dirty="0" smtClean="0"/>
              <a:t>omputing</a:t>
            </a:r>
            <a:endParaRPr lang="en-IN" b="1" dirty="0"/>
          </a:p>
        </p:txBody>
      </p:sp>
      <p:sp>
        <p:nvSpPr>
          <p:cNvPr id="3" name="Content Placeholder 2"/>
          <p:cNvSpPr>
            <a:spLocks noGrp="1"/>
          </p:cNvSpPr>
          <p:nvPr>
            <p:ph idx="1"/>
          </p:nvPr>
        </p:nvSpPr>
        <p:spPr>
          <a:xfrm>
            <a:off x="457200" y="1798637"/>
            <a:ext cx="8229600" cy="4221163"/>
          </a:xfrm>
        </p:spPr>
        <p:txBody>
          <a:bodyPr/>
          <a:lstStyle/>
          <a:p>
            <a:pPr algn="just"/>
            <a:r>
              <a:rPr lang="en-US" dirty="0"/>
              <a:t>Cloud computing is the delivery of computing services—like servers, storage, databases, networking, software, and </a:t>
            </a:r>
            <a:r>
              <a:rPr lang="en-US" dirty="0" smtClean="0"/>
              <a:t>analytics etc.</a:t>
            </a:r>
          </a:p>
          <a:p>
            <a:pPr algn="just"/>
            <a:r>
              <a:rPr lang="en-US" dirty="0"/>
              <a:t>Instead of owning physical hardware or software, users can access and use resources online on demand</a:t>
            </a:r>
            <a:r>
              <a:rPr lang="en-US" dirty="0" smtClean="0"/>
              <a:t>.</a:t>
            </a:r>
          </a:p>
          <a:p>
            <a:pPr algn="just"/>
            <a:r>
              <a:rPr lang="en-US" dirty="0"/>
              <a:t>Pay only for what you use — just like electricity or water.</a:t>
            </a:r>
            <a:endParaRPr lang="en-US" dirty="0" smtClean="0"/>
          </a:p>
          <a:p>
            <a:pPr algn="just"/>
            <a:endParaRPr lang="en-IN" dirty="0"/>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38575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US" b="1" dirty="0"/>
              <a:t>Advantages:</a:t>
            </a:r>
            <a:endParaRPr lang="en-US" dirty="0"/>
          </a:p>
          <a:p>
            <a:pPr lvl="1"/>
            <a:r>
              <a:rPr lang="en-US" dirty="0"/>
              <a:t>Cost-effective</a:t>
            </a:r>
          </a:p>
          <a:p>
            <a:pPr lvl="1"/>
            <a:r>
              <a:rPr lang="en-US" dirty="0"/>
              <a:t>Scalable and flexible</a:t>
            </a:r>
          </a:p>
          <a:p>
            <a:pPr lvl="1"/>
            <a:r>
              <a:rPr lang="en-US" dirty="0"/>
              <a:t>Accessible from anywhere</a:t>
            </a:r>
          </a:p>
          <a:p>
            <a:pPr lvl="1"/>
            <a:r>
              <a:rPr lang="en-US" dirty="0"/>
              <a:t>Reliable and secure</a:t>
            </a:r>
          </a:p>
          <a:p>
            <a:pPr lvl="1"/>
            <a:r>
              <a:rPr lang="en-US" dirty="0"/>
              <a:t>Automatic </a:t>
            </a:r>
            <a:r>
              <a:rPr lang="en-US" dirty="0" smtClean="0"/>
              <a:t>updates</a:t>
            </a:r>
            <a:endParaRPr lang="en-US" dirty="0"/>
          </a:p>
          <a:p>
            <a:r>
              <a:rPr lang="en-US" b="1" dirty="0"/>
              <a:t>Examples:</a:t>
            </a:r>
            <a:endParaRPr lang="en-US" dirty="0"/>
          </a:p>
          <a:p>
            <a:pPr marL="0" indent="0">
              <a:buNone/>
            </a:pPr>
            <a:r>
              <a:rPr lang="en-US" dirty="0"/>
              <a:t>	</a:t>
            </a:r>
            <a:r>
              <a:rPr lang="en-US" dirty="0" smtClean="0"/>
              <a:t>Google </a:t>
            </a:r>
            <a:r>
              <a:rPr lang="en-US" dirty="0"/>
              <a:t>Drive, Microsoft Azure, Amazon Web Services (AWS)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5291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pPr marL="0" indent="0">
              <a:buNone/>
            </a:pPr>
            <a:r>
              <a:rPr lang="en-US" dirty="0" smtClean="0"/>
              <a:t>There are three type of models as follows:</a:t>
            </a:r>
            <a:endParaRPr lang="en-IN" dirty="0" smtClean="0"/>
          </a:p>
          <a:p>
            <a:r>
              <a:rPr lang="en-IN" b="1" dirty="0" smtClean="0"/>
              <a:t>Infrastructure </a:t>
            </a:r>
            <a:r>
              <a:rPr lang="en-IN" b="1" dirty="0"/>
              <a:t>as a Service (</a:t>
            </a:r>
            <a:r>
              <a:rPr lang="en-IN" b="1" dirty="0" err="1"/>
              <a:t>IaaS</a:t>
            </a:r>
            <a:r>
              <a:rPr lang="en-IN" b="1" dirty="0"/>
              <a:t>):</a:t>
            </a:r>
            <a:endParaRPr lang="en-IN" dirty="0"/>
          </a:p>
          <a:p>
            <a:pPr lvl="1"/>
            <a:r>
              <a:rPr lang="en-IN" dirty="0"/>
              <a:t>Provides </a:t>
            </a:r>
            <a:r>
              <a:rPr lang="en-IN" b="1" dirty="0"/>
              <a:t>virtualized computing resources</a:t>
            </a:r>
            <a:r>
              <a:rPr lang="en-IN" dirty="0"/>
              <a:t> over the internet.</a:t>
            </a:r>
          </a:p>
          <a:p>
            <a:pPr lvl="1"/>
            <a:r>
              <a:rPr lang="en-IN" dirty="0"/>
              <a:t>Users manage operating systems, applications, and data.</a:t>
            </a:r>
          </a:p>
          <a:p>
            <a:pPr lvl="1"/>
            <a:r>
              <a:rPr lang="en-IN" dirty="0"/>
              <a:t>Examples: </a:t>
            </a:r>
            <a:r>
              <a:rPr lang="en-IN" b="1" dirty="0"/>
              <a:t>Amazon EC2, Microsoft Azure, Google Compute Engine</a:t>
            </a:r>
            <a:endParaRPr lang="en-IN" dirty="0"/>
          </a:p>
          <a:p>
            <a:pPr lvl="1"/>
            <a:r>
              <a:rPr lang="en-IN" b="1" dirty="0"/>
              <a:t>Use case:</a:t>
            </a:r>
            <a:r>
              <a:rPr lang="en-IN" dirty="0"/>
              <a:t> Hosting websites, storage, networking.</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228600"/>
            <a:ext cx="8229600" cy="1143000"/>
          </a:xfrm>
        </p:spPr>
        <p:txBody>
          <a:bodyPr/>
          <a:lstStyle/>
          <a:p>
            <a:r>
              <a:rPr lang="en-IN" b="1" dirty="0" smtClean="0"/>
              <a:t>Cloud Service Models</a:t>
            </a:r>
            <a:endParaRPr lang="en-IN" b="1" dirty="0"/>
          </a:p>
        </p:txBody>
      </p:sp>
    </p:spTree>
    <p:extLst>
      <p:ext uri="{BB962C8B-B14F-4D97-AF65-F5344CB8AC3E}">
        <p14:creationId xmlns:p14="http://schemas.microsoft.com/office/powerpoint/2010/main" val="403378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IN" b="1" dirty="0"/>
              <a:t>Platform as a Service (</a:t>
            </a:r>
            <a:r>
              <a:rPr lang="en-IN" b="1" dirty="0" err="1"/>
              <a:t>PaaS</a:t>
            </a:r>
            <a:r>
              <a:rPr lang="en-IN" b="1" dirty="0"/>
              <a:t>):</a:t>
            </a:r>
            <a:endParaRPr lang="en-IN" dirty="0"/>
          </a:p>
          <a:p>
            <a:pPr lvl="1"/>
            <a:r>
              <a:rPr lang="en-IN" dirty="0"/>
              <a:t>Provides a </a:t>
            </a:r>
            <a:r>
              <a:rPr lang="en-IN" b="1" dirty="0"/>
              <a:t>platform for developers</a:t>
            </a:r>
            <a:r>
              <a:rPr lang="en-IN" dirty="0"/>
              <a:t> to build, test, and deploy applications.</a:t>
            </a:r>
          </a:p>
          <a:p>
            <a:pPr lvl="1"/>
            <a:r>
              <a:rPr lang="en-IN" dirty="0"/>
              <a:t>Includes OS, middleware, and runtime environment.</a:t>
            </a:r>
          </a:p>
          <a:p>
            <a:pPr lvl="1"/>
            <a:r>
              <a:rPr lang="en-IN" dirty="0"/>
              <a:t>Examples: </a:t>
            </a:r>
            <a:r>
              <a:rPr lang="en-IN" b="1" dirty="0"/>
              <a:t>Google App Engine, Microsoft Azure App Services, </a:t>
            </a:r>
            <a:r>
              <a:rPr lang="en-IN" b="1" dirty="0" err="1"/>
              <a:t>Heroku</a:t>
            </a:r>
            <a:endParaRPr lang="en-IN" dirty="0"/>
          </a:p>
          <a:p>
            <a:pPr lvl="1"/>
            <a:r>
              <a:rPr lang="en-IN" b="1" dirty="0"/>
              <a:t>Use case:</a:t>
            </a:r>
            <a:r>
              <a:rPr lang="en-IN" dirty="0"/>
              <a:t> Application development without managing servers.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83698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US" b="1" dirty="0"/>
              <a:t>Software as a Service (</a:t>
            </a:r>
            <a:r>
              <a:rPr lang="en-US" b="1" dirty="0" err="1"/>
              <a:t>SaaS</a:t>
            </a:r>
            <a:r>
              <a:rPr lang="en-US" b="1" dirty="0"/>
              <a:t>):</a:t>
            </a:r>
            <a:endParaRPr lang="en-US" dirty="0"/>
          </a:p>
          <a:p>
            <a:pPr lvl="1"/>
            <a:r>
              <a:rPr lang="en-US" dirty="0"/>
              <a:t>Provides </a:t>
            </a:r>
            <a:r>
              <a:rPr lang="en-US" b="1" dirty="0"/>
              <a:t>ready-to-use software applications</a:t>
            </a:r>
            <a:r>
              <a:rPr lang="en-US" dirty="0"/>
              <a:t> over the internet.</a:t>
            </a:r>
          </a:p>
          <a:p>
            <a:pPr lvl="1"/>
            <a:r>
              <a:rPr lang="en-US" dirty="0"/>
              <a:t>No installation or maintenance required by the user.</a:t>
            </a:r>
          </a:p>
          <a:p>
            <a:pPr lvl="1"/>
            <a:r>
              <a:rPr lang="en-US" dirty="0"/>
              <a:t>Examples: </a:t>
            </a:r>
            <a:r>
              <a:rPr lang="en-US" b="1" dirty="0"/>
              <a:t>Google Workspace, Microsoft 365, </a:t>
            </a:r>
            <a:r>
              <a:rPr lang="en-US" b="1" dirty="0" err="1"/>
              <a:t>Salesforce</a:t>
            </a:r>
            <a:r>
              <a:rPr lang="en-US" b="1" dirty="0"/>
              <a:t>, Zoom</a:t>
            </a:r>
            <a:endParaRPr lang="en-US" dirty="0"/>
          </a:p>
          <a:p>
            <a:pPr lvl="1"/>
            <a:r>
              <a:rPr lang="en-US" b="1" dirty="0"/>
              <a:t>Use case:</a:t>
            </a:r>
            <a:r>
              <a:rPr lang="en-US" dirty="0"/>
              <a:t> Email, collaboration, CRM, and communication tools.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098617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pPr marL="0" indent="0" algn="just">
              <a:buNone/>
            </a:pPr>
            <a:r>
              <a:rPr lang="en-US" dirty="0" smtClean="0"/>
              <a:t>Summarize in a table for each understanding-</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096113855"/>
              </p:ext>
            </p:extLst>
          </p:nvPr>
        </p:nvGraphicFramePr>
        <p:xfrm>
          <a:off x="457200" y="3131661"/>
          <a:ext cx="8229600" cy="1463040"/>
        </p:xfrm>
        <a:graphic>
          <a:graphicData uri="http://schemas.openxmlformats.org/drawingml/2006/table">
            <a:tbl>
              <a:tblPr>
                <a:tableStyleId>{9D7B26C5-4107-4FEC-AEDC-1716B250A1EF}</a:tableStyleId>
              </a:tblPr>
              <a:tblGrid>
                <a:gridCol w="2743200"/>
                <a:gridCol w="2743200"/>
                <a:gridCol w="2743200"/>
              </a:tblGrid>
              <a:tr h="0">
                <a:tc>
                  <a:txBody>
                    <a:bodyPr/>
                    <a:lstStyle/>
                    <a:p>
                      <a:pPr algn="ctr"/>
                      <a:r>
                        <a:rPr lang="en-IN" b="1" dirty="0"/>
                        <a:t>Model</a:t>
                      </a:r>
                    </a:p>
                  </a:txBody>
                  <a:tcPr anchor="ctr"/>
                </a:tc>
                <a:tc>
                  <a:txBody>
                    <a:bodyPr/>
                    <a:lstStyle/>
                    <a:p>
                      <a:pPr algn="ctr"/>
                      <a:r>
                        <a:rPr lang="en-IN" b="1"/>
                        <a:t>Managed by Provider</a:t>
                      </a:r>
                    </a:p>
                  </a:txBody>
                  <a:tcPr anchor="ctr"/>
                </a:tc>
                <a:tc>
                  <a:txBody>
                    <a:bodyPr/>
                    <a:lstStyle/>
                    <a:p>
                      <a:pPr algn="ctr"/>
                      <a:r>
                        <a:rPr lang="en-IN" b="1" dirty="0"/>
                        <a:t>Managed by User</a:t>
                      </a:r>
                    </a:p>
                  </a:txBody>
                  <a:tcPr anchor="ctr"/>
                </a:tc>
              </a:tr>
              <a:tr h="0">
                <a:tc>
                  <a:txBody>
                    <a:bodyPr/>
                    <a:lstStyle/>
                    <a:p>
                      <a:pPr algn="ctr"/>
                      <a:r>
                        <a:rPr lang="en-IN" dirty="0" err="1"/>
                        <a:t>IaaS</a:t>
                      </a:r>
                      <a:endParaRPr lang="en-IN" dirty="0"/>
                    </a:p>
                  </a:txBody>
                  <a:tcPr anchor="ctr"/>
                </a:tc>
                <a:tc>
                  <a:txBody>
                    <a:bodyPr/>
                    <a:lstStyle/>
                    <a:p>
                      <a:pPr algn="ctr"/>
                      <a:r>
                        <a:rPr lang="en-IN"/>
                        <a:t>Hardware</a:t>
                      </a:r>
                    </a:p>
                  </a:txBody>
                  <a:tcPr anchor="ctr"/>
                </a:tc>
                <a:tc>
                  <a:txBody>
                    <a:bodyPr/>
                    <a:lstStyle/>
                    <a:p>
                      <a:pPr algn="ctr"/>
                      <a:r>
                        <a:rPr lang="en-IN" dirty="0"/>
                        <a:t>OS, Apps, Data</a:t>
                      </a:r>
                    </a:p>
                  </a:txBody>
                  <a:tcPr anchor="ctr"/>
                </a:tc>
              </a:tr>
              <a:tr h="0">
                <a:tc>
                  <a:txBody>
                    <a:bodyPr/>
                    <a:lstStyle/>
                    <a:p>
                      <a:pPr algn="ctr"/>
                      <a:r>
                        <a:rPr lang="en-IN"/>
                        <a:t>PaaS</a:t>
                      </a:r>
                    </a:p>
                  </a:txBody>
                  <a:tcPr anchor="ctr"/>
                </a:tc>
                <a:tc>
                  <a:txBody>
                    <a:bodyPr/>
                    <a:lstStyle/>
                    <a:p>
                      <a:pPr algn="ctr"/>
                      <a:r>
                        <a:rPr lang="en-IN"/>
                        <a:t>Hardware, OS</a:t>
                      </a:r>
                    </a:p>
                  </a:txBody>
                  <a:tcPr anchor="ctr"/>
                </a:tc>
                <a:tc>
                  <a:txBody>
                    <a:bodyPr/>
                    <a:lstStyle/>
                    <a:p>
                      <a:pPr algn="ctr"/>
                      <a:r>
                        <a:rPr lang="en-IN" dirty="0"/>
                        <a:t>Apps, Data</a:t>
                      </a:r>
                    </a:p>
                  </a:txBody>
                  <a:tcPr anchor="ctr"/>
                </a:tc>
              </a:tr>
              <a:tr h="0">
                <a:tc>
                  <a:txBody>
                    <a:bodyPr/>
                    <a:lstStyle/>
                    <a:p>
                      <a:pPr algn="ctr"/>
                      <a:r>
                        <a:rPr lang="en-IN"/>
                        <a:t>SaaS</a:t>
                      </a:r>
                    </a:p>
                  </a:txBody>
                  <a:tcPr anchor="ctr"/>
                </a:tc>
                <a:tc>
                  <a:txBody>
                    <a:bodyPr/>
                    <a:lstStyle/>
                    <a:p>
                      <a:pPr algn="ctr"/>
                      <a:r>
                        <a:rPr lang="en-IN"/>
                        <a:t>Everything</a:t>
                      </a:r>
                    </a:p>
                  </a:txBody>
                  <a:tcPr anchor="ctr"/>
                </a:tc>
                <a:tc>
                  <a:txBody>
                    <a:bodyPr/>
                    <a:lstStyle/>
                    <a:p>
                      <a:pPr algn="ctr"/>
                      <a:r>
                        <a:rPr lang="en-IN" dirty="0"/>
                        <a:t>Just use the app</a:t>
                      </a:r>
                    </a:p>
                  </a:txBody>
                  <a:tcPr anchor="ctr"/>
                </a:tc>
              </a:tr>
            </a:tbl>
          </a:graphicData>
        </a:graphic>
      </p:graphicFrame>
    </p:spTree>
    <p:extLst>
      <p:ext uri="{BB962C8B-B14F-4D97-AF65-F5344CB8AC3E}">
        <p14:creationId xmlns:p14="http://schemas.microsoft.com/office/powerpoint/2010/main" val="408864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92500" lnSpcReduction="20000"/>
          </a:bodyPr>
          <a:lstStyle/>
          <a:p>
            <a:r>
              <a:rPr lang="en-US" b="1" dirty="0"/>
              <a:t>What is Virtualization?</a:t>
            </a:r>
            <a:endParaRPr lang="en-US" dirty="0"/>
          </a:p>
          <a:p>
            <a:pPr lvl="1"/>
            <a:r>
              <a:rPr lang="en-US" dirty="0"/>
              <a:t>Virtualization is the </a:t>
            </a:r>
            <a:r>
              <a:rPr lang="en-US" b="1" dirty="0"/>
              <a:t>process of creating a virtual (software-based) version</a:t>
            </a:r>
            <a:r>
              <a:rPr lang="en-US" dirty="0"/>
              <a:t> of computing resources such as servers, storage, or networks.</a:t>
            </a:r>
          </a:p>
          <a:p>
            <a:pPr lvl="1"/>
            <a:r>
              <a:rPr lang="en-US" dirty="0"/>
              <a:t>It allows multiple virtual systems to run on a single physical machine.</a:t>
            </a:r>
          </a:p>
          <a:p>
            <a:r>
              <a:rPr lang="en-US" b="1" dirty="0"/>
              <a:t>How it Works:</a:t>
            </a:r>
            <a:endParaRPr lang="en-US" dirty="0"/>
          </a:p>
          <a:p>
            <a:pPr lvl="1"/>
            <a:r>
              <a:rPr lang="en-US" dirty="0"/>
              <a:t>A special software called a </a:t>
            </a:r>
            <a:r>
              <a:rPr lang="en-US" b="1" dirty="0"/>
              <a:t>Hypervisor</a:t>
            </a:r>
            <a:r>
              <a:rPr lang="en-US" dirty="0"/>
              <a:t> divides the physical hardware into multiple </a:t>
            </a:r>
            <a:r>
              <a:rPr lang="en-US" b="1" dirty="0"/>
              <a:t>virtual machines (VMs)</a:t>
            </a:r>
            <a:r>
              <a:rPr lang="en-US" dirty="0"/>
              <a:t>.</a:t>
            </a:r>
          </a:p>
          <a:p>
            <a:pPr lvl="1"/>
            <a:r>
              <a:rPr lang="en-US" dirty="0"/>
              <a:t>Each VM operates independently with its own OS, applications, and resources.</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noAutofit/>
          </a:bodyPr>
          <a:lstStyle/>
          <a:p>
            <a:r>
              <a:rPr lang="en-IN" sz="3600" b="1" dirty="0"/>
              <a:t>C</a:t>
            </a:r>
            <a:r>
              <a:rPr lang="en-IN" sz="3600" b="1" dirty="0" smtClean="0"/>
              <a:t>oncept of Virtualization &amp; </a:t>
            </a:r>
            <a:r>
              <a:rPr lang="en-IN" sz="3600" b="1" dirty="0"/>
              <a:t>V</a:t>
            </a:r>
            <a:r>
              <a:rPr lang="en-IN" sz="3600" b="1" dirty="0" smtClean="0"/>
              <a:t>irtual </a:t>
            </a:r>
            <a:r>
              <a:rPr lang="en-IN" sz="3600" b="1" dirty="0"/>
              <a:t>S</a:t>
            </a:r>
            <a:r>
              <a:rPr lang="en-IN" sz="3600" b="1" dirty="0" smtClean="0"/>
              <a:t>ervers</a:t>
            </a:r>
            <a:endParaRPr lang="en-IN" sz="3600" b="1" dirty="0"/>
          </a:p>
        </p:txBody>
      </p:sp>
    </p:spTree>
    <p:extLst>
      <p:ext uri="{BB962C8B-B14F-4D97-AF65-F5344CB8AC3E}">
        <p14:creationId xmlns:p14="http://schemas.microsoft.com/office/powerpoint/2010/main" val="3067835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a:bodyPr>
          <a:lstStyle/>
          <a:p>
            <a:r>
              <a:rPr lang="en-IN" b="1" dirty="0"/>
              <a:t>Types of Virtualization:</a:t>
            </a:r>
            <a:endParaRPr lang="en-IN" dirty="0"/>
          </a:p>
          <a:p>
            <a:pPr lvl="1"/>
            <a:r>
              <a:rPr lang="en-IN" b="1" dirty="0"/>
              <a:t>Server Virtualization</a:t>
            </a:r>
            <a:r>
              <a:rPr lang="en-IN" dirty="0"/>
              <a:t> – Multiple servers on one physical system.</a:t>
            </a:r>
          </a:p>
          <a:p>
            <a:pPr lvl="1"/>
            <a:r>
              <a:rPr lang="en-IN" b="1" dirty="0"/>
              <a:t>Storage Virtualization</a:t>
            </a:r>
            <a:r>
              <a:rPr lang="en-IN" dirty="0"/>
              <a:t> – Combines multiple storage devices into one.</a:t>
            </a:r>
          </a:p>
          <a:p>
            <a:pPr lvl="1"/>
            <a:r>
              <a:rPr lang="en-IN" b="1" dirty="0"/>
              <a:t>Network Virtualization</a:t>
            </a:r>
            <a:r>
              <a:rPr lang="en-IN" dirty="0"/>
              <a:t> – Creates virtual networks separate from physical ones.</a:t>
            </a:r>
          </a:p>
          <a:p>
            <a:pPr lvl="1"/>
            <a:r>
              <a:rPr lang="en-IN" b="1" dirty="0"/>
              <a:t>Desktop Virtualization</a:t>
            </a:r>
            <a:r>
              <a:rPr lang="en-IN" dirty="0"/>
              <a:t> – Runs user desktops on centralized servers.</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67037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92500" lnSpcReduction="20000"/>
          </a:bodyPr>
          <a:lstStyle/>
          <a:p>
            <a:r>
              <a:rPr lang="en-US" dirty="0"/>
              <a:t>A </a:t>
            </a:r>
            <a:r>
              <a:rPr lang="en-US" b="1" dirty="0"/>
              <a:t>virtual server</a:t>
            </a:r>
            <a:r>
              <a:rPr lang="en-US" dirty="0"/>
              <a:t> is a software-based representation of a physical server.</a:t>
            </a:r>
          </a:p>
          <a:p>
            <a:r>
              <a:rPr lang="en-US" dirty="0"/>
              <a:t>It performs the same functions as a physical server but shares resources with other virtual servers.</a:t>
            </a:r>
          </a:p>
          <a:p>
            <a:r>
              <a:rPr lang="en-US" b="1" dirty="0"/>
              <a:t>Benefits:</a:t>
            </a:r>
            <a:endParaRPr lang="en-US" dirty="0"/>
          </a:p>
          <a:p>
            <a:pPr lvl="1"/>
            <a:r>
              <a:rPr lang="en-US" dirty="0"/>
              <a:t>Efficient resource utilization</a:t>
            </a:r>
          </a:p>
          <a:p>
            <a:pPr lvl="1"/>
            <a:r>
              <a:rPr lang="en-US" dirty="0"/>
              <a:t>Cost savings on hardware</a:t>
            </a:r>
          </a:p>
          <a:p>
            <a:pPr lvl="1"/>
            <a:r>
              <a:rPr lang="en-US" dirty="0"/>
              <a:t>Easy backup and recovery</a:t>
            </a:r>
          </a:p>
          <a:p>
            <a:pPr lvl="1"/>
            <a:r>
              <a:rPr lang="en-US" dirty="0"/>
              <a:t>Scalability and flexibility</a:t>
            </a:r>
          </a:p>
          <a:p>
            <a:pPr lvl="1"/>
            <a:r>
              <a:rPr lang="en-US" dirty="0"/>
              <a:t>Simplified </a:t>
            </a:r>
            <a:r>
              <a:rPr lang="en-US" dirty="0" smtClean="0"/>
              <a:t>management</a:t>
            </a:r>
          </a:p>
          <a:p>
            <a:pPr marL="457200" lvl="1" indent="0">
              <a:buNone/>
            </a:pPr>
            <a:r>
              <a:rPr lang="en-US" b="1" dirty="0" smtClean="0"/>
              <a:t>Examples: </a:t>
            </a:r>
            <a:r>
              <a:rPr lang="en-IN" dirty="0"/>
              <a:t>VMware, Microsoft Hyper-V</a:t>
            </a:r>
            <a:endParaRPr lang="en-US" b="1" dirty="0"/>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lstStyle/>
          <a:p>
            <a:r>
              <a:rPr lang="en-IN" b="1" dirty="0"/>
              <a:t>What </a:t>
            </a:r>
            <a:r>
              <a:rPr lang="en-IN" b="1" dirty="0" smtClean="0"/>
              <a:t>is a </a:t>
            </a:r>
            <a:r>
              <a:rPr lang="en-IN" b="1" dirty="0"/>
              <a:t>Virtual Server?</a:t>
            </a:r>
          </a:p>
        </p:txBody>
      </p:sp>
    </p:spTree>
    <p:extLst>
      <p:ext uri="{BB962C8B-B14F-4D97-AF65-F5344CB8AC3E}">
        <p14:creationId xmlns:p14="http://schemas.microsoft.com/office/powerpoint/2010/main" val="2907784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70000" lnSpcReduction="20000"/>
          </a:bodyPr>
          <a:lstStyle/>
          <a:p>
            <a:pPr marL="0" indent="0">
              <a:buNone/>
            </a:pPr>
            <a:r>
              <a:rPr lang="en-US" sz="3400" b="1" dirty="0"/>
              <a:t>Definition:</a:t>
            </a:r>
            <a:r>
              <a:rPr lang="en-US" dirty="0"/>
              <a:t/>
            </a:r>
            <a:br>
              <a:rPr lang="en-US" dirty="0"/>
            </a:br>
            <a:r>
              <a:rPr lang="en-US" dirty="0" smtClean="0"/>
              <a:t>	</a:t>
            </a:r>
            <a:r>
              <a:rPr lang="en-US" sz="3400" dirty="0" smtClean="0"/>
              <a:t>Cloud </a:t>
            </a:r>
            <a:r>
              <a:rPr lang="en-US" sz="3400" dirty="0"/>
              <a:t>storage is a service model in which data is stored, managed, and backed up remotely on servers accessed through the internet</a:t>
            </a:r>
            <a:r>
              <a:rPr lang="en-US" dirty="0" smtClean="0"/>
              <a:t>.</a:t>
            </a:r>
          </a:p>
          <a:p>
            <a:pPr marL="0" indent="0">
              <a:buNone/>
            </a:pPr>
            <a:r>
              <a:rPr lang="en-IN" sz="3400" b="1" dirty="0"/>
              <a:t>Key Points</a:t>
            </a:r>
            <a:r>
              <a:rPr lang="en-IN" sz="3400" b="1" dirty="0" smtClean="0"/>
              <a:t>:</a:t>
            </a:r>
          </a:p>
          <a:p>
            <a:r>
              <a:rPr lang="en-US" sz="3400" dirty="0"/>
              <a:t>Data is stored on </a:t>
            </a:r>
            <a:r>
              <a:rPr lang="en-US" sz="3400" b="1" dirty="0"/>
              <a:t>remote servers</a:t>
            </a:r>
            <a:r>
              <a:rPr lang="en-US" sz="3400" dirty="0"/>
              <a:t> instead of local devices.</a:t>
            </a:r>
          </a:p>
          <a:p>
            <a:r>
              <a:rPr lang="en-US" sz="3400" dirty="0"/>
              <a:t>Managed by </a:t>
            </a:r>
            <a:r>
              <a:rPr lang="en-US" sz="3400" b="1" dirty="0"/>
              <a:t>cloud service providers</a:t>
            </a:r>
            <a:r>
              <a:rPr lang="en-US" sz="3400" dirty="0"/>
              <a:t> (like AWS, Google Cloud, Microsoft Azure).</a:t>
            </a:r>
          </a:p>
          <a:p>
            <a:r>
              <a:rPr lang="en-US" sz="3400" dirty="0"/>
              <a:t>Provides </a:t>
            </a:r>
            <a:r>
              <a:rPr lang="en-US" sz="3400" b="1" dirty="0"/>
              <a:t>on-demand access</a:t>
            </a:r>
            <a:r>
              <a:rPr lang="en-US" sz="3400" dirty="0"/>
              <a:t> to data from anywhere.</a:t>
            </a:r>
          </a:p>
          <a:p>
            <a:r>
              <a:rPr lang="en-US" sz="3400" dirty="0"/>
              <a:t>Offers </a:t>
            </a:r>
            <a:r>
              <a:rPr lang="en-US" sz="3400" b="1" dirty="0"/>
              <a:t>scalability</a:t>
            </a:r>
            <a:r>
              <a:rPr lang="en-US" sz="3400" dirty="0"/>
              <a:t> — storage can increase or decrease as needed.</a:t>
            </a:r>
          </a:p>
          <a:p>
            <a:r>
              <a:rPr lang="en-US" sz="3400" dirty="0"/>
              <a:t>Ensures </a:t>
            </a:r>
            <a:r>
              <a:rPr lang="en-US" sz="3400" b="1" dirty="0"/>
              <a:t>data backup, disaster recovery</a:t>
            </a:r>
            <a:r>
              <a:rPr lang="en-US" sz="3400" dirty="0"/>
              <a:t>, and </a:t>
            </a:r>
            <a:r>
              <a:rPr lang="en-US" sz="3400" b="1" dirty="0"/>
              <a:t>automatic updates</a:t>
            </a:r>
            <a:r>
              <a:rPr lang="en-US" sz="3400" dirty="0"/>
              <a:t>.</a:t>
            </a:r>
          </a:p>
          <a:p>
            <a:r>
              <a:rPr lang="en-US" sz="3400" b="1" dirty="0"/>
              <a:t>Examples</a:t>
            </a:r>
            <a:r>
              <a:rPr lang="en-US" sz="3400" dirty="0"/>
              <a:t>: Google Drive, </a:t>
            </a:r>
            <a:r>
              <a:rPr lang="en-US" sz="3400" dirty="0" err="1"/>
              <a:t>Dropbox</a:t>
            </a:r>
            <a:r>
              <a:rPr lang="en-US" sz="3400" dirty="0"/>
              <a:t>, </a:t>
            </a:r>
            <a:r>
              <a:rPr lang="en-US" sz="3400" dirty="0" err="1"/>
              <a:t>OneDrive</a:t>
            </a:r>
            <a:r>
              <a:rPr lang="en-US" sz="3400" dirty="0"/>
              <a:t>, Amazon S3</a:t>
            </a:r>
            <a:r>
              <a:rPr lang="en-US" sz="3400" dirty="0" smtClean="0"/>
              <a:t>.</a:t>
            </a:r>
            <a:endParaRPr lang="en-US" sz="3400"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lstStyle/>
          <a:p>
            <a:r>
              <a:rPr lang="en-IN" b="1" dirty="0" smtClean="0"/>
              <a:t>Cloud Storage</a:t>
            </a:r>
            <a:endParaRPr lang="en-IN" b="1" dirty="0"/>
          </a:p>
        </p:txBody>
      </p:sp>
    </p:spTree>
    <p:extLst>
      <p:ext uri="{BB962C8B-B14F-4D97-AF65-F5344CB8AC3E}">
        <p14:creationId xmlns:p14="http://schemas.microsoft.com/office/powerpoint/2010/main" val="16950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a:bodyPr>
          <a:lstStyle/>
          <a:p>
            <a:r>
              <a:rPr lang="en-US" sz="3600" b="1" dirty="0"/>
              <a:t>Advantages:</a:t>
            </a:r>
            <a:endParaRPr lang="en-US" sz="3600" dirty="0"/>
          </a:p>
          <a:p>
            <a:pPr lvl="1"/>
            <a:r>
              <a:rPr lang="en-US" dirty="0"/>
              <a:t>No need for physical storage devices</a:t>
            </a:r>
          </a:p>
          <a:p>
            <a:pPr lvl="1"/>
            <a:r>
              <a:rPr lang="en-US" dirty="0"/>
              <a:t>Easy sharing and collaboration</a:t>
            </a:r>
          </a:p>
          <a:p>
            <a:pPr lvl="1"/>
            <a:r>
              <a:rPr lang="en-US" dirty="0"/>
              <a:t>Pay only for what you use</a:t>
            </a:r>
          </a:p>
          <a:p>
            <a:pPr lvl="1"/>
            <a:r>
              <a:rPr lang="en-US" dirty="0"/>
              <a:t>Secure and backed up regularly</a:t>
            </a:r>
          </a:p>
          <a:p>
            <a:pPr marL="0" indent="0">
              <a:buNone/>
            </a:pPr>
            <a:endParaRPr lang="en-US" sz="3400"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00465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Database</a:t>
            </a:r>
          </a:p>
        </p:txBody>
      </p:sp>
      <p:sp>
        <p:nvSpPr>
          <p:cNvPr id="3" name="Content Placeholder 2"/>
          <p:cNvSpPr>
            <a:spLocks noGrp="1"/>
          </p:cNvSpPr>
          <p:nvPr>
            <p:ph idx="1"/>
          </p:nvPr>
        </p:nvSpPr>
        <p:spPr/>
        <p:txBody>
          <a:bodyPr>
            <a:normAutofit/>
          </a:bodyPr>
          <a:lstStyle/>
          <a:p>
            <a:pPr algn="just"/>
            <a:r>
              <a:rPr lang="en-GB" sz="2800" dirty="0"/>
              <a:t>The database is a collection of inter-related data which is used to retrieve, insert and delete the data efficiently. It is also used to organize the data in the form of a table, schema, views, and reports, etc.</a:t>
            </a:r>
          </a:p>
          <a:p>
            <a:pPr algn="just"/>
            <a:r>
              <a:rPr lang="en-GB" sz="2800" b="1" dirty="0"/>
              <a:t>For example: </a:t>
            </a:r>
            <a:r>
              <a:rPr lang="en-GB" sz="2800" dirty="0"/>
              <a:t>The college Database organizes the data about the admin, staff, students and faculty etc.</a:t>
            </a:r>
          </a:p>
          <a:p>
            <a:pPr algn="just"/>
            <a:r>
              <a:rPr lang="en-GB" sz="2800" dirty="0"/>
              <a:t>Using the database, you can easily retrieve, insert, and delete the information.</a:t>
            </a:r>
            <a:endParaRPr lang="en-IN" sz="4000" dirty="0"/>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33315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24E021-2590-4027-9085-D2CCB668238F}"/>
              </a:ext>
            </a:extLst>
          </p:cNvPr>
          <p:cNvSpPr>
            <a:spLocks noGrp="1"/>
          </p:cNvSpPr>
          <p:nvPr>
            <p:ph type="title"/>
          </p:nvPr>
        </p:nvSpPr>
        <p:spPr/>
        <p:txBody>
          <a:bodyPr/>
          <a:lstStyle/>
          <a:p>
            <a:r>
              <a:rPr lang="en-IN" b="1" dirty="0"/>
              <a:t>Database Management System</a:t>
            </a:r>
          </a:p>
        </p:txBody>
      </p:sp>
      <p:sp>
        <p:nvSpPr>
          <p:cNvPr id="3" name="Content Placeholder 2">
            <a:extLst>
              <a:ext uri="{FF2B5EF4-FFF2-40B4-BE49-F238E27FC236}">
                <a16:creationId xmlns="" xmlns:a16="http://schemas.microsoft.com/office/drawing/2014/main" id="{4CDAAB96-955A-4420-BBFA-C80D860E10EF}"/>
              </a:ext>
            </a:extLst>
          </p:cNvPr>
          <p:cNvSpPr>
            <a:spLocks noGrp="1"/>
          </p:cNvSpPr>
          <p:nvPr>
            <p:ph idx="1"/>
          </p:nvPr>
        </p:nvSpPr>
        <p:spPr/>
        <p:txBody>
          <a:bodyPr>
            <a:normAutofit fontScale="85000" lnSpcReduction="10000"/>
          </a:bodyPr>
          <a:lstStyle/>
          <a:p>
            <a:pPr algn="just"/>
            <a:r>
              <a:rPr lang="en-GB" dirty="0"/>
              <a:t>Database management system is a software which is used to manage the database. For example: MySQL, Oracle, etc are a very popular commercial database which is used in different applications.</a:t>
            </a:r>
          </a:p>
          <a:p>
            <a:pPr algn="just"/>
            <a:r>
              <a:rPr lang="en-GB" dirty="0"/>
              <a:t>DBMS provides an interface to perform various operations like database creation, storing data in it, updating data, creating a table in the database and a lot more.</a:t>
            </a:r>
          </a:p>
          <a:p>
            <a:pPr algn="just"/>
            <a:r>
              <a:rPr lang="en-GB" dirty="0"/>
              <a:t>It provides protection and security to the database. In the case of multiple users, it also maintains data consistency.</a:t>
            </a:r>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00827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ED32F46-A17A-43F4-9FBC-F4FAD647B875}"/>
              </a:ext>
            </a:extLst>
          </p:cNvPr>
          <p:cNvSpPr>
            <a:spLocks noGrp="1"/>
          </p:cNvSpPr>
          <p:nvPr>
            <p:ph idx="1"/>
          </p:nvPr>
        </p:nvSpPr>
        <p:spPr/>
        <p:txBody>
          <a:bodyPr>
            <a:normAutofit fontScale="92500" lnSpcReduction="20000"/>
          </a:bodyPr>
          <a:lstStyle/>
          <a:p>
            <a:pPr algn="just"/>
            <a:r>
              <a:rPr lang="en-GB" dirty="0"/>
              <a:t>Database is a collection of related data and data is a collection of facts and figures that can be processed to produce information.</a:t>
            </a:r>
          </a:p>
          <a:p>
            <a:pPr algn="just"/>
            <a:r>
              <a:rPr lang="en-GB" dirty="0"/>
              <a:t>Mostly data represents recordable facts. Data aids in producing information, which is based on facts. For example, if we have data about marks obtained by all students, we can then conclude about toppers and average marks.</a:t>
            </a:r>
          </a:p>
          <a:p>
            <a:pPr algn="just"/>
            <a:r>
              <a:rPr lang="en-GB" dirty="0"/>
              <a:t>A database management system stores data in such a way that it becomes easier to retrieve, manipulate, and produce information.</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955427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9AF0B3-6209-4166-B945-67EC51C24C15}"/>
              </a:ext>
            </a:extLst>
          </p:cNvPr>
          <p:cNvSpPr>
            <a:spLocks noGrp="1"/>
          </p:cNvSpPr>
          <p:nvPr>
            <p:ph type="title"/>
          </p:nvPr>
        </p:nvSpPr>
        <p:spPr/>
        <p:txBody>
          <a:bodyPr/>
          <a:lstStyle/>
          <a:p>
            <a:r>
              <a:rPr lang="en-IN" b="1" dirty="0"/>
              <a:t>Characteristics of DBMS</a:t>
            </a:r>
          </a:p>
        </p:txBody>
      </p:sp>
      <p:sp>
        <p:nvSpPr>
          <p:cNvPr id="3" name="Content Placeholder 2">
            <a:extLst>
              <a:ext uri="{FF2B5EF4-FFF2-40B4-BE49-F238E27FC236}">
                <a16:creationId xmlns="" xmlns:a16="http://schemas.microsoft.com/office/drawing/2014/main" id="{03521568-DA65-4C88-B6CF-E6AC96216EF7}"/>
              </a:ext>
            </a:extLst>
          </p:cNvPr>
          <p:cNvSpPr>
            <a:spLocks noGrp="1"/>
          </p:cNvSpPr>
          <p:nvPr>
            <p:ph idx="1"/>
          </p:nvPr>
        </p:nvSpPr>
        <p:spPr/>
        <p:txBody>
          <a:bodyPr>
            <a:normAutofit fontScale="77500" lnSpcReduction="20000"/>
          </a:bodyPr>
          <a:lstStyle/>
          <a:p>
            <a:pPr algn="just"/>
            <a:r>
              <a:rPr lang="en-GB" dirty="0"/>
              <a:t>It uses a digital repository established on a server to store and manage the information.</a:t>
            </a:r>
          </a:p>
          <a:p>
            <a:pPr algn="just"/>
            <a:r>
              <a:rPr lang="en-GB" dirty="0"/>
              <a:t>It can provide a clear and logical view of the process that manipulates data.</a:t>
            </a:r>
          </a:p>
          <a:p>
            <a:pPr algn="just"/>
            <a:r>
              <a:rPr lang="en-GB" dirty="0"/>
              <a:t>DBMS contains automatic backup and recovery procedures.</a:t>
            </a:r>
          </a:p>
          <a:p>
            <a:pPr algn="just"/>
            <a:r>
              <a:rPr lang="en-GB" dirty="0"/>
              <a:t>It contains ACID properties which maintain data in a healthy state in case of failure.</a:t>
            </a:r>
          </a:p>
          <a:p>
            <a:pPr algn="just"/>
            <a:r>
              <a:rPr lang="en-GB" dirty="0"/>
              <a:t>It can reduce the complex relationship between data.</a:t>
            </a:r>
          </a:p>
          <a:p>
            <a:pPr algn="just"/>
            <a:r>
              <a:rPr lang="en-GB" dirty="0"/>
              <a:t>It is used to support manipulation and processing of data.</a:t>
            </a:r>
          </a:p>
          <a:p>
            <a:pPr algn="just"/>
            <a:r>
              <a:rPr lang="en-GB" dirty="0"/>
              <a:t>It is used to provide security of data.</a:t>
            </a:r>
          </a:p>
          <a:p>
            <a:pPr algn="just"/>
            <a:r>
              <a:rPr lang="en-GB" dirty="0"/>
              <a:t>It can view the database from different viewpoints according to the requirements of the user.</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32271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1C66C5-8AF4-4869-8AD7-3DF6F5384FA4}"/>
              </a:ext>
            </a:extLst>
          </p:cNvPr>
          <p:cNvSpPr>
            <a:spLocks noGrp="1"/>
          </p:cNvSpPr>
          <p:nvPr>
            <p:ph type="title"/>
          </p:nvPr>
        </p:nvSpPr>
        <p:spPr/>
        <p:txBody>
          <a:bodyPr/>
          <a:lstStyle/>
          <a:p>
            <a:r>
              <a:rPr lang="en-IN" b="1" dirty="0"/>
              <a:t>Advantages of DBMS</a:t>
            </a:r>
          </a:p>
        </p:txBody>
      </p:sp>
      <p:sp>
        <p:nvSpPr>
          <p:cNvPr id="3" name="Content Placeholder 2">
            <a:extLst>
              <a:ext uri="{FF2B5EF4-FFF2-40B4-BE49-F238E27FC236}">
                <a16:creationId xmlns="" xmlns:a16="http://schemas.microsoft.com/office/drawing/2014/main" id="{704B161F-C5AE-451C-8F67-D841CAEA85FA}"/>
              </a:ext>
            </a:extLst>
          </p:cNvPr>
          <p:cNvSpPr>
            <a:spLocks noGrp="1"/>
          </p:cNvSpPr>
          <p:nvPr>
            <p:ph idx="1"/>
          </p:nvPr>
        </p:nvSpPr>
        <p:spPr/>
        <p:txBody>
          <a:bodyPr>
            <a:normAutofit fontScale="70000" lnSpcReduction="20000"/>
          </a:bodyPr>
          <a:lstStyle/>
          <a:p>
            <a:pPr algn="just"/>
            <a:r>
              <a:rPr lang="en-GB" b="1" dirty="0"/>
              <a:t>Controls database redundancy: </a:t>
            </a:r>
            <a:r>
              <a:rPr lang="en-GB" dirty="0"/>
              <a:t>It can control data redundancy because it stores all the data in one single database file and that recorded data is placed in the database.</a:t>
            </a:r>
          </a:p>
          <a:p>
            <a:pPr algn="just"/>
            <a:r>
              <a:rPr lang="en-GB" b="1" dirty="0"/>
              <a:t>Data sharing: </a:t>
            </a:r>
            <a:r>
              <a:rPr lang="en-GB" dirty="0"/>
              <a:t>In DBMS, the authorized users of an organization can share the data among multiple users.</a:t>
            </a:r>
          </a:p>
          <a:p>
            <a:pPr algn="just"/>
            <a:r>
              <a:rPr lang="en-GB" b="1" dirty="0"/>
              <a:t>Easily Maintenance: </a:t>
            </a:r>
            <a:r>
              <a:rPr lang="en-GB" dirty="0"/>
              <a:t>It can be easily maintainable due to the centralized nature of the database system.</a:t>
            </a:r>
          </a:p>
          <a:p>
            <a:pPr algn="just"/>
            <a:r>
              <a:rPr lang="en-GB" b="1" dirty="0"/>
              <a:t>Reduce time: </a:t>
            </a:r>
            <a:r>
              <a:rPr lang="en-GB" dirty="0"/>
              <a:t>It reduces development time and maintenance need.</a:t>
            </a:r>
          </a:p>
          <a:p>
            <a:pPr algn="just"/>
            <a:r>
              <a:rPr lang="en-GB" b="1" dirty="0"/>
              <a:t>Backup: </a:t>
            </a:r>
            <a:r>
              <a:rPr lang="en-GB" dirty="0"/>
              <a:t>It provides backup and recovery subsystems which create automatic backup of data from hardware and software failures and restores the data if required.</a:t>
            </a:r>
          </a:p>
          <a:p>
            <a:pPr algn="just"/>
            <a:r>
              <a:rPr lang="en-GB" b="1" dirty="0"/>
              <a:t>Multiple User Interface: </a:t>
            </a:r>
            <a:r>
              <a:rPr lang="en-GB" dirty="0"/>
              <a:t>It provides different types of user interfaces like graphical user interfaces, application program interfaces.</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192054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60826B-5616-4B43-85A6-900339FDD0D8}"/>
              </a:ext>
            </a:extLst>
          </p:cNvPr>
          <p:cNvSpPr>
            <a:spLocks noGrp="1"/>
          </p:cNvSpPr>
          <p:nvPr>
            <p:ph type="title"/>
          </p:nvPr>
        </p:nvSpPr>
        <p:spPr/>
        <p:txBody>
          <a:bodyPr/>
          <a:lstStyle/>
          <a:p>
            <a:r>
              <a:rPr lang="en-IN" b="1" dirty="0"/>
              <a:t>Disadvantages of DBMS</a:t>
            </a:r>
          </a:p>
        </p:txBody>
      </p:sp>
      <p:sp>
        <p:nvSpPr>
          <p:cNvPr id="3" name="Content Placeholder 2">
            <a:extLst>
              <a:ext uri="{FF2B5EF4-FFF2-40B4-BE49-F238E27FC236}">
                <a16:creationId xmlns="" xmlns:a16="http://schemas.microsoft.com/office/drawing/2014/main" id="{CAA8FB72-B31C-4B0E-ADB0-7C083265AC49}"/>
              </a:ext>
            </a:extLst>
          </p:cNvPr>
          <p:cNvSpPr>
            <a:spLocks noGrp="1"/>
          </p:cNvSpPr>
          <p:nvPr>
            <p:ph idx="1"/>
          </p:nvPr>
        </p:nvSpPr>
        <p:spPr/>
        <p:txBody>
          <a:bodyPr>
            <a:normAutofit fontScale="85000" lnSpcReduction="20000"/>
          </a:bodyPr>
          <a:lstStyle/>
          <a:p>
            <a:pPr algn="just"/>
            <a:r>
              <a:rPr lang="en-GB" b="1" dirty="0"/>
              <a:t>Cost of Hardware and Software: </a:t>
            </a:r>
            <a:r>
              <a:rPr lang="en-GB" dirty="0"/>
              <a:t>It requires a high speed of data processor and large memory size to run DBMS software.</a:t>
            </a:r>
          </a:p>
          <a:p>
            <a:pPr algn="just"/>
            <a:r>
              <a:rPr lang="en-GB" b="1" dirty="0"/>
              <a:t>Size: </a:t>
            </a:r>
            <a:r>
              <a:rPr lang="en-GB" dirty="0"/>
              <a:t>It occupies a large space of disks and large memory to run them efficiently.</a:t>
            </a:r>
          </a:p>
          <a:p>
            <a:pPr algn="just"/>
            <a:r>
              <a:rPr lang="en-GB" b="1" dirty="0"/>
              <a:t>Complexity: </a:t>
            </a:r>
            <a:r>
              <a:rPr lang="en-GB" dirty="0"/>
              <a:t>Database system creates additional complexity and requirements.</a:t>
            </a:r>
          </a:p>
          <a:p>
            <a:pPr algn="just"/>
            <a:r>
              <a:rPr lang="en-GB" b="1" dirty="0"/>
              <a:t>Higher impact of failure: </a:t>
            </a:r>
            <a:r>
              <a:rPr lang="en-GB" dirty="0"/>
              <a:t>Failure is highly impacted the database because in most of the organization, all the data stored in a single database and if the database is damaged due to electric failure or database corruption then the data may be lost forever.</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570316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D360B-B4C3-41A5-9229-B2F26DA6C910}"/>
              </a:ext>
            </a:extLst>
          </p:cNvPr>
          <p:cNvSpPr>
            <a:spLocks noGrp="1"/>
          </p:cNvSpPr>
          <p:nvPr>
            <p:ph type="title"/>
          </p:nvPr>
        </p:nvSpPr>
        <p:spPr/>
        <p:txBody>
          <a:bodyPr/>
          <a:lstStyle/>
          <a:p>
            <a:r>
              <a:rPr lang="en-GB" b="1" dirty="0"/>
              <a:t>Components of DBMS</a:t>
            </a:r>
            <a:endParaRPr lang="en-IN" b="1" dirty="0"/>
          </a:p>
        </p:txBody>
      </p:sp>
      <p:pic>
        <p:nvPicPr>
          <p:cNvPr id="5" name="Content Placeholder 4" descr="Graphical user interface, text, application&#10;&#10;Description automatically generated">
            <a:extLst>
              <a:ext uri="{FF2B5EF4-FFF2-40B4-BE49-F238E27FC236}">
                <a16:creationId xmlns="" xmlns:a16="http://schemas.microsoft.com/office/drawing/2014/main" id="{FEB11372-F3F9-4C06-9A1C-49D03D161C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7467600" cy="4724400"/>
          </a:xfrm>
        </p:spPr>
      </p:pic>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3"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4"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5" cstate="print"/>
            <a:stretch>
              <a:fillRect/>
            </a:stretch>
          </p:blipFill>
          <p:spPr>
            <a:xfrm>
              <a:off x="1386840" y="1322832"/>
              <a:ext cx="132587" cy="173736"/>
            </a:xfrm>
            <a:prstGeom prst="rect">
              <a:avLst/>
            </a:prstGeom>
          </p:spPr>
        </p:pic>
      </p:grpSp>
      <p:pic>
        <p:nvPicPr>
          <p:cNvPr id="20" name="object 18"/>
          <p:cNvPicPr/>
          <p:nvPr/>
        </p:nvPicPr>
        <p:blipFill>
          <a:blip r:embed="rId6" cstate="print"/>
          <a:stretch>
            <a:fillRect/>
          </a:stretch>
        </p:blipFill>
        <p:spPr>
          <a:xfrm>
            <a:off x="246611" y="1307951"/>
            <a:ext cx="381000" cy="368449"/>
          </a:xfrm>
          <a:prstGeom prst="rect">
            <a:avLst/>
          </a:prstGeom>
        </p:spPr>
      </p:pic>
      <p:sp>
        <p:nvSpPr>
          <p:cNvPr id="21" name="object 2"/>
          <p:cNvSpPr/>
          <p:nvPr/>
        </p:nvSpPr>
        <p:spPr>
          <a:xfrm>
            <a:off x="0" y="64187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4166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934251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application, Word&#10;&#10;Description automatically generated">
            <a:extLst>
              <a:ext uri="{FF2B5EF4-FFF2-40B4-BE49-F238E27FC236}">
                <a16:creationId xmlns="" xmlns:a16="http://schemas.microsoft.com/office/drawing/2014/main" id="{A2DE26C9-C183-4AA9-8A26-783607EF1B2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35249"/>
            <a:ext cx="8007408" cy="5041751"/>
          </a:xfrm>
        </p:spPr>
      </p:pic>
      <p:sp>
        <p:nvSpPr>
          <p:cNvPr id="20" name="object 3"/>
          <p:cNvSpPr/>
          <p:nvPr/>
        </p:nvSpPr>
        <p:spPr>
          <a:xfrm>
            <a:off x="1558636" y="1252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1" name="object 4"/>
          <p:cNvSpPr/>
          <p:nvPr/>
        </p:nvSpPr>
        <p:spPr>
          <a:xfrm>
            <a:off x="8345979" y="1106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2" name="object 5"/>
          <p:cNvSpPr/>
          <p:nvPr/>
        </p:nvSpPr>
        <p:spPr>
          <a:xfrm>
            <a:off x="8607830" y="1068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3" name="object 6"/>
          <p:cNvGrpSpPr/>
          <p:nvPr/>
        </p:nvGrpSpPr>
        <p:grpSpPr>
          <a:xfrm>
            <a:off x="7766858" y="1103107"/>
            <a:ext cx="594591" cy="234203"/>
            <a:chOff x="8543544" y="1245108"/>
            <a:chExt cx="654050" cy="265430"/>
          </a:xfrm>
        </p:grpSpPr>
        <p:sp>
          <p:nvSpPr>
            <p:cNvPr id="24"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5" name="object 8"/>
            <p:cNvPicPr/>
            <p:nvPr/>
          </p:nvPicPr>
          <p:blipFill>
            <a:blip r:embed="rId3" cstate="print"/>
            <a:stretch>
              <a:fillRect/>
            </a:stretch>
          </p:blipFill>
          <p:spPr>
            <a:xfrm>
              <a:off x="8543544" y="1345692"/>
              <a:ext cx="370331" cy="158495"/>
            </a:xfrm>
            <a:prstGeom prst="rect">
              <a:avLst/>
            </a:prstGeom>
          </p:spPr>
        </p:pic>
      </p:grpSp>
      <p:grpSp>
        <p:nvGrpSpPr>
          <p:cNvPr id="26" name="object 9"/>
          <p:cNvGrpSpPr/>
          <p:nvPr/>
        </p:nvGrpSpPr>
        <p:grpSpPr>
          <a:xfrm>
            <a:off x="680258" y="1136276"/>
            <a:ext cx="753918" cy="228040"/>
            <a:chOff x="748284" y="1282700"/>
            <a:chExt cx="829310" cy="258445"/>
          </a:xfrm>
        </p:grpSpPr>
        <p:sp>
          <p:nvSpPr>
            <p:cNvPr id="27"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8"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9"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0"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1" name="object 14"/>
            <p:cNvPicPr/>
            <p:nvPr/>
          </p:nvPicPr>
          <p:blipFill>
            <a:blip r:embed="rId4" cstate="print"/>
            <a:stretch>
              <a:fillRect/>
            </a:stretch>
          </p:blipFill>
          <p:spPr>
            <a:xfrm>
              <a:off x="1100328" y="1321308"/>
              <a:ext cx="111252" cy="172212"/>
            </a:xfrm>
            <a:prstGeom prst="rect">
              <a:avLst/>
            </a:prstGeom>
          </p:spPr>
        </p:pic>
        <p:sp>
          <p:nvSpPr>
            <p:cNvPr id="32"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3"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4" name="object 17"/>
            <p:cNvPicPr/>
            <p:nvPr/>
          </p:nvPicPr>
          <p:blipFill>
            <a:blip r:embed="rId5" cstate="print"/>
            <a:stretch>
              <a:fillRect/>
            </a:stretch>
          </p:blipFill>
          <p:spPr>
            <a:xfrm>
              <a:off x="1386840" y="1322832"/>
              <a:ext cx="132587" cy="173736"/>
            </a:xfrm>
            <a:prstGeom prst="rect">
              <a:avLst/>
            </a:prstGeom>
          </p:spPr>
        </p:pic>
      </p:grpSp>
      <p:pic>
        <p:nvPicPr>
          <p:cNvPr id="35" name="object 18"/>
          <p:cNvPicPr/>
          <p:nvPr/>
        </p:nvPicPr>
        <p:blipFill>
          <a:blip r:embed="rId6" cstate="print"/>
          <a:stretch>
            <a:fillRect/>
          </a:stretch>
        </p:blipFill>
        <p:spPr>
          <a:xfrm>
            <a:off x="246611" y="1066800"/>
            <a:ext cx="381000" cy="368449"/>
          </a:xfrm>
          <a:prstGeom prst="rect">
            <a:avLst/>
          </a:prstGeom>
        </p:spPr>
      </p:pic>
      <p:sp>
        <p:nvSpPr>
          <p:cNvPr id="37"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942859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F83F8B-0BD4-415C-B23B-A93B34AAF073}"/>
              </a:ext>
            </a:extLst>
          </p:cNvPr>
          <p:cNvSpPr>
            <a:spLocks noGrp="1"/>
          </p:cNvSpPr>
          <p:nvPr>
            <p:ph type="title"/>
          </p:nvPr>
        </p:nvSpPr>
        <p:spPr/>
        <p:txBody>
          <a:bodyPr/>
          <a:lstStyle/>
          <a:p>
            <a:r>
              <a:rPr lang="en-IN" b="1" dirty="0"/>
              <a:t>Data Independence</a:t>
            </a:r>
          </a:p>
        </p:txBody>
      </p:sp>
      <p:sp>
        <p:nvSpPr>
          <p:cNvPr id="3" name="Content Placeholder 2">
            <a:extLst>
              <a:ext uri="{FF2B5EF4-FFF2-40B4-BE49-F238E27FC236}">
                <a16:creationId xmlns="" xmlns:a16="http://schemas.microsoft.com/office/drawing/2014/main" id="{499E46C9-DC18-40EE-AE7A-3FF7C6211533}"/>
              </a:ext>
            </a:extLst>
          </p:cNvPr>
          <p:cNvSpPr>
            <a:spLocks noGrp="1"/>
          </p:cNvSpPr>
          <p:nvPr>
            <p:ph idx="1"/>
          </p:nvPr>
        </p:nvSpPr>
        <p:spPr/>
        <p:txBody>
          <a:bodyPr>
            <a:normAutofit fontScale="92500" lnSpcReduction="10000"/>
          </a:bodyPr>
          <a:lstStyle/>
          <a:p>
            <a:pPr algn="just"/>
            <a:r>
              <a:rPr lang="en-GB" dirty="0"/>
              <a:t>A database system normally contains a lot of data in addition to users’ data. For example, it stores data about data, known as metadata, to locate and retrieve data easily. It is rather difficult to modify or update a set of metadata once it is stored in the database. </a:t>
            </a:r>
          </a:p>
          <a:p>
            <a:pPr algn="just"/>
            <a:r>
              <a:rPr lang="en-GB" dirty="0"/>
              <a:t>But as a DBMS expands, it needs to change over time to satisfy the requirements of the users. If the entire data is dependent, it would become a tedious and highly complex job.</a:t>
            </a:r>
            <a:endParaRPr lang="en-IN" dirty="0"/>
          </a:p>
        </p:txBody>
      </p:sp>
      <p:sp>
        <p:nvSpPr>
          <p:cNvPr id="4" name="object 3"/>
          <p:cNvSpPr/>
          <p:nvPr/>
        </p:nvSpPr>
        <p:spPr>
          <a:xfrm>
            <a:off x="1558636" y="14047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593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205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55507"/>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288676"/>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19200"/>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20501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FAB113-F19C-4A00-8346-3BD813A4A599}"/>
              </a:ext>
            </a:extLst>
          </p:cNvPr>
          <p:cNvSpPr>
            <a:spLocks noGrp="1"/>
          </p:cNvSpPr>
          <p:nvPr>
            <p:ph type="title"/>
          </p:nvPr>
        </p:nvSpPr>
        <p:spPr/>
        <p:txBody>
          <a:bodyPr/>
          <a:lstStyle/>
          <a:p>
            <a:r>
              <a:rPr lang="en-IN" b="1" dirty="0"/>
              <a:t>Logical Data Independence</a:t>
            </a:r>
          </a:p>
        </p:txBody>
      </p:sp>
      <p:sp>
        <p:nvSpPr>
          <p:cNvPr id="3" name="Content Placeholder 2">
            <a:extLst>
              <a:ext uri="{FF2B5EF4-FFF2-40B4-BE49-F238E27FC236}">
                <a16:creationId xmlns="" xmlns:a16="http://schemas.microsoft.com/office/drawing/2014/main" id="{6E3FED53-85EA-43A4-9CCF-6A0028741733}"/>
              </a:ext>
            </a:extLst>
          </p:cNvPr>
          <p:cNvSpPr>
            <a:spLocks noGrp="1"/>
          </p:cNvSpPr>
          <p:nvPr>
            <p:ph idx="1"/>
          </p:nvPr>
        </p:nvSpPr>
        <p:spPr/>
        <p:txBody>
          <a:bodyPr>
            <a:normAutofit fontScale="92500" lnSpcReduction="10000"/>
          </a:bodyPr>
          <a:lstStyle/>
          <a:p>
            <a:pPr algn="just"/>
            <a:r>
              <a:rPr lang="en-GB" dirty="0"/>
              <a:t>Logical data is data about database, that is, it stores information about how data is managed inside. For example, a table (relation) stored in the database and all its constraints, applied on that relation.</a:t>
            </a:r>
          </a:p>
          <a:p>
            <a:pPr algn="just"/>
            <a:r>
              <a:rPr lang="en-GB" dirty="0"/>
              <a:t>Logical data independence is a kind of mechanism, which liberalizes itself from actual data stored on the disk. If we do some changes on table format, it should not change the data residing on the disk.</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622889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00FDD2-333B-4003-93AB-5BF78869B8AE}"/>
              </a:ext>
            </a:extLst>
          </p:cNvPr>
          <p:cNvSpPr>
            <a:spLocks noGrp="1"/>
          </p:cNvSpPr>
          <p:nvPr>
            <p:ph type="title"/>
          </p:nvPr>
        </p:nvSpPr>
        <p:spPr/>
        <p:txBody>
          <a:bodyPr/>
          <a:lstStyle/>
          <a:p>
            <a:r>
              <a:rPr lang="en-IN" b="1" dirty="0"/>
              <a:t>Physical Data Independence</a:t>
            </a:r>
          </a:p>
        </p:txBody>
      </p:sp>
      <p:sp>
        <p:nvSpPr>
          <p:cNvPr id="3" name="Content Placeholder 2">
            <a:extLst>
              <a:ext uri="{FF2B5EF4-FFF2-40B4-BE49-F238E27FC236}">
                <a16:creationId xmlns="" xmlns:a16="http://schemas.microsoft.com/office/drawing/2014/main" id="{7CA4CCCC-8461-4623-B950-A71A8D0718F1}"/>
              </a:ext>
            </a:extLst>
          </p:cNvPr>
          <p:cNvSpPr>
            <a:spLocks noGrp="1"/>
          </p:cNvSpPr>
          <p:nvPr>
            <p:ph idx="1"/>
          </p:nvPr>
        </p:nvSpPr>
        <p:spPr/>
        <p:txBody>
          <a:bodyPr>
            <a:normAutofit fontScale="92500" lnSpcReduction="10000"/>
          </a:bodyPr>
          <a:lstStyle/>
          <a:p>
            <a:pPr algn="just"/>
            <a:r>
              <a:rPr lang="en-GB" dirty="0"/>
              <a:t>All the schemas are logical, and the actual data is stored in bit format on the disk. Physical data independence is the power to change the physical data without impacting the schema or logical data.</a:t>
            </a:r>
          </a:p>
          <a:p>
            <a:pPr algn="just"/>
            <a:r>
              <a:rPr lang="en-GB" dirty="0"/>
              <a:t>For example, in case we want to change or upgrade the storage system itself − suppose we want to replace hard-disks with SSD − it should not have any impact on the logical data or schemas.</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00213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Description automatically generated with medium confidence">
            <a:extLst>
              <a:ext uri="{FF2B5EF4-FFF2-40B4-BE49-F238E27FC236}">
                <a16:creationId xmlns="" xmlns:a16="http://schemas.microsoft.com/office/drawing/2014/main" id="{36B9952B-FCCC-4501-B50A-BE7525A97B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8314" y="1846192"/>
            <a:ext cx="4348286" cy="3487807"/>
          </a:xfrm>
        </p:spPr>
      </p:pic>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3"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4"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5" cstate="print"/>
            <a:stretch>
              <a:fillRect/>
            </a:stretch>
          </p:blipFill>
          <p:spPr>
            <a:xfrm>
              <a:off x="1386840" y="1322832"/>
              <a:ext cx="132587" cy="173736"/>
            </a:xfrm>
            <a:prstGeom prst="rect">
              <a:avLst/>
            </a:prstGeom>
          </p:spPr>
        </p:pic>
      </p:grpSp>
      <p:pic>
        <p:nvPicPr>
          <p:cNvPr id="20" name="object 18"/>
          <p:cNvPicPr/>
          <p:nvPr/>
        </p:nvPicPr>
        <p:blipFill>
          <a:blip r:embed="rId6"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883463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F8890C-3B30-42CB-814F-B5B4AB3496DD}"/>
              </a:ext>
            </a:extLst>
          </p:cNvPr>
          <p:cNvSpPr>
            <a:spLocks noGrp="1"/>
          </p:cNvSpPr>
          <p:nvPr>
            <p:ph type="title"/>
          </p:nvPr>
        </p:nvSpPr>
        <p:spPr/>
        <p:txBody>
          <a:bodyPr>
            <a:normAutofit fontScale="90000"/>
          </a:bodyPr>
          <a:lstStyle/>
          <a:p>
            <a:r>
              <a:rPr lang="en-GB" b="1" dirty="0"/>
              <a:t>Introduction to Computer Programming</a:t>
            </a:r>
            <a:endParaRPr lang="en-IN" b="1" dirty="0"/>
          </a:p>
        </p:txBody>
      </p:sp>
      <p:sp>
        <p:nvSpPr>
          <p:cNvPr id="3" name="Content Placeholder 2">
            <a:extLst>
              <a:ext uri="{FF2B5EF4-FFF2-40B4-BE49-F238E27FC236}">
                <a16:creationId xmlns="" xmlns:a16="http://schemas.microsoft.com/office/drawing/2014/main" id="{2FB889BF-C085-4578-B00A-2D009A405443}"/>
              </a:ext>
            </a:extLst>
          </p:cNvPr>
          <p:cNvSpPr>
            <a:spLocks noGrp="1"/>
          </p:cNvSpPr>
          <p:nvPr>
            <p:ph idx="1"/>
          </p:nvPr>
        </p:nvSpPr>
        <p:spPr/>
        <p:txBody>
          <a:bodyPr>
            <a:normAutofit fontScale="77500" lnSpcReduction="20000"/>
          </a:bodyPr>
          <a:lstStyle/>
          <a:p>
            <a:pPr algn="just"/>
            <a:r>
              <a:rPr lang="en-GB" dirty="0"/>
              <a:t>If you understood what a computer program is, then we will say: the act of writing computer programs is called computer programming.</a:t>
            </a:r>
          </a:p>
          <a:p>
            <a:pPr algn="just"/>
            <a:r>
              <a:rPr lang="en-GB" dirty="0"/>
              <a:t>As we mentioned earlier, there are hundreds of programming languages, which can be used to write computer programs and following are a few of them −</a:t>
            </a:r>
          </a:p>
          <a:p>
            <a:pPr lvl="1" algn="just"/>
            <a:r>
              <a:rPr lang="en-GB" dirty="0"/>
              <a:t>Java</a:t>
            </a:r>
          </a:p>
          <a:p>
            <a:pPr lvl="1" algn="just"/>
            <a:r>
              <a:rPr lang="en-GB" dirty="0"/>
              <a:t>C</a:t>
            </a:r>
          </a:p>
          <a:p>
            <a:pPr lvl="1" algn="just"/>
            <a:r>
              <a:rPr lang="en-GB" dirty="0"/>
              <a:t>C++</a:t>
            </a:r>
          </a:p>
          <a:p>
            <a:pPr lvl="1" algn="just"/>
            <a:r>
              <a:rPr lang="en-GB" dirty="0"/>
              <a:t>Python</a:t>
            </a:r>
          </a:p>
          <a:p>
            <a:pPr lvl="1" algn="just"/>
            <a:r>
              <a:rPr lang="en-GB" dirty="0"/>
              <a:t>PHP</a:t>
            </a:r>
          </a:p>
          <a:p>
            <a:pPr lvl="1" algn="just"/>
            <a:r>
              <a:rPr lang="en-GB" dirty="0"/>
              <a:t>Perl</a:t>
            </a:r>
          </a:p>
          <a:p>
            <a:pPr lvl="1" algn="just"/>
            <a:r>
              <a:rPr lang="en-GB" dirty="0"/>
              <a:t>Ruby</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26151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DDAC1C1-AA49-4ADD-A194-F058FDB9275B}"/>
              </a:ext>
            </a:extLst>
          </p:cNvPr>
          <p:cNvSpPr>
            <a:spLocks noGrp="1"/>
          </p:cNvSpPr>
          <p:nvPr>
            <p:ph idx="1"/>
          </p:nvPr>
        </p:nvSpPr>
        <p:spPr/>
        <p:txBody>
          <a:bodyPr>
            <a:normAutofit fontScale="85000" lnSpcReduction="20000"/>
          </a:bodyPr>
          <a:lstStyle/>
          <a:p>
            <a:pPr algn="just"/>
            <a:r>
              <a:rPr lang="en-GB" dirty="0"/>
              <a:t>A program is a set of instructions given to a computer to perform a specific operation. or computer is a computational device which is used to process the data under the control of a computer program. While executing the program, raw data is processed into a desired output format. These computer programs are written in a programming language which are high level languages. </a:t>
            </a:r>
          </a:p>
          <a:p>
            <a:pPr algn="just"/>
            <a:r>
              <a:rPr lang="en-GB" dirty="0"/>
              <a:t>The computer only understands binary language (the language of 0’s and 1’s) also called machine-understandable language or low-level language but the programs we are going to write are in a high-level language which is almost similar to human language.</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212461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BF949AB-C382-4687-89A0-3D7EBD4626A4}"/>
              </a:ext>
            </a:extLst>
          </p:cNvPr>
          <p:cNvSpPr>
            <a:spLocks noGrp="1"/>
          </p:cNvSpPr>
          <p:nvPr>
            <p:ph idx="1"/>
          </p:nvPr>
        </p:nvSpPr>
        <p:spPr/>
        <p:txBody>
          <a:bodyPr>
            <a:normAutofit fontScale="92500" lnSpcReduction="10000"/>
          </a:bodyPr>
          <a:lstStyle/>
          <a:p>
            <a:pPr algn="just"/>
            <a:r>
              <a:rPr lang="en-GB" dirty="0"/>
              <a:t>High level languages are nearly human languages which are more complex then the computer understandable language which are called machine language, or low level language. So after knowing the basics, we are ready to create a very simple and basic program. </a:t>
            </a:r>
          </a:p>
          <a:p>
            <a:pPr algn="just"/>
            <a:r>
              <a:rPr lang="en-GB" dirty="0"/>
              <a:t>Like we have different languages to communicate with each other, likewise, we have different languages like C, C++, C#, Java, python, etc to communicate with the computers. </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998322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C96959-734D-46B6-953B-6A450A4BB536}"/>
              </a:ext>
            </a:extLst>
          </p:cNvPr>
          <p:cNvSpPr>
            <a:spLocks noGrp="1"/>
          </p:cNvSpPr>
          <p:nvPr>
            <p:ph type="title"/>
          </p:nvPr>
        </p:nvSpPr>
        <p:spPr/>
        <p:txBody>
          <a:bodyPr/>
          <a:lstStyle/>
          <a:p>
            <a:r>
              <a:rPr lang="en-GB" b="1" dirty="0"/>
              <a:t>What is a programming language?</a:t>
            </a:r>
            <a:endParaRPr lang="en-IN" b="1" dirty="0"/>
          </a:p>
        </p:txBody>
      </p:sp>
      <p:sp>
        <p:nvSpPr>
          <p:cNvPr id="3" name="Content Placeholder 2">
            <a:extLst>
              <a:ext uri="{FF2B5EF4-FFF2-40B4-BE49-F238E27FC236}">
                <a16:creationId xmlns="" xmlns:a16="http://schemas.microsoft.com/office/drawing/2014/main" id="{D67E665D-6BCD-4DC5-9CE4-DD4F51E9B1F7}"/>
              </a:ext>
            </a:extLst>
          </p:cNvPr>
          <p:cNvSpPr>
            <a:spLocks noGrp="1"/>
          </p:cNvSpPr>
          <p:nvPr>
            <p:ph idx="1"/>
          </p:nvPr>
        </p:nvSpPr>
        <p:spPr/>
        <p:txBody>
          <a:bodyPr>
            <a:normAutofit fontScale="85000" lnSpcReduction="10000"/>
          </a:bodyPr>
          <a:lstStyle/>
          <a:p>
            <a:pPr algn="just"/>
            <a:r>
              <a:rPr lang="en-GB" dirty="0"/>
              <a:t>A programming language defines a set of instructions that are compiled together to perform a specific task by the CPU (Central Processing Unit). The programming language mainly refers to high-level languages such as C, C++, Pascal, Ada, COBOL, etc.</a:t>
            </a:r>
          </a:p>
          <a:p>
            <a:pPr algn="just"/>
            <a:r>
              <a:rPr lang="en-GB" dirty="0"/>
              <a:t>The image which is given below describes the abstraction level from hardware. As we can observe from the below image that the machine language provides no abstraction, assembly language provides less abstraction whereas high-level language provides a higher level of abstraction.</a:t>
            </a:r>
          </a:p>
          <a:p>
            <a:pPr algn="just"/>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568034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lassification of Programming Language">
            <a:extLst>
              <a:ext uri="{FF2B5EF4-FFF2-40B4-BE49-F238E27FC236}">
                <a16:creationId xmlns="" xmlns:a16="http://schemas.microsoft.com/office/drawing/2014/main" id="{AEDDAAB3-8BB5-4D68-A381-EEC520A128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126198" y="1600200"/>
            <a:ext cx="4839393" cy="42672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163101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BE2A015-422F-4750-99F3-73A0780CF891}"/>
              </a:ext>
            </a:extLst>
          </p:cNvPr>
          <p:cNvSpPr>
            <a:spLocks noGrp="1"/>
          </p:cNvSpPr>
          <p:nvPr>
            <p:ph idx="1"/>
          </p:nvPr>
        </p:nvSpPr>
        <p:spPr/>
        <p:txBody>
          <a:bodyPr>
            <a:normAutofit fontScale="85000" lnSpcReduction="20000"/>
          </a:bodyPr>
          <a:lstStyle/>
          <a:p>
            <a:pPr algn="just"/>
            <a:r>
              <a:rPr lang="en-GB" dirty="0"/>
              <a:t>Each programming language contains a unique set of keywords and syntax, which are used to create a set of instructions. Thousands of programming languages have been developed till now, but each language has its specific purpose. These languages vary in the level of abstraction they provide from the hardware. Some programming languages provide less or no abstraction while some provide higher abstraction. Based on the levels of abstraction, they can be classified into two categories:</a:t>
            </a:r>
          </a:p>
          <a:p>
            <a:pPr lvl="1" algn="just"/>
            <a:r>
              <a:rPr lang="en-GB" dirty="0"/>
              <a:t>Low-level language</a:t>
            </a:r>
          </a:p>
          <a:p>
            <a:pPr lvl="1" algn="just"/>
            <a:r>
              <a:rPr lang="en-GB" dirty="0"/>
              <a:t>High-level language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6314243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1EE587-24A9-4450-94F3-9AD40FCB7B54}"/>
              </a:ext>
            </a:extLst>
          </p:cNvPr>
          <p:cNvSpPr>
            <a:spLocks noGrp="1"/>
          </p:cNvSpPr>
          <p:nvPr>
            <p:ph type="title"/>
          </p:nvPr>
        </p:nvSpPr>
        <p:spPr/>
        <p:txBody>
          <a:bodyPr/>
          <a:lstStyle/>
          <a:p>
            <a:r>
              <a:rPr lang="en-GB" b="1" dirty="0"/>
              <a:t>Low-level language</a:t>
            </a:r>
            <a:endParaRPr lang="en-IN" b="1" dirty="0"/>
          </a:p>
        </p:txBody>
      </p:sp>
      <p:sp>
        <p:nvSpPr>
          <p:cNvPr id="3" name="Content Placeholder 2">
            <a:extLst>
              <a:ext uri="{FF2B5EF4-FFF2-40B4-BE49-F238E27FC236}">
                <a16:creationId xmlns="" xmlns:a16="http://schemas.microsoft.com/office/drawing/2014/main" id="{F6E8EAB7-F77C-4814-94A0-4C26A0AAA23B}"/>
              </a:ext>
            </a:extLst>
          </p:cNvPr>
          <p:cNvSpPr>
            <a:spLocks noGrp="1"/>
          </p:cNvSpPr>
          <p:nvPr>
            <p:ph idx="1"/>
          </p:nvPr>
        </p:nvSpPr>
        <p:spPr/>
        <p:txBody>
          <a:bodyPr/>
          <a:lstStyle/>
          <a:p>
            <a:pPr algn="just"/>
            <a:r>
              <a:rPr lang="en-GB" dirty="0"/>
              <a:t>The low-level language is a programming language that provides no abstraction from the hardware, and it is represented in 0 or 1 forms, which are the machine instructions. The languages that come under this category are the Machine level language and Assembly language.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016424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894B15-A8D5-4D76-ADD8-EFBF825CD909}"/>
              </a:ext>
            </a:extLst>
          </p:cNvPr>
          <p:cNvSpPr>
            <a:spLocks noGrp="1"/>
          </p:cNvSpPr>
          <p:nvPr>
            <p:ph type="title"/>
          </p:nvPr>
        </p:nvSpPr>
        <p:spPr/>
        <p:txBody>
          <a:bodyPr/>
          <a:lstStyle/>
          <a:p>
            <a:r>
              <a:rPr lang="en-GB" b="1" dirty="0"/>
              <a:t>Machine-level language</a:t>
            </a:r>
            <a:endParaRPr lang="en-IN" b="1" dirty="0"/>
          </a:p>
        </p:txBody>
      </p:sp>
      <p:sp>
        <p:nvSpPr>
          <p:cNvPr id="3" name="Content Placeholder 2">
            <a:extLst>
              <a:ext uri="{FF2B5EF4-FFF2-40B4-BE49-F238E27FC236}">
                <a16:creationId xmlns="" xmlns:a16="http://schemas.microsoft.com/office/drawing/2014/main" id="{68A5780D-C79E-4919-9503-5DD36B8A45A1}"/>
              </a:ext>
            </a:extLst>
          </p:cNvPr>
          <p:cNvSpPr>
            <a:spLocks noGrp="1"/>
          </p:cNvSpPr>
          <p:nvPr>
            <p:ph idx="1"/>
          </p:nvPr>
        </p:nvSpPr>
        <p:spPr/>
        <p:txBody>
          <a:bodyPr>
            <a:normAutofit fontScale="92500" lnSpcReduction="20000"/>
          </a:bodyPr>
          <a:lstStyle/>
          <a:p>
            <a:pPr algn="just"/>
            <a:r>
              <a:rPr lang="en-GB" dirty="0"/>
              <a:t>The machine-level language is a language that consists of a set of instructions that are in the binary form 0 or 1. As we know that computers can understand only machine instructions, which are in binary digits, i.e., 0 and 1, so the instructions given to the computer can be only in binary codes. </a:t>
            </a:r>
          </a:p>
          <a:p>
            <a:pPr algn="just"/>
            <a:r>
              <a:rPr lang="en-GB" dirty="0"/>
              <a:t>Creating a program in a machine-level language is a very difficult task as it is not easy for the programmers to write the program in machine instructions. </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02493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739BFA-F49B-4FA7-8D5F-8619B3AEC3CC}"/>
              </a:ext>
            </a:extLst>
          </p:cNvPr>
          <p:cNvSpPr>
            <a:spLocks noGrp="1"/>
          </p:cNvSpPr>
          <p:nvPr>
            <p:ph idx="1"/>
          </p:nvPr>
        </p:nvSpPr>
        <p:spPr/>
        <p:txBody>
          <a:bodyPr/>
          <a:lstStyle/>
          <a:p>
            <a:pPr algn="just"/>
            <a:r>
              <a:rPr lang="en-GB" dirty="0"/>
              <a:t>It is error-prone as it is not easy to understand, and its maintenance is also very high. </a:t>
            </a:r>
          </a:p>
          <a:p>
            <a:pPr algn="just"/>
            <a:r>
              <a:rPr lang="en-GB" dirty="0"/>
              <a:t>A machine-level language is not portable as each computer has its machine instructions, so if we write a program in one computer will no longer be valid in another computer.</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026486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A70B49-EF3B-457D-8BDC-5DC393F89B52}"/>
              </a:ext>
            </a:extLst>
          </p:cNvPr>
          <p:cNvSpPr>
            <a:spLocks noGrp="1"/>
          </p:cNvSpPr>
          <p:nvPr>
            <p:ph type="title"/>
          </p:nvPr>
        </p:nvSpPr>
        <p:spPr/>
        <p:txBody>
          <a:bodyPr/>
          <a:lstStyle/>
          <a:p>
            <a:r>
              <a:rPr lang="en-GB" b="1" dirty="0"/>
              <a:t>Assembly Language</a:t>
            </a:r>
            <a:endParaRPr lang="en-IN" b="1" dirty="0"/>
          </a:p>
        </p:txBody>
      </p:sp>
      <p:sp>
        <p:nvSpPr>
          <p:cNvPr id="3" name="Content Placeholder 2">
            <a:extLst>
              <a:ext uri="{FF2B5EF4-FFF2-40B4-BE49-F238E27FC236}">
                <a16:creationId xmlns="" xmlns:a16="http://schemas.microsoft.com/office/drawing/2014/main" id="{9A575CBB-2F74-4D7F-A134-1128336B6CEC}"/>
              </a:ext>
            </a:extLst>
          </p:cNvPr>
          <p:cNvSpPr>
            <a:spLocks noGrp="1"/>
          </p:cNvSpPr>
          <p:nvPr>
            <p:ph idx="1"/>
          </p:nvPr>
        </p:nvSpPr>
        <p:spPr/>
        <p:txBody>
          <a:bodyPr>
            <a:normAutofit fontScale="85000" lnSpcReduction="20000"/>
          </a:bodyPr>
          <a:lstStyle/>
          <a:p>
            <a:pPr algn="just"/>
            <a:r>
              <a:rPr lang="en-GB" dirty="0"/>
              <a:t>The assembly language contains some human-readable commands such as mov, add, sub, etc. The problems which we were facing in machine-level language are reduced to some extent by using an extended form of machine-level language known as assembly language. Since assembly language instructions are written in English words like mov, add, sub, so it is easier to write and understand.</a:t>
            </a:r>
          </a:p>
          <a:p>
            <a:pPr algn="just"/>
            <a:r>
              <a:rPr lang="en-GB" dirty="0"/>
              <a:t>As we know that computers can only understand the machine-level instructions, so we require a translator that converts the assembly code into machine code. The translator used for translating the code is known as an assembler.</a:t>
            </a:r>
          </a:p>
          <a:p>
            <a:endParaRPr lang="en-GB"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5969121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74F6813-35E1-4DAF-9D21-73024C9CDC2A}"/>
              </a:ext>
            </a:extLst>
          </p:cNvPr>
          <p:cNvSpPr>
            <a:spLocks noGrp="1"/>
          </p:cNvSpPr>
          <p:nvPr>
            <p:ph idx="1"/>
          </p:nvPr>
        </p:nvSpPr>
        <p:spPr/>
        <p:txBody>
          <a:bodyPr>
            <a:normAutofit fontScale="92500" lnSpcReduction="10000"/>
          </a:bodyPr>
          <a:lstStyle/>
          <a:p>
            <a:pPr algn="just"/>
            <a:r>
              <a:rPr lang="en-GB" dirty="0"/>
              <a:t>The assembly language code is not portable because the data is stored in computer registers, and the computer has to know the different sets of registers.</a:t>
            </a:r>
          </a:p>
          <a:p>
            <a:pPr algn="just"/>
            <a:r>
              <a:rPr lang="en-GB" dirty="0"/>
              <a:t>The assembly code is not faster than machine code because the assembly language comes above the machine language in the hierarchy, so it means that assembly language has some abstraction from the hardware while machine language has zero abstraction.</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941276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ABA4E6-4191-4C20-A0FA-9E6A1968A7EC}"/>
              </a:ext>
            </a:extLst>
          </p:cNvPr>
          <p:cNvSpPr>
            <a:spLocks noGrp="1"/>
          </p:cNvSpPr>
          <p:nvPr>
            <p:ph type="title"/>
          </p:nvPr>
        </p:nvSpPr>
        <p:spPr/>
        <p:txBody>
          <a:bodyPr/>
          <a:lstStyle/>
          <a:p>
            <a:r>
              <a:rPr lang="en-GB" b="1" dirty="0"/>
              <a:t>High-Level Language</a:t>
            </a:r>
            <a:endParaRPr lang="en-IN" b="1" dirty="0"/>
          </a:p>
        </p:txBody>
      </p:sp>
      <p:sp>
        <p:nvSpPr>
          <p:cNvPr id="3" name="Content Placeholder 2">
            <a:extLst>
              <a:ext uri="{FF2B5EF4-FFF2-40B4-BE49-F238E27FC236}">
                <a16:creationId xmlns="" xmlns:a16="http://schemas.microsoft.com/office/drawing/2014/main" id="{86292A57-4883-4F7F-B111-9E5A5C5CFDB2}"/>
              </a:ext>
            </a:extLst>
          </p:cNvPr>
          <p:cNvSpPr>
            <a:spLocks noGrp="1"/>
          </p:cNvSpPr>
          <p:nvPr>
            <p:ph idx="1"/>
          </p:nvPr>
        </p:nvSpPr>
        <p:spPr/>
        <p:txBody>
          <a:bodyPr>
            <a:normAutofit fontScale="85000" lnSpcReduction="20000"/>
          </a:bodyPr>
          <a:lstStyle/>
          <a:p>
            <a:pPr algn="just"/>
            <a:r>
              <a:rPr lang="en-GB" dirty="0"/>
              <a:t>The high-level language is a programming language that allows a programmer to write the programs which are independent of a particular type of computer. The high-level languages are considered as high-level because they are closer to human languages than machine-level languages.</a:t>
            </a:r>
          </a:p>
          <a:p>
            <a:pPr algn="just"/>
            <a:r>
              <a:rPr lang="en-GB" dirty="0"/>
              <a:t>Advantages of a high-level language</a:t>
            </a:r>
          </a:p>
          <a:p>
            <a:pPr lvl="1" algn="just"/>
            <a:r>
              <a:rPr lang="en-GB" dirty="0"/>
              <a:t>The high-level language is easy to read, write, and maintain as it is written in English like words.</a:t>
            </a:r>
          </a:p>
          <a:p>
            <a:pPr lvl="1" algn="just"/>
            <a:r>
              <a:rPr lang="en-GB" dirty="0"/>
              <a:t>The high-level languages are designed to overcome the limitation of low-level language, i.e., portability. The high-level language is portable; i.e., these languages are machine-independent.</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315257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74C47F-12E7-4C18-AA4E-E376AEB42C44}"/>
              </a:ext>
            </a:extLst>
          </p:cNvPr>
          <p:cNvSpPr>
            <a:spLocks noGrp="1"/>
          </p:cNvSpPr>
          <p:nvPr>
            <p:ph type="title"/>
          </p:nvPr>
        </p:nvSpPr>
        <p:spPr/>
        <p:txBody>
          <a:bodyPr>
            <a:normAutofit fontScale="90000"/>
          </a:bodyPr>
          <a:lstStyle/>
          <a:p>
            <a:r>
              <a:rPr lang="en-GB" b="1" dirty="0"/>
              <a:t>Software Development Life Cycle (SDLC)</a:t>
            </a:r>
            <a:endParaRPr lang="en-IN" b="1" dirty="0"/>
          </a:p>
        </p:txBody>
      </p:sp>
      <p:sp>
        <p:nvSpPr>
          <p:cNvPr id="3" name="Content Placeholder 2">
            <a:extLst>
              <a:ext uri="{FF2B5EF4-FFF2-40B4-BE49-F238E27FC236}">
                <a16:creationId xmlns="" xmlns:a16="http://schemas.microsoft.com/office/drawing/2014/main" id="{8328BDE0-E939-4204-812E-2A2E09E7B171}"/>
              </a:ext>
            </a:extLst>
          </p:cNvPr>
          <p:cNvSpPr>
            <a:spLocks noGrp="1"/>
          </p:cNvSpPr>
          <p:nvPr>
            <p:ph idx="1"/>
          </p:nvPr>
        </p:nvSpPr>
        <p:spPr/>
        <p:txBody>
          <a:bodyPr>
            <a:normAutofit fontScale="77500" lnSpcReduction="20000"/>
          </a:bodyPr>
          <a:lstStyle/>
          <a:p>
            <a:pPr algn="just"/>
            <a:r>
              <a:rPr lang="en-GB" dirty="0"/>
              <a:t>Software Development Life Cycle (SDLC) is a process used by the software industry to design, develop and test high quality </a:t>
            </a:r>
            <a:r>
              <a:rPr lang="en-GB" dirty="0" err="1"/>
              <a:t>softwares</a:t>
            </a:r>
            <a:r>
              <a:rPr lang="en-GB" dirty="0"/>
              <a:t>. The SDLC aims to produce a high-quality software that meets or exceeds customer expectations, reaches completion within times and cost estimates.</a:t>
            </a:r>
          </a:p>
          <a:p>
            <a:pPr lvl="1" algn="just"/>
            <a:r>
              <a:rPr lang="en-GB" dirty="0"/>
              <a:t>SDLC is the acronym of Software Development Life Cycle.</a:t>
            </a:r>
          </a:p>
          <a:p>
            <a:pPr lvl="1" algn="just"/>
            <a:r>
              <a:rPr lang="en-GB" dirty="0"/>
              <a:t>It is also called as Software Development Process.</a:t>
            </a:r>
          </a:p>
          <a:p>
            <a:pPr lvl="1" algn="just"/>
            <a:r>
              <a:rPr lang="en-GB" dirty="0"/>
              <a:t>SDLC is a framework defining tasks performed at each step in the software development process.</a:t>
            </a:r>
          </a:p>
          <a:p>
            <a:pPr lvl="1" algn="just"/>
            <a:r>
              <a:rPr lang="en-GB" dirty="0"/>
              <a:t>ISO/IEC 12207 is an international standard for software life-cycle processes. It aims to be the standard that defines all the tasks required for developing and maintaining software.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79199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6A34C9-1AC6-49F6-B384-E8BFDA974938}"/>
              </a:ext>
            </a:extLst>
          </p:cNvPr>
          <p:cNvSpPr>
            <a:spLocks noGrp="1"/>
          </p:cNvSpPr>
          <p:nvPr>
            <p:ph type="title"/>
          </p:nvPr>
        </p:nvSpPr>
        <p:spPr/>
        <p:txBody>
          <a:bodyPr/>
          <a:lstStyle/>
          <a:p>
            <a:r>
              <a:rPr lang="en-GB" b="1" dirty="0"/>
              <a:t>What is SDLC?</a:t>
            </a:r>
            <a:endParaRPr lang="en-IN" b="1" dirty="0"/>
          </a:p>
        </p:txBody>
      </p:sp>
      <p:sp>
        <p:nvSpPr>
          <p:cNvPr id="3" name="Content Placeholder 2">
            <a:extLst>
              <a:ext uri="{FF2B5EF4-FFF2-40B4-BE49-F238E27FC236}">
                <a16:creationId xmlns="" xmlns:a16="http://schemas.microsoft.com/office/drawing/2014/main" id="{D9FEAA65-F24D-4955-B35E-92AEFB81CD21}"/>
              </a:ext>
            </a:extLst>
          </p:cNvPr>
          <p:cNvSpPr>
            <a:spLocks noGrp="1"/>
          </p:cNvSpPr>
          <p:nvPr>
            <p:ph idx="1"/>
          </p:nvPr>
        </p:nvSpPr>
        <p:spPr/>
        <p:txBody>
          <a:bodyPr>
            <a:normAutofit fontScale="92500"/>
          </a:bodyPr>
          <a:lstStyle/>
          <a:p>
            <a:pPr algn="just"/>
            <a:r>
              <a:rPr lang="en-GB" dirty="0"/>
              <a:t>SDLC is a process followed for a software project, within a software organization. It consists of a detailed plan describing how to develop, maintain, replace and alter or enhance specific software. The life cycle defines a methodology for improving the quality of software and the overall development process.</a:t>
            </a:r>
          </a:p>
          <a:p>
            <a:pPr algn="just"/>
            <a:r>
              <a:rPr lang="en-GB" dirty="0"/>
              <a:t>The following figure is a graphical representation of the various stages of a typical SDLC.</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560586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ages of SDLC">
            <a:extLst>
              <a:ext uri="{FF2B5EF4-FFF2-40B4-BE49-F238E27FC236}">
                <a16:creationId xmlns="" xmlns:a16="http://schemas.microsoft.com/office/drawing/2014/main" id="{8C679B89-A4DE-45D0-AD35-EB007840B2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38337" y="1848644"/>
            <a:ext cx="5267325" cy="4029075"/>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027370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1D436C-8182-41F9-93CB-EF6D8332E6C5}"/>
              </a:ext>
            </a:extLst>
          </p:cNvPr>
          <p:cNvSpPr>
            <a:spLocks noGrp="1"/>
          </p:cNvSpPr>
          <p:nvPr>
            <p:ph type="title"/>
          </p:nvPr>
        </p:nvSpPr>
        <p:spPr/>
        <p:txBody>
          <a:bodyPr>
            <a:normAutofit fontScale="90000"/>
          </a:bodyPr>
          <a:lstStyle/>
          <a:p>
            <a:r>
              <a:rPr lang="en-GB" b="1" dirty="0"/>
              <a:t>Stage 1: Planning and Requirement Analysis</a:t>
            </a:r>
            <a:endParaRPr lang="en-IN" b="1" dirty="0"/>
          </a:p>
        </p:txBody>
      </p:sp>
      <p:sp>
        <p:nvSpPr>
          <p:cNvPr id="3" name="Content Placeholder 2">
            <a:extLst>
              <a:ext uri="{FF2B5EF4-FFF2-40B4-BE49-F238E27FC236}">
                <a16:creationId xmlns="" xmlns:a16="http://schemas.microsoft.com/office/drawing/2014/main" id="{2B671BC6-8C01-433F-A551-AD3C64E6C91C}"/>
              </a:ext>
            </a:extLst>
          </p:cNvPr>
          <p:cNvSpPr>
            <a:spLocks noGrp="1"/>
          </p:cNvSpPr>
          <p:nvPr>
            <p:ph idx="1"/>
          </p:nvPr>
        </p:nvSpPr>
        <p:spPr/>
        <p:txBody>
          <a:bodyPr>
            <a:normAutofit/>
          </a:bodyPr>
          <a:lstStyle/>
          <a:p>
            <a:pPr algn="just"/>
            <a:r>
              <a:rPr lang="en-GB" dirty="0"/>
              <a:t>Requirement analysis is the most important and fundamental stage in SDLC. It is performed by the senior members of the team with inputs from the customer, the sales department, market surveys and domain experts in the industry. This information is then used to plan the basic project approach and to conduct product feasibility study in the economical, operational and technical areas.</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960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404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16165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C37BB28-3BB4-41EA-80E6-F4C5D871A4CF}"/>
              </a:ext>
            </a:extLst>
          </p:cNvPr>
          <p:cNvSpPr>
            <a:spLocks noGrp="1"/>
          </p:cNvSpPr>
          <p:nvPr>
            <p:ph idx="1"/>
          </p:nvPr>
        </p:nvSpPr>
        <p:spPr/>
        <p:txBody>
          <a:bodyPr/>
          <a:lstStyle/>
          <a:p>
            <a:pPr algn="just"/>
            <a:r>
              <a:rPr lang="en-GB" dirty="0"/>
              <a:t>Planning for the quality assurance requirements and identification of the risks associated with the project is also done in the planning stage. The outcome of the technical feasibility study is to define the various technical approaches that can be followed to implement the project successfully with minimum risks.</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60357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842423-9557-4AA9-932C-6EAF556E53E5}"/>
              </a:ext>
            </a:extLst>
          </p:cNvPr>
          <p:cNvSpPr>
            <a:spLocks noGrp="1"/>
          </p:cNvSpPr>
          <p:nvPr>
            <p:ph type="title"/>
          </p:nvPr>
        </p:nvSpPr>
        <p:spPr/>
        <p:txBody>
          <a:bodyPr/>
          <a:lstStyle/>
          <a:p>
            <a:r>
              <a:rPr lang="en-GB" b="1" dirty="0"/>
              <a:t>Stage 2: Defining Requirements</a:t>
            </a:r>
            <a:endParaRPr lang="en-IN" b="1" dirty="0"/>
          </a:p>
        </p:txBody>
      </p:sp>
      <p:sp>
        <p:nvSpPr>
          <p:cNvPr id="3" name="Content Placeholder 2">
            <a:extLst>
              <a:ext uri="{FF2B5EF4-FFF2-40B4-BE49-F238E27FC236}">
                <a16:creationId xmlns="" xmlns:a16="http://schemas.microsoft.com/office/drawing/2014/main" id="{56445B53-397B-419A-A51D-BDDE2EE8A7E3}"/>
              </a:ext>
            </a:extLst>
          </p:cNvPr>
          <p:cNvSpPr>
            <a:spLocks noGrp="1"/>
          </p:cNvSpPr>
          <p:nvPr>
            <p:ph idx="1"/>
          </p:nvPr>
        </p:nvSpPr>
        <p:spPr/>
        <p:txBody>
          <a:bodyPr/>
          <a:lstStyle/>
          <a:p>
            <a:pPr algn="just"/>
            <a:r>
              <a:rPr lang="en-GB" dirty="0"/>
              <a:t>Once the requirement analysis is done the next step is to clearly define and document the product requirements and get them approved from the customer or the market analysts. This is done through an SRS (Software Requirement Specification) document which consists of all the product requirements to be designed and developed during the project life cycle.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362577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E1CE6D-F86C-4891-A882-4A92989C1FAF}"/>
              </a:ext>
            </a:extLst>
          </p:cNvPr>
          <p:cNvSpPr>
            <a:spLocks noGrp="1"/>
          </p:cNvSpPr>
          <p:nvPr>
            <p:ph type="title"/>
          </p:nvPr>
        </p:nvSpPr>
        <p:spPr/>
        <p:txBody>
          <a:bodyPr>
            <a:normAutofit fontScale="90000"/>
          </a:bodyPr>
          <a:lstStyle/>
          <a:p>
            <a:r>
              <a:rPr lang="en-GB" b="1" dirty="0"/>
              <a:t>Stage 3: Designing the Product Architecture</a:t>
            </a:r>
            <a:endParaRPr lang="en-IN" b="1" dirty="0"/>
          </a:p>
        </p:txBody>
      </p:sp>
      <p:sp>
        <p:nvSpPr>
          <p:cNvPr id="3" name="Content Placeholder 2">
            <a:extLst>
              <a:ext uri="{FF2B5EF4-FFF2-40B4-BE49-F238E27FC236}">
                <a16:creationId xmlns="" xmlns:a16="http://schemas.microsoft.com/office/drawing/2014/main" id="{61D6CFB4-A3C0-4824-9273-31AA62B51C23}"/>
              </a:ext>
            </a:extLst>
          </p:cNvPr>
          <p:cNvSpPr>
            <a:spLocks noGrp="1"/>
          </p:cNvSpPr>
          <p:nvPr>
            <p:ph idx="1"/>
          </p:nvPr>
        </p:nvSpPr>
        <p:spPr/>
        <p:txBody>
          <a:bodyPr>
            <a:normAutofit fontScale="85000" lnSpcReduction="10000"/>
          </a:bodyPr>
          <a:lstStyle/>
          <a:p>
            <a:pPr algn="just"/>
            <a:r>
              <a:rPr lang="en-GB" dirty="0"/>
              <a:t>SRS is the reference for product architects to come out with the best architecture for the product to be developed. Based on the requirements specified in SRS, usually more than one design approach for the product architecture is proposed and documented in a DDS - Design Document Specification.</a:t>
            </a:r>
          </a:p>
          <a:p>
            <a:pPr algn="just"/>
            <a:r>
              <a:rPr lang="en-GB" dirty="0"/>
              <a:t>This DDS is reviewed by all the important stakeholders and based on various parameters as risk assessment, product robustness, design modularity, budget and time constraints, the best design approach is selected for the product.</a:t>
            </a:r>
          </a:p>
          <a:p>
            <a:endParaRPr lang="en-GB"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47436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1195E1A-AC46-4AC1-8A61-FC7D557E24F9}"/>
              </a:ext>
            </a:extLst>
          </p:cNvPr>
          <p:cNvSpPr>
            <a:spLocks noGrp="1"/>
          </p:cNvSpPr>
          <p:nvPr>
            <p:ph idx="1"/>
          </p:nvPr>
        </p:nvSpPr>
        <p:spPr/>
        <p:txBody>
          <a:bodyPr/>
          <a:lstStyle/>
          <a:p>
            <a:pPr algn="just"/>
            <a:r>
              <a:rPr lang="en-GB" dirty="0"/>
              <a:t>A design approach clearly defines all the architectural modules of the product along with its communication and data flow representation with the external and third party modules (if any). The internal design of all the modules of the proposed architecture should be clearly defined with the minutest of the details in DDS.</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906298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4E2850-D016-48E7-97FD-84E2DB2ADBFA}"/>
              </a:ext>
            </a:extLst>
          </p:cNvPr>
          <p:cNvSpPr>
            <a:spLocks noGrp="1"/>
          </p:cNvSpPr>
          <p:nvPr>
            <p:ph type="title"/>
          </p:nvPr>
        </p:nvSpPr>
        <p:spPr/>
        <p:txBody>
          <a:bodyPr>
            <a:normAutofit fontScale="90000"/>
          </a:bodyPr>
          <a:lstStyle/>
          <a:p>
            <a:r>
              <a:rPr lang="en-GB" b="1" dirty="0"/>
              <a:t>Stage 4: Building or Developing the Product</a:t>
            </a:r>
            <a:endParaRPr lang="en-IN" b="1" dirty="0"/>
          </a:p>
        </p:txBody>
      </p:sp>
      <p:sp>
        <p:nvSpPr>
          <p:cNvPr id="3" name="Content Placeholder 2">
            <a:extLst>
              <a:ext uri="{FF2B5EF4-FFF2-40B4-BE49-F238E27FC236}">
                <a16:creationId xmlns="" xmlns:a16="http://schemas.microsoft.com/office/drawing/2014/main" id="{1B3751BA-702E-44A0-9471-AE4CD254085D}"/>
              </a:ext>
            </a:extLst>
          </p:cNvPr>
          <p:cNvSpPr>
            <a:spLocks noGrp="1"/>
          </p:cNvSpPr>
          <p:nvPr>
            <p:ph idx="1"/>
          </p:nvPr>
        </p:nvSpPr>
        <p:spPr/>
        <p:txBody>
          <a:bodyPr>
            <a:normAutofit fontScale="85000" lnSpcReduction="20000"/>
          </a:bodyPr>
          <a:lstStyle/>
          <a:p>
            <a:pPr algn="just"/>
            <a:r>
              <a:rPr lang="en-GB" dirty="0"/>
              <a:t>In this stage of SDLC the actual development starts and the product is built. The programming code is generated as per DDS during this stage. If the design is performed in a detailed and organized manner, code generation can be accomplished without much hassle.</a:t>
            </a:r>
          </a:p>
          <a:p>
            <a:pPr algn="just"/>
            <a:r>
              <a:rPr lang="en-GB" dirty="0"/>
              <a:t>Developers must follow the coding guidelines defined by their organization and programming tools like compilers, interpreters, debuggers, etc. are used to generate the code. Different high level programming languages such as C, C++, Pascal, Java and PHP are used for coding. The programming language is chosen with respect to the type of software being developed.</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354118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A63396-C36E-4816-BDB2-4C58F7825BCD}"/>
              </a:ext>
            </a:extLst>
          </p:cNvPr>
          <p:cNvSpPr>
            <a:spLocks noGrp="1"/>
          </p:cNvSpPr>
          <p:nvPr>
            <p:ph type="title"/>
          </p:nvPr>
        </p:nvSpPr>
        <p:spPr/>
        <p:txBody>
          <a:bodyPr/>
          <a:lstStyle/>
          <a:p>
            <a:r>
              <a:rPr lang="en-GB" b="1" dirty="0"/>
              <a:t>Stage 5: Testing the Product</a:t>
            </a:r>
            <a:endParaRPr lang="en-IN" b="1" dirty="0"/>
          </a:p>
        </p:txBody>
      </p:sp>
      <p:sp>
        <p:nvSpPr>
          <p:cNvPr id="3" name="Content Placeholder 2">
            <a:extLst>
              <a:ext uri="{FF2B5EF4-FFF2-40B4-BE49-F238E27FC236}">
                <a16:creationId xmlns="" xmlns:a16="http://schemas.microsoft.com/office/drawing/2014/main" id="{9B4AC551-78F4-4271-92A5-12007830181D}"/>
              </a:ext>
            </a:extLst>
          </p:cNvPr>
          <p:cNvSpPr>
            <a:spLocks noGrp="1"/>
          </p:cNvSpPr>
          <p:nvPr>
            <p:ph idx="1"/>
          </p:nvPr>
        </p:nvSpPr>
        <p:spPr/>
        <p:txBody>
          <a:bodyPr/>
          <a:lstStyle/>
          <a:p>
            <a:pPr algn="just"/>
            <a:r>
              <a:rPr lang="en-GB" dirty="0"/>
              <a:t>This stage is usually a subset of all the stages as in the modern SDLC models, the testing activities are mostly involved in all the stages of SDLC. However, this stage refers to the testing only stage of the product where product defects are reported, tracked, fixed and retested, until the product reaches the quality standards defined in the SRS.</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522440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026D7B-6645-4827-AD5A-8FBB8E53F5A4}"/>
              </a:ext>
            </a:extLst>
          </p:cNvPr>
          <p:cNvSpPr>
            <a:spLocks noGrp="1"/>
          </p:cNvSpPr>
          <p:nvPr>
            <p:ph type="title"/>
          </p:nvPr>
        </p:nvSpPr>
        <p:spPr/>
        <p:txBody>
          <a:bodyPr>
            <a:normAutofit fontScale="90000"/>
          </a:bodyPr>
          <a:lstStyle/>
          <a:p>
            <a:r>
              <a:rPr lang="en-GB" b="1" dirty="0"/>
              <a:t>Stage 6: Deployment in the Market and Maintenance</a:t>
            </a:r>
            <a:endParaRPr lang="en-IN" b="1" dirty="0"/>
          </a:p>
        </p:txBody>
      </p:sp>
      <p:sp>
        <p:nvSpPr>
          <p:cNvPr id="3" name="Content Placeholder 2">
            <a:extLst>
              <a:ext uri="{FF2B5EF4-FFF2-40B4-BE49-F238E27FC236}">
                <a16:creationId xmlns="" xmlns:a16="http://schemas.microsoft.com/office/drawing/2014/main" id="{40A5571F-48EB-4B1E-925F-F3B4202CB262}"/>
              </a:ext>
            </a:extLst>
          </p:cNvPr>
          <p:cNvSpPr>
            <a:spLocks noGrp="1"/>
          </p:cNvSpPr>
          <p:nvPr>
            <p:ph idx="1"/>
          </p:nvPr>
        </p:nvSpPr>
        <p:spPr/>
        <p:txBody>
          <a:bodyPr>
            <a:normAutofit fontScale="85000" lnSpcReduction="20000"/>
          </a:bodyPr>
          <a:lstStyle/>
          <a:p>
            <a:pPr algn="just"/>
            <a:r>
              <a:rPr lang="en-GB" dirty="0"/>
              <a:t>Once the product is tested and ready to be deployed it is released formally in the appropriate market. Sometimes product deployment happens in stages as per the business strategy of that organization. The product may first be released in a limited segment and tested in the real business environment (UAT- User acceptance testing).</a:t>
            </a:r>
          </a:p>
          <a:p>
            <a:pPr algn="just"/>
            <a:r>
              <a:rPr lang="en-GB" dirty="0"/>
              <a:t>Then based on the feedback, the product may be released as it is or with suggested enhancements in the targeting market segment. After the product is released in the market, its maintenance is done for the existing customer base.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8636617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76DDB9-70BA-4E5B-9CF8-9988E67C52C2}"/>
              </a:ext>
            </a:extLst>
          </p:cNvPr>
          <p:cNvSpPr>
            <a:spLocks noGrp="1"/>
          </p:cNvSpPr>
          <p:nvPr>
            <p:ph type="title"/>
          </p:nvPr>
        </p:nvSpPr>
        <p:spPr/>
        <p:txBody>
          <a:bodyPr/>
          <a:lstStyle/>
          <a:p>
            <a:r>
              <a:rPr lang="en-GB" b="1" dirty="0"/>
              <a:t>SDLC Models</a:t>
            </a:r>
            <a:endParaRPr lang="en-IN" b="1" dirty="0"/>
          </a:p>
        </p:txBody>
      </p:sp>
      <p:sp>
        <p:nvSpPr>
          <p:cNvPr id="3" name="Content Placeholder 2">
            <a:extLst>
              <a:ext uri="{FF2B5EF4-FFF2-40B4-BE49-F238E27FC236}">
                <a16:creationId xmlns="" xmlns:a16="http://schemas.microsoft.com/office/drawing/2014/main" id="{FB2D5AE5-E30E-4DBD-8754-8F9DE2A51A34}"/>
              </a:ext>
            </a:extLst>
          </p:cNvPr>
          <p:cNvSpPr>
            <a:spLocks noGrp="1"/>
          </p:cNvSpPr>
          <p:nvPr>
            <p:ph idx="1"/>
          </p:nvPr>
        </p:nvSpPr>
        <p:spPr/>
        <p:txBody>
          <a:bodyPr>
            <a:normAutofit fontScale="77500" lnSpcReduction="20000"/>
          </a:bodyPr>
          <a:lstStyle/>
          <a:p>
            <a:pPr algn="just"/>
            <a:r>
              <a:rPr lang="en-GB" dirty="0"/>
              <a:t>There are various software development life cycle models defined and designed which are followed during the software development process. These models are also referred as Software Development Process Models". Each process model follows a Series of steps unique to its type to ensure success in the process of software development.</a:t>
            </a:r>
          </a:p>
          <a:p>
            <a:pPr algn="just"/>
            <a:r>
              <a:rPr lang="en-GB" dirty="0"/>
              <a:t>Following are the most important and popular SDLC models followed in the industry −</a:t>
            </a:r>
          </a:p>
          <a:p>
            <a:pPr lvl="1" algn="just"/>
            <a:r>
              <a:rPr lang="en-GB" dirty="0"/>
              <a:t>Waterfall Model</a:t>
            </a:r>
          </a:p>
          <a:p>
            <a:pPr lvl="1" algn="just"/>
            <a:r>
              <a:rPr lang="en-GB" dirty="0"/>
              <a:t>Iterative Model</a:t>
            </a:r>
          </a:p>
          <a:p>
            <a:pPr lvl="1" algn="just"/>
            <a:r>
              <a:rPr lang="en-GB" dirty="0"/>
              <a:t>Spiral Model</a:t>
            </a:r>
          </a:p>
          <a:p>
            <a:pPr lvl="1" algn="just"/>
            <a:r>
              <a:rPr lang="en-GB" dirty="0"/>
              <a:t>V-Model</a:t>
            </a:r>
          </a:p>
          <a:p>
            <a:pPr lvl="1" algn="just"/>
            <a:r>
              <a:rPr lang="en-GB" dirty="0"/>
              <a:t>Big Bang Model</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9864058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7E1734-CA5A-45B0-8510-8513E8AA9127}"/>
              </a:ext>
            </a:extLst>
          </p:cNvPr>
          <p:cNvSpPr>
            <a:spLocks noGrp="1"/>
          </p:cNvSpPr>
          <p:nvPr>
            <p:ph type="title"/>
          </p:nvPr>
        </p:nvSpPr>
        <p:spPr/>
        <p:txBody>
          <a:bodyPr/>
          <a:lstStyle/>
          <a:p>
            <a:r>
              <a:rPr lang="en-GB" b="1" dirty="0"/>
              <a:t>Web Development Languages</a:t>
            </a:r>
            <a:endParaRPr lang="en-IN" b="1" dirty="0"/>
          </a:p>
        </p:txBody>
      </p:sp>
      <p:sp>
        <p:nvSpPr>
          <p:cNvPr id="3" name="Content Placeholder 2">
            <a:extLst>
              <a:ext uri="{FF2B5EF4-FFF2-40B4-BE49-F238E27FC236}">
                <a16:creationId xmlns="" xmlns:a16="http://schemas.microsoft.com/office/drawing/2014/main" id="{B20195FF-1C82-4ADE-86AD-CE0433356851}"/>
              </a:ext>
            </a:extLst>
          </p:cNvPr>
          <p:cNvSpPr>
            <a:spLocks noGrp="1"/>
          </p:cNvSpPr>
          <p:nvPr>
            <p:ph idx="1"/>
          </p:nvPr>
        </p:nvSpPr>
        <p:spPr/>
        <p:txBody>
          <a:bodyPr>
            <a:normAutofit fontScale="92500" lnSpcReduction="20000"/>
          </a:bodyPr>
          <a:lstStyle/>
          <a:p>
            <a:pPr algn="just"/>
            <a:r>
              <a:rPr lang="en-GB" dirty="0"/>
              <a:t>There is a saying about “right tool for the right job” and it very much applies to a programming language. Not all programming languages are designed the same and that’s why they are not equally good for everything.</a:t>
            </a:r>
          </a:p>
          <a:p>
            <a:pPr algn="just"/>
            <a:r>
              <a:rPr lang="en-GB" dirty="0"/>
              <a:t>For example Java, is great for writing server-side code but I cannot use it for frontend development. There were attempts in the past in the form of writing dynamic code in Servlet and JSP using Java code but that created more problems than they solved.</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306823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D6CFA837-8571-40C8-92AB-423D3DC47148}"/>
              </a:ext>
            </a:extLst>
          </p:cNvPr>
          <p:cNvSpPr>
            <a:spLocks noGrp="1"/>
          </p:cNvSpPr>
          <p:nvPr>
            <p:ph idx="1"/>
          </p:nvPr>
        </p:nvSpPr>
        <p:spPr/>
        <p:txBody>
          <a:bodyPr/>
          <a:lstStyle/>
          <a:p>
            <a:pPr algn="just"/>
            <a:r>
              <a:rPr lang="en-GB" dirty="0"/>
              <a:t>That’s where knowing about different programming languages helps so that you can choose the perfect programming language for your job. For example, Java is best for creating backends but JavaScript is best for both frontend and backend and no surprise it is the top programming language for web development.</a:t>
            </a:r>
            <a:endParaRPr lang="en-IN" dirty="0"/>
          </a:p>
          <a:p>
            <a:endParaRPr lang="en-IN" dirty="0"/>
          </a:p>
        </p:txBody>
      </p:sp>
      <p:sp>
        <p:nvSpPr>
          <p:cNvPr id="20" name="object 3"/>
          <p:cNvSpPr/>
          <p:nvPr/>
        </p:nvSpPr>
        <p:spPr>
          <a:xfrm>
            <a:off x="1558636" y="13285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1" name="object 4"/>
          <p:cNvSpPr/>
          <p:nvPr/>
        </p:nvSpPr>
        <p:spPr>
          <a:xfrm>
            <a:off x="8345979" y="11831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2" name="object 5"/>
          <p:cNvSpPr/>
          <p:nvPr/>
        </p:nvSpPr>
        <p:spPr>
          <a:xfrm>
            <a:off x="8607830" y="11443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3" name="object 6"/>
          <p:cNvGrpSpPr/>
          <p:nvPr/>
        </p:nvGrpSpPr>
        <p:grpSpPr>
          <a:xfrm>
            <a:off x="7766858" y="1179307"/>
            <a:ext cx="594591" cy="234203"/>
            <a:chOff x="8543544" y="1245108"/>
            <a:chExt cx="654050" cy="265430"/>
          </a:xfrm>
        </p:grpSpPr>
        <p:sp>
          <p:nvSpPr>
            <p:cNvPr id="24"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5" name="object 8"/>
            <p:cNvPicPr/>
            <p:nvPr/>
          </p:nvPicPr>
          <p:blipFill>
            <a:blip r:embed="rId2" cstate="print"/>
            <a:stretch>
              <a:fillRect/>
            </a:stretch>
          </p:blipFill>
          <p:spPr>
            <a:xfrm>
              <a:off x="8543544" y="1345692"/>
              <a:ext cx="370331" cy="158495"/>
            </a:xfrm>
            <a:prstGeom prst="rect">
              <a:avLst/>
            </a:prstGeom>
          </p:spPr>
        </p:pic>
      </p:grpSp>
      <p:grpSp>
        <p:nvGrpSpPr>
          <p:cNvPr id="26" name="object 9"/>
          <p:cNvGrpSpPr/>
          <p:nvPr/>
        </p:nvGrpSpPr>
        <p:grpSpPr>
          <a:xfrm>
            <a:off x="680258" y="1212476"/>
            <a:ext cx="753918" cy="228040"/>
            <a:chOff x="748284" y="1282700"/>
            <a:chExt cx="829310" cy="258445"/>
          </a:xfrm>
        </p:grpSpPr>
        <p:sp>
          <p:nvSpPr>
            <p:cNvPr id="27"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8"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9"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0"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1" name="object 14"/>
            <p:cNvPicPr/>
            <p:nvPr/>
          </p:nvPicPr>
          <p:blipFill>
            <a:blip r:embed="rId3" cstate="print"/>
            <a:stretch>
              <a:fillRect/>
            </a:stretch>
          </p:blipFill>
          <p:spPr>
            <a:xfrm>
              <a:off x="1100328" y="1321308"/>
              <a:ext cx="111252" cy="172212"/>
            </a:xfrm>
            <a:prstGeom prst="rect">
              <a:avLst/>
            </a:prstGeom>
          </p:spPr>
        </p:pic>
        <p:sp>
          <p:nvSpPr>
            <p:cNvPr id="32"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3"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4" name="object 17"/>
            <p:cNvPicPr/>
            <p:nvPr/>
          </p:nvPicPr>
          <p:blipFill>
            <a:blip r:embed="rId4" cstate="print"/>
            <a:stretch>
              <a:fillRect/>
            </a:stretch>
          </p:blipFill>
          <p:spPr>
            <a:xfrm>
              <a:off x="1386840" y="1322832"/>
              <a:ext cx="132587" cy="173736"/>
            </a:xfrm>
            <a:prstGeom prst="rect">
              <a:avLst/>
            </a:prstGeom>
          </p:spPr>
        </p:pic>
      </p:grpSp>
      <p:pic>
        <p:nvPicPr>
          <p:cNvPr id="35" name="object 18"/>
          <p:cNvPicPr/>
          <p:nvPr/>
        </p:nvPicPr>
        <p:blipFill>
          <a:blip r:embed="rId5" cstate="print"/>
          <a:stretch>
            <a:fillRect/>
          </a:stretch>
        </p:blipFill>
        <p:spPr>
          <a:xfrm>
            <a:off x="246611" y="1143000"/>
            <a:ext cx="381000" cy="368449"/>
          </a:xfrm>
          <a:prstGeom prst="rect">
            <a:avLst/>
          </a:prstGeom>
        </p:spPr>
      </p:pic>
      <p:sp>
        <p:nvSpPr>
          <p:cNvPr id="36"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7"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0309442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B6E4FF-D6C4-4DFB-A74A-1241DEAC4DC9}"/>
              </a:ext>
            </a:extLst>
          </p:cNvPr>
          <p:cNvSpPr>
            <a:spLocks noGrp="1"/>
          </p:cNvSpPr>
          <p:nvPr>
            <p:ph type="title"/>
          </p:nvPr>
        </p:nvSpPr>
        <p:spPr/>
        <p:txBody>
          <a:bodyPr/>
          <a:lstStyle/>
          <a:p>
            <a:r>
              <a:rPr lang="en-GB" b="1" dirty="0"/>
              <a:t>1. JavaScript</a:t>
            </a:r>
            <a:endParaRPr lang="en-IN" b="1" dirty="0"/>
          </a:p>
        </p:txBody>
      </p:sp>
      <p:sp>
        <p:nvSpPr>
          <p:cNvPr id="3" name="Content Placeholder 2">
            <a:extLst>
              <a:ext uri="{FF2B5EF4-FFF2-40B4-BE49-F238E27FC236}">
                <a16:creationId xmlns="" xmlns:a16="http://schemas.microsoft.com/office/drawing/2014/main" id="{A82F74CE-7505-46FF-B8BA-B24F8B71485E}"/>
              </a:ext>
            </a:extLst>
          </p:cNvPr>
          <p:cNvSpPr>
            <a:spLocks noGrp="1"/>
          </p:cNvSpPr>
          <p:nvPr>
            <p:ph idx="1"/>
          </p:nvPr>
        </p:nvSpPr>
        <p:spPr/>
        <p:txBody>
          <a:bodyPr>
            <a:normAutofit fontScale="92500" lnSpcReduction="10000"/>
          </a:bodyPr>
          <a:lstStyle/>
          <a:p>
            <a:pPr algn="just"/>
            <a:r>
              <a:rPr lang="en-GB" dirty="0"/>
              <a:t>There is no doubt that JavaScript is the King of web development and probably the most popular language among web developers. It’s also the only language that allows you to create web applications, both frontend, and backend as well as mobile applications (React Native).</a:t>
            </a:r>
          </a:p>
          <a:p>
            <a:pPr algn="just"/>
            <a:r>
              <a:rPr lang="en-GB" dirty="0"/>
              <a:t>The strength of </a:t>
            </a:r>
            <a:r>
              <a:rPr lang="en-GB" dirty="0" err="1"/>
              <a:t>Javascript</a:t>
            </a:r>
            <a:r>
              <a:rPr lang="en-GB" dirty="0"/>
              <a:t> is not just it can run on browser and server using Nodejs but also the awesome frameworks and libraries it has for web development and app development.</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981441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B23C82F-253E-4474-BCE0-B80D6B98CC54}"/>
              </a:ext>
            </a:extLst>
          </p:cNvPr>
          <p:cNvSpPr>
            <a:spLocks noGrp="1"/>
          </p:cNvSpPr>
          <p:nvPr>
            <p:ph idx="1"/>
          </p:nvPr>
        </p:nvSpPr>
        <p:spPr/>
        <p:txBody>
          <a:bodyPr>
            <a:normAutofit fontScale="85000" lnSpcReduction="20000"/>
          </a:bodyPr>
          <a:lstStyle/>
          <a:p>
            <a:pPr algn="just"/>
            <a:r>
              <a:rPr lang="en-GB" dirty="0"/>
              <a:t>For example, you can use React.js and Angular for frontend, Nodejs for backend, and React Native for creating cross-platform (both Android and iOS) mobile apps.</a:t>
            </a:r>
            <a:endParaRPr lang="en-IN" dirty="0"/>
          </a:p>
          <a:p>
            <a:pPr algn="just"/>
            <a:r>
              <a:rPr lang="en-GB" dirty="0"/>
              <a:t>Although JavaScript is primarily a front-end language run on the browser, it can also be used on the server-side through Node.js to build scalable network applications. Node.js is compatible with Linux, SunOS, Mac OS X, and Windows.</a:t>
            </a:r>
          </a:p>
          <a:p>
            <a:pPr algn="just"/>
            <a:r>
              <a:rPr lang="en-GB" dirty="0"/>
              <a:t>Because JavaScript has a forgiving, flexible syntax and works across all major browsers, it is one of the friendliest programming languages for beginners.</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86671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2B7A48-89D6-4A1F-BB5D-9A67E24BCCA5}"/>
              </a:ext>
            </a:extLst>
          </p:cNvPr>
          <p:cNvSpPr>
            <a:spLocks noGrp="1"/>
          </p:cNvSpPr>
          <p:nvPr>
            <p:ph type="title"/>
          </p:nvPr>
        </p:nvSpPr>
        <p:spPr/>
        <p:txBody>
          <a:bodyPr/>
          <a:lstStyle/>
          <a:p>
            <a:r>
              <a:rPr lang="en-GB" b="1" dirty="0"/>
              <a:t>2. Python</a:t>
            </a:r>
            <a:endParaRPr lang="en-IN" b="1" dirty="0"/>
          </a:p>
        </p:txBody>
      </p:sp>
      <p:sp>
        <p:nvSpPr>
          <p:cNvPr id="3" name="Content Placeholder 2">
            <a:extLst>
              <a:ext uri="{FF2B5EF4-FFF2-40B4-BE49-F238E27FC236}">
                <a16:creationId xmlns="" xmlns:a16="http://schemas.microsoft.com/office/drawing/2014/main" id="{34B6FF97-C24C-4B79-8FBD-879E030CA5A5}"/>
              </a:ext>
            </a:extLst>
          </p:cNvPr>
          <p:cNvSpPr>
            <a:spLocks noGrp="1"/>
          </p:cNvSpPr>
          <p:nvPr>
            <p:ph idx="1"/>
          </p:nvPr>
        </p:nvSpPr>
        <p:spPr/>
        <p:txBody>
          <a:bodyPr>
            <a:normAutofit fontScale="92500" lnSpcReduction="20000"/>
          </a:bodyPr>
          <a:lstStyle/>
          <a:p>
            <a:pPr algn="just"/>
            <a:r>
              <a:rPr lang="en-GB" dirty="0"/>
              <a:t>Python is another language which has gained a lot of popularity in recent year. While it's not exactly new and has passed the test of time, it's probably the most versatile programming language at the moment.</a:t>
            </a:r>
          </a:p>
          <a:p>
            <a:pPr algn="just"/>
            <a:r>
              <a:rPr lang="en-GB" dirty="0"/>
              <a:t>You can use Python for web development, Data Science, Scripting, and Automation. Similar to JavaScript, Python also enjoys huge community support and has a lot of useful frameworks, libraries, and tools that can help you create a web application in quick time.</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2107619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1C6F71E-6DC2-468F-9AAA-C0E5111A8F08}"/>
              </a:ext>
            </a:extLst>
          </p:cNvPr>
          <p:cNvSpPr>
            <a:spLocks noGrp="1"/>
          </p:cNvSpPr>
          <p:nvPr>
            <p:ph idx="1"/>
          </p:nvPr>
        </p:nvSpPr>
        <p:spPr/>
        <p:txBody>
          <a:bodyPr>
            <a:normAutofit fontScale="85000" lnSpcReduction="20000"/>
          </a:bodyPr>
          <a:lstStyle/>
          <a:p>
            <a:pPr algn="just"/>
            <a:r>
              <a:rPr lang="en-GB" dirty="0"/>
              <a:t>For example, you can use Django to create full-stack web applications. If you want more control, you can also use Flask, a minimalist web development framework.</a:t>
            </a:r>
          </a:p>
          <a:p>
            <a:pPr algn="just"/>
            <a:r>
              <a:rPr lang="en-GB" dirty="0"/>
              <a:t>Python also has packages such as NumPy and SciPy that are commonly used in the fields of scientific computing, mathematics, and engineering. Other Python libraries such as TensorFlow, </a:t>
            </a:r>
            <a:r>
              <a:rPr lang="en-GB" dirty="0" err="1"/>
              <a:t>PyTorch</a:t>
            </a:r>
            <a:r>
              <a:rPr lang="en-GB" dirty="0"/>
              <a:t>, scikit-learn, and OpenCV are used to build programs in data science, machine learning, image processing, and computer vision. Python's science and data applications make it a great choice for the academically inclined.</a:t>
            </a:r>
          </a:p>
          <a:p>
            <a:pPr algn="just"/>
            <a:endParaRPr lang="en-GB"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68958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E8C9C5B-30CF-477F-9581-316A0534C30A}"/>
              </a:ext>
            </a:extLst>
          </p:cNvPr>
          <p:cNvSpPr>
            <a:spLocks noGrp="1"/>
          </p:cNvSpPr>
          <p:nvPr>
            <p:ph type="title"/>
          </p:nvPr>
        </p:nvSpPr>
        <p:spPr/>
        <p:txBody>
          <a:bodyPr/>
          <a:lstStyle/>
          <a:p>
            <a:r>
              <a:rPr lang="en-GB" b="1" dirty="0"/>
              <a:t>3. TypeScript</a:t>
            </a:r>
            <a:endParaRPr lang="en-IN" b="1" dirty="0"/>
          </a:p>
        </p:txBody>
      </p:sp>
      <p:sp>
        <p:nvSpPr>
          <p:cNvPr id="3" name="Content Placeholder 2">
            <a:extLst>
              <a:ext uri="{FF2B5EF4-FFF2-40B4-BE49-F238E27FC236}">
                <a16:creationId xmlns="" xmlns:a16="http://schemas.microsoft.com/office/drawing/2014/main" id="{3E723718-D9B2-4932-8072-0F8A7EC6FE7F}"/>
              </a:ext>
            </a:extLst>
          </p:cNvPr>
          <p:cNvSpPr>
            <a:spLocks noGrp="1"/>
          </p:cNvSpPr>
          <p:nvPr>
            <p:ph idx="1"/>
          </p:nvPr>
        </p:nvSpPr>
        <p:spPr/>
        <p:txBody>
          <a:bodyPr>
            <a:normAutofit fontScale="85000" lnSpcReduction="10000"/>
          </a:bodyPr>
          <a:lstStyle/>
          <a:p>
            <a:pPr algn="just"/>
            <a:r>
              <a:rPr lang="en-GB" dirty="0"/>
              <a:t>TypeScript is my personal </a:t>
            </a:r>
            <a:r>
              <a:rPr lang="en-GB" dirty="0" err="1"/>
              <a:t>favorite</a:t>
            </a:r>
            <a:r>
              <a:rPr lang="en-GB" dirty="0"/>
              <a:t> and a modern programming language for web development. Just like we have C and C++, TypeScript can be considered as JavaScript++ though it’s not as popular as C++.</a:t>
            </a:r>
          </a:p>
          <a:p>
            <a:pPr algn="just"/>
            <a:r>
              <a:rPr lang="en-GB" dirty="0"/>
              <a:t>The good part of TypeScript is that it adds type-safety in JavaScript code which means you can catch nasty JavaScript type-related errors in the development phase.</a:t>
            </a:r>
          </a:p>
          <a:p>
            <a:pPr algn="just"/>
            <a:r>
              <a:rPr lang="en-GB" dirty="0"/>
              <a:t>It also makes developing object-oriented code easy for JavaScript and several inbuilt debugging tools of TypeScript make web development really easy.</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740069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99A50F-9431-4691-AD0D-3355DE448484}"/>
              </a:ext>
            </a:extLst>
          </p:cNvPr>
          <p:cNvSpPr>
            <a:spLocks noGrp="1"/>
          </p:cNvSpPr>
          <p:nvPr>
            <p:ph type="title"/>
          </p:nvPr>
        </p:nvSpPr>
        <p:spPr/>
        <p:txBody>
          <a:bodyPr/>
          <a:lstStyle/>
          <a:p>
            <a:r>
              <a:rPr lang="en-GB" b="1" dirty="0" smtClean="0"/>
              <a:t>4. PHP</a:t>
            </a:r>
            <a:endParaRPr lang="en-IN" b="1" dirty="0"/>
          </a:p>
        </p:txBody>
      </p:sp>
      <p:sp>
        <p:nvSpPr>
          <p:cNvPr id="3" name="Content Placeholder 2">
            <a:extLst>
              <a:ext uri="{FF2B5EF4-FFF2-40B4-BE49-F238E27FC236}">
                <a16:creationId xmlns="" xmlns:a16="http://schemas.microsoft.com/office/drawing/2014/main" id="{F1E3F65D-93E0-409D-878B-2F10BC43D07F}"/>
              </a:ext>
            </a:extLst>
          </p:cNvPr>
          <p:cNvSpPr>
            <a:spLocks noGrp="1"/>
          </p:cNvSpPr>
          <p:nvPr>
            <p:ph idx="1"/>
          </p:nvPr>
        </p:nvSpPr>
        <p:spPr/>
        <p:txBody>
          <a:bodyPr>
            <a:normAutofit fontScale="85000" lnSpcReduction="20000"/>
          </a:bodyPr>
          <a:lstStyle/>
          <a:p>
            <a:pPr algn="just"/>
            <a:r>
              <a:rPr lang="en-GB" dirty="0"/>
              <a:t>PHP is one of the best programming languages when it comes to creating web applications.</a:t>
            </a:r>
          </a:p>
          <a:p>
            <a:pPr algn="just"/>
            <a:r>
              <a:rPr lang="en-GB" dirty="0"/>
              <a:t>It’s a dynamic, server-side scripting language that makes it really easy to create fully functional web applications. If that’s not enough, half of the internet is running on PHP’s shoulder, remember WordPress, the most popular web application software is made on PHP.</a:t>
            </a:r>
          </a:p>
          <a:p>
            <a:pPr algn="just"/>
            <a:r>
              <a:rPr lang="en-GB" dirty="0"/>
              <a:t>PHP also has frameworks like </a:t>
            </a:r>
            <a:r>
              <a:rPr lang="en-GB" dirty="0" err="1"/>
              <a:t>Laraval</a:t>
            </a:r>
            <a:r>
              <a:rPr lang="en-GB" dirty="0"/>
              <a:t>, which is both powerful and allows you to swiftly create web applications using a model–view–controller architectural pattern.</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62085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A4F18A-DD49-4F0D-A708-3BBB0F35F657}"/>
              </a:ext>
            </a:extLst>
          </p:cNvPr>
          <p:cNvSpPr>
            <a:spLocks noGrp="1"/>
          </p:cNvSpPr>
          <p:nvPr>
            <p:ph type="title"/>
          </p:nvPr>
        </p:nvSpPr>
        <p:spPr/>
        <p:txBody>
          <a:bodyPr/>
          <a:lstStyle/>
          <a:p>
            <a:r>
              <a:rPr lang="en-GB" b="1" dirty="0"/>
              <a:t>5. Ruby</a:t>
            </a:r>
            <a:endParaRPr lang="en-IN" b="1" dirty="0"/>
          </a:p>
        </p:txBody>
      </p:sp>
      <p:sp>
        <p:nvSpPr>
          <p:cNvPr id="3" name="Content Placeholder 2">
            <a:extLst>
              <a:ext uri="{FF2B5EF4-FFF2-40B4-BE49-F238E27FC236}">
                <a16:creationId xmlns="" xmlns:a16="http://schemas.microsoft.com/office/drawing/2014/main" id="{EB66BC42-B2B0-4400-A5F0-14AE56A4CD72}"/>
              </a:ext>
            </a:extLst>
          </p:cNvPr>
          <p:cNvSpPr>
            <a:spLocks noGrp="1"/>
          </p:cNvSpPr>
          <p:nvPr>
            <p:ph idx="1"/>
          </p:nvPr>
        </p:nvSpPr>
        <p:spPr/>
        <p:txBody>
          <a:bodyPr>
            <a:normAutofit fontScale="85000" lnSpcReduction="10000"/>
          </a:bodyPr>
          <a:lstStyle/>
          <a:p>
            <a:pPr algn="just"/>
            <a:r>
              <a:rPr lang="en-GB" dirty="0"/>
              <a:t>Ruby is another programming language that is really great for web development. Similar to PHP and Python, Ruby is also easy to learn and goo for beginners.</a:t>
            </a:r>
          </a:p>
          <a:p>
            <a:pPr algn="just"/>
            <a:r>
              <a:rPr lang="en-GB" dirty="0"/>
              <a:t>What makes Ruby special for web development is the Ruby on Rails framework which powers websites like </a:t>
            </a:r>
            <a:r>
              <a:rPr lang="en-GB" dirty="0" err="1"/>
              <a:t>Github</a:t>
            </a:r>
            <a:r>
              <a:rPr lang="en-GB" dirty="0"/>
              <a:t>, Shopify, Airbnb, Groupon, </a:t>
            </a:r>
            <a:r>
              <a:rPr lang="en-GB" dirty="0" err="1"/>
              <a:t>GoodReads</a:t>
            </a:r>
            <a:r>
              <a:rPr lang="en-GB" dirty="0"/>
              <a:t>, and Kickstarter.</a:t>
            </a:r>
          </a:p>
          <a:p>
            <a:pPr algn="just"/>
            <a:r>
              <a:rPr lang="en-GB" dirty="0"/>
              <a:t>If you don’t know, Rails is a model–view–controller (MVC) framework, providing default structures for a database, a web service, and web pages.</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7408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00C464C9-1F5C-4A3E-9D49-D8A42857422D}"/>
              </a:ext>
            </a:extLst>
          </p:cNvPr>
          <p:cNvSpPr>
            <a:spLocks noGrp="1"/>
          </p:cNvSpPr>
          <p:nvPr>
            <p:ph idx="1"/>
          </p:nvPr>
        </p:nvSpPr>
        <p:spPr/>
        <p:txBody>
          <a:bodyPr>
            <a:normAutofit fontScale="92500" lnSpcReduction="20000"/>
          </a:bodyPr>
          <a:lstStyle/>
          <a:p>
            <a:pPr algn="just"/>
            <a:r>
              <a:rPr lang="en-GB" dirty="0"/>
              <a:t>It encourages and facilitates the use of web standards such as JSON or XML for data transfer and HTML, CSS, and JavaScript for user interfacing</a:t>
            </a:r>
          </a:p>
          <a:p>
            <a:pPr algn="just"/>
            <a:r>
              <a:rPr lang="en-GB" dirty="0"/>
              <a:t>In addition to the active community and its straightforward syntax, Ruby is also a good language to pick up thanks to its association with great tech businesses. Twitter, Airbnb, Bloomberg, Shopify, and countless other </a:t>
            </a:r>
            <a:r>
              <a:rPr lang="en-GB" dirty="0" err="1"/>
              <a:t>startups</a:t>
            </a:r>
            <a:r>
              <a:rPr lang="en-GB" dirty="0"/>
              <a:t> have all built their websites using Ruby on Rails at some point.</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063260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6219B4-4575-4ABE-97A7-7BF62F842644}"/>
              </a:ext>
            </a:extLst>
          </p:cNvPr>
          <p:cNvSpPr>
            <a:spLocks noGrp="1"/>
          </p:cNvSpPr>
          <p:nvPr>
            <p:ph type="title"/>
          </p:nvPr>
        </p:nvSpPr>
        <p:spPr/>
        <p:txBody>
          <a:bodyPr/>
          <a:lstStyle/>
          <a:p>
            <a:r>
              <a:rPr lang="en-GB" b="1" dirty="0"/>
              <a:t>6. Go</a:t>
            </a:r>
            <a:endParaRPr lang="en-IN" b="1" dirty="0"/>
          </a:p>
        </p:txBody>
      </p:sp>
      <p:sp>
        <p:nvSpPr>
          <p:cNvPr id="3" name="Content Placeholder 2">
            <a:extLst>
              <a:ext uri="{FF2B5EF4-FFF2-40B4-BE49-F238E27FC236}">
                <a16:creationId xmlns="" xmlns:a16="http://schemas.microsoft.com/office/drawing/2014/main" id="{F65CEEE8-6D4E-4507-804F-6E54867806A9}"/>
              </a:ext>
            </a:extLst>
          </p:cNvPr>
          <p:cNvSpPr>
            <a:spLocks noGrp="1"/>
          </p:cNvSpPr>
          <p:nvPr>
            <p:ph idx="1"/>
          </p:nvPr>
        </p:nvSpPr>
        <p:spPr/>
        <p:txBody>
          <a:bodyPr>
            <a:normAutofit fontScale="85000" lnSpcReduction="20000"/>
          </a:bodyPr>
          <a:lstStyle/>
          <a:p>
            <a:pPr algn="just"/>
            <a:r>
              <a:rPr lang="en-GB" dirty="0"/>
              <a:t>One of the core languages </a:t>
            </a:r>
            <a:r>
              <a:rPr lang="en-GB" dirty="0" err="1"/>
              <a:t>favored</a:t>
            </a:r>
            <a:r>
              <a:rPr lang="en-GB" dirty="0"/>
              <a:t> by Google, Go is the little language that could. As a low-level language, Go is ideal for engineers who want to enter the field of systems programming. It encompasses much of the same functionality of C and C++ without the difficult syntax and steep learning curve. It’s the perfect language for building web servers, data pipelines, and even machine-learning packages.</a:t>
            </a:r>
          </a:p>
          <a:p>
            <a:pPr algn="just"/>
            <a:r>
              <a:rPr lang="en-GB" dirty="0"/>
              <a:t>As a compiled language, Go runs “close to the metal,” allowing for a blazing-fast runtime. It’s an open-source language, and ambitious developers can see their personal contributions adopted and enjoyed by programmers worldwide.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640838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58FCC5-05D3-4D5E-AA3A-6976305D870A}"/>
              </a:ext>
            </a:extLst>
          </p:cNvPr>
          <p:cNvSpPr>
            <a:spLocks noGrp="1"/>
          </p:cNvSpPr>
          <p:nvPr>
            <p:ph type="title"/>
          </p:nvPr>
        </p:nvSpPr>
        <p:spPr/>
        <p:txBody>
          <a:bodyPr/>
          <a:lstStyle/>
          <a:p>
            <a:r>
              <a:rPr lang="en-GB" b="1" dirty="0"/>
              <a:t>7. Swift</a:t>
            </a:r>
            <a:endParaRPr lang="en-IN" b="1" dirty="0"/>
          </a:p>
        </p:txBody>
      </p:sp>
      <p:sp>
        <p:nvSpPr>
          <p:cNvPr id="3" name="Content Placeholder 2">
            <a:extLst>
              <a:ext uri="{FF2B5EF4-FFF2-40B4-BE49-F238E27FC236}">
                <a16:creationId xmlns="" xmlns:a16="http://schemas.microsoft.com/office/drawing/2014/main" id="{79559F95-B0E5-4D56-AE12-EC310D2486AB}"/>
              </a:ext>
            </a:extLst>
          </p:cNvPr>
          <p:cNvSpPr>
            <a:spLocks noGrp="1"/>
          </p:cNvSpPr>
          <p:nvPr>
            <p:ph idx="1"/>
          </p:nvPr>
        </p:nvSpPr>
        <p:spPr/>
        <p:txBody>
          <a:bodyPr>
            <a:normAutofit fontScale="77500" lnSpcReduction="20000"/>
          </a:bodyPr>
          <a:lstStyle/>
          <a:p>
            <a:pPr algn="just"/>
            <a:r>
              <a:rPr lang="en-GB" dirty="0"/>
              <a:t>If you’re interested in Apple products and mobile app development, Swift is a good place to start. First announced by Apple in 2014, Swift is a relatively new programming language used to develop iOS and macOS applications.</a:t>
            </a:r>
          </a:p>
          <a:p>
            <a:pPr algn="just"/>
            <a:r>
              <a:rPr lang="en-GB" dirty="0"/>
              <a:t>Swift has been optimized for performance and built from the ground up to match the realities of modern iOS development. Not only does iOS run on every iPhone and iPad, but it’s also the basis for other operating systems such as </a:t>
            </a:r>
            <a:r>
              <a:rPr lang="en-GB" dirty="0" err="1"/>
              <a:t>watchOS</a:t>
            </a:r>
            <a:r>
              <a:rPr lang="en-GB" dirty="0"/>
              <a:t> (for Apple Watches) and </a:t>
            </a:r>
            <a:r>
              <a:rPr lang="en-GB" dirty="0" err="1"/>
              <a:t>tvOS</a:t>
            </a:r>
            <a:r>
              <a:rPr lang="en-GB" dirty="0"/>
              <a:t> (for Apple TVs). In addition, Apple isn't going anywhere as a tech industry leader, and iOS apps continue to be the most profitable in the mobile app marketplace.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4594198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0B81DE-EF01-41AA-AB3F-C5EAF3537094}"/>
              </a:ext>
            </a:extLst>
          </p:cNvPr>
          <p:cNvSpPr>
            <a:spLocks noGrp="1"/>
          </p:cNvSpPr>
          <p:nvPr>
            <p:ph type="title"/>
          </p:nvPr>
        </p:nvSpPr>
        <p:spPr/>
        <p:txBody>
          <a:bodyPr/>
          <a:lstStyle/>
          <a:p>
            <a:r>
              <a:rPr lang="en-GB" b="1" dirty="0"/>
              <a:t>8. Scala</a:t>
            </a:r>
            <a:endParaRPr lang="en-IN" b="1" dirty="0"/>
          </a:p>
        </p:txBody>
      </p:sp>
      <p:sp>
        <p:nvSpPr>
          <p:cNvPr id="3" name="Content Placeholder 2">
            <a:extLst>
              <a:ext uri="{FF2B5EF4-FFF2-40B4-BE49-F238E27FC236}">
                <a16:creationId xmlns="" xmlns:a16="http://schemas.microsoft.com/office/drawing/2014/main" id="{1FCDCC90-9A17-4E24-AC4C-7DD80D573F37}"/>
              </a:ext>
            </a:extLst>
          </p:cNvPr>
          <p:cNvSpPr>
            <a:spLocks noGrp="1"/>
          </p:cNvSpPr>
          <p:nvPr>
            <p:ph idx="1"/>
          </p:nvPr>
        </p:nvSpPr>
        <p:spPr/>
        <p:txBody>
          <a:bodyPr>
            <a:normAutofit fontScale="85000" lnSpcReduction="20000"/>
          </a:bodyPr>
          <a:lstStyle/>
          <a:p>
            <a:pPr algn="just"/>
            <a:r>
              <a:rPr lang="en-GB" dirty="0"/>
              <a:t>Scala combines the best features of Java (such as its Object-Oriented Structure and its lightning-fast JVM runtime environment) with a modern twist.</a:t>
            </a:r>
          </a:p>
          <a:p>
            <a:pPr algn="just"/>
            <a:r>
              <a:rPr lang="en-GB" dirty="0"/>
              <a:t>As a functional programming language, Scala allows engineers to elevate the quality of their code to resemble pure math. Scala allows for concurrent programming, allowing complex procedures to be executed in parallel. Furthermore, it is a strongly typed language. Engineers can create and customize their own data types, allowing them to have the peace of mind knowing entire swaths of bugs are impossible at runtime.</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498690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6AE397-9DD0-4967-9D3A-5B295A91854F}"/>
              </a:ext>
            </a:extLst>
          </p:cNvPr>
          <p:cNvSpPr>
            <a:spLocks noGrp="1"/>
          </p:cNvSpPr>
          <p:nvPr>
            <p:ph type="title"/>
          </p:nvPr>
        </p:nvSpPr>
        <p:spPr/>
        <p:txBody>
          <a:bodyPr/>
          <a:lstStyle/>
          <a:p>
            <a:r>
              <a:rPr lang="en-GB" b="1" dirty="0"/>
              <a:t>9. Elm</a:t>
            </a:r>
            <a:endParaRPr lang="en-IN" b="1" dirty="0"/>
          </a:p>
        </p:txBody>
      </p:sp>
      <p:sp>
        <p:nvSpPr>
          <p:cNvPr id="3" name="Content Placeholder 2">
            <a:extLst>
              <a:ext uri="{FF2B5EF4-FFF2-40B4-BE49-F238E27FC236}">
                <a16:creationId xmlns="" xmlns:a16="http://schemas.microsoft.com/office/drawing/2014/main" id="{B4829580-7CA7-4ED2-84B4-215AF715CED7}"/>
              </a:ext>
            </a:extLst>
          </p:cNvPr>
          <p:cNvSpPr>
            <a:spLocks noGrp="1"/>
          </p:cNvSpPr>
          <p:nvPr>
            <p:ph idx="1"/>
          </p:nvPr>
        </p:nvSpPr>
        <p:spPr/>
        <p:txBody>
          <a:bodyPr>
            <a:normAutofit fontScale="85000" lnSpcReduction="20000"/>
          </a:bodyPr>
          <a:lstStyle/>
          <a:p>
            <a:pPr algn="just"/>
            <a:r>
              <a:rPr lang="en-GB" dirty="0"/>
              <a:t>One of the youngest languages on our list, what began as a Harvard student’s thesis has now grown to become a point of passion for front-end developers around the world.</a:t>
            </a:r>
          </a:p>
          <a:p>
            <a:pPr algn="just"/>
            <a:r>
              <a:rPr lang="en-GB" dirty="0"/>
              <a:t>Elm compiles to JavaScript, making it ideal for building fast-executing UIs with zero errors at runtime. Elm is a functional programming language, allowing developers to create client-side interfaces without the declarative trappings of HTML and CSS.</a:t>
            </a:r>
          </a:p>
          <a:p>
            <a:pPr algn="just"/>
            <a:r>
              <a:rPr lang="en-GB" dirty="0"/>
              <a:t>Furthermore, the Elm web architecture was the intellectual inspiration for Redux, the state-management library taught here at </a:t>
            </a:r>
            <a:r>
              <a:rPr lang="en-GB" dirty="0" err="1"/>
              <a:t>Fullstack</a:t>
            </a:r>
            <a:r>
              <a:rPr lang="en-GB" dirty="0"/>
              <a:t>.</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072698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05E52F-8448-4FFB-B8E6-8494D67911FE}"/>
              </a:ext>
            </a:extLst>
          </p:cNvPr>
          <p:cNvSpPr>
            <a:spLocks noGrp="1"/>
          </p:cNvSpPr>
          <p:nvPr>
            <p:ph type="title"/>
          </p:nvPr>
        </p:nvSpPr>
        <p:spPr/>
        <p:txBody>
          <a:bodyPr/>
          <a:lstStyle/>
          <a:p>
            <a:r>
              <a:rPr lang="en-GB" b="1" dirty="0"/>
              <a:t>10. C#</a:t>
            </a:r>
            <a:endParaRPr lang="en-IN" b="1" dirty="0"/>
          </a:p>
        </p:txBody>
      </p:sp>
      <p:sp>
        <p:nvSpPr>
          <p:cNvPr id="3" name="Content Placeholder 2">
            <a:extLst>
              <a:ext uri="{FF2B5EF4-FFF2-40B4-BE49-F238E27FC236}">
                <a16:creationId xmlns="" xmlns:a16="http://schemas.microsoft.com/office/drawing/2014/main" id="{1A5B8A4E-E9D0-41C3-BBDA-C06CB6B60DE6}"/>
              </a:ext>
            </a:extLst>
          </p:cNvPr>
          <p:cNvSpPr>
            <a:spLocks noGrp="1"/>
          </p:cNvSpPr>
          <p:nvPr>
            <p:ph idx="1"/>
          </p:nvPr>
        </p:nvSpPr>
        <p:spPr/>
        <p:txBody>
          <a:bodyPr>
            <a:normAutofit fontScale="92500" lnSpcReduction="20000"/>
          </a:bodyPr>
          <a:lstStyle/>
          <a:p>
            <a:pPr algn="just"/>
            <a:r>
              <a:rPr lang="en-GB" dirty="0"/>
              <a:t>C# a general-purpose, object-oriented language built on the foundations of C. It was originally designed by Microsoft as part of its .NET framework for building Windows applications.</a:t>
            </a:r>
          </a:p>
          <a:p>
            <a:pPr algn="just"/>
            <a:r>
              <a:rPr lang="en-GB" dirty="0"/>
              <a:t>C# uses a syntax that’s similar to other C-derived languages such as C++, so it’s easy to pick up if you’re coming from another language in the C family. C# is not only the go-to for Microsoft app development, but it’s also the language mobile developers use to build cross-platform apps on the Xamarin platform.</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16674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3DB9AAF-9C72-4A71-9E2D-2751DF878998}"/>
              </a:ext>
            </a:extLst>
          </p:cNvPr>
          <p:cNvSpPr>
            <a:spLocks noGrp="1"/>
          </p:cNvSpPr>
          <p:nvPr>
            <p:ph idx="1"/>
          </p:nvPr>
        </p:nvSpPr>
        <p:spPr/>
        <p:txBody>
          <a:bodyPr/>
          <a:lstStyle/>
          <a:p>
            <a:pPr algn="just"/>
            <a:r>
              <a:rPr lang="en-GB" dirty="0"/>
              <a:t>Additionally, anyone who is interested in VR development should consider learning C#. C# is the recommended language for building 3D and 2D video games using the popular Unity game engine, which produces one-third of the top games on the market.</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9644163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827080-20CC-4AB4-B6E9-09A074C0B931}"/>
              </a:ext>
            </a:extLst>
          </p:cNvPr>
          <p:cNvSpPr>
            <a:spLocks noGrp="1"/>
          </p:cNvSpPr>
          <p:nvPr>
            <p:ph type="title"/>
          </p:nvPr>
        </p:nvSpPr>
        <p:spPr/>
        <p:txBody>
          <a:bodyPr/>
          <a:lstStyle/>
          <a:p>
            <a:r>
              <a:rPr lang="en-GB" b="1" dirty="0"/>
              <a:t>11. Rust</a:t>
            </a:r>
            <a:endParaRPr lang="en-IN" b="1" dirty="0"/>
          </a:p>
        </p:txBody>
      </p:sp>
      <p:sp>
        <p:nvSpPr>
          <p:cNvPr id="3" name="Content Placeholder 2">
            <a:extLst>
              <a:ext uri="{FF2B5EF4-FFF2-40B4-BE49-F238E27FC236}">
                <a16:creationId xmlns="" xmlns:a16="http://schemas.microsoft.com/office/drawing/2014/main" id="{DD13DBF6-7A50-4F79-AB8D-C58025C9D961}"/>
              </a:ext>
            </a:extLst>
          </p:cNvPr>
          <p:cNvSpPr>
            <a:spLocks noGrp="1"/>
          </p:cNvSpPr>
          <p:nvPr>
            <p:ph idx="1"/>
          </p:nvPr>
        </p:nvSpPr>
        <p:spPr/>
        <p:txBody>
          <a:bodyPr>
            <a:normAutofit lnSpcReduction="10000"/>
          </a:bodyPr>
          <a:lstStyle/>
          <a:p>
            <a:pPr algn="just"/>
            <a:r>
              <a:rPr lang="en-GB" dirty="0"/>
              <a:t>Rust is a bit of an upstart among the other languages on this list, but that doesn’t mean it’s not a valuable language to learn. </a:t>
            </a:r>
          </a:p>
          <a:p>
            <a:pPr algn="just"/>
            <a:r>
              <a:rPr lang="en-GB" dirty="0"/>
              <a:t>Stack Overflow’s 2020 Developer Survey found that Rust was the most loved programming language among developers for the fifth year in a row, with 86.1 percent of Rust developers saying that they want to continue working with it.</a:t>
            </a:r>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1153170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0BCFBCF-DD3F-4C37-8050-C89C123C7DEC}"/>
              </a:ext>
            </a:extLst>
          </p:cNvPr>
          <p:cNvSpPr>
            <a:spLocks noGrp="1"/>
          </p:cNvSpPr>
          <p:nvPr>
            <p:ph idx="1"/>
          </p:nvPr>
        </p:nvSpPr>
        <p:spPr/>
        <p:txBody>
          <a:bodyPr>
            <a:normAutofit lnSpcReduction="10000"/>
          </a:bodyPr>
          <a:lstStyle/>
          <a:p>
            <a:pPr algn="just"/>
            <a:r>
              <a:rPr lang="en-GB" dirty="0"/>
              <a:t>Developed by the Mozilla Corporation, Rust, like C and C++, is intended primarily for low-level systems programming. </a:t>
            </a:r>
          </a:p>
          <a:p>
            <a:pPr algn="just"/>
            <a:r>
              <a:rPr lang="en-GB" dirty="0"/>
              <a:t>What Rust adds to the mix, however, is an emphasis on speed and security. </a:t>
            </a:r>
          </a:p>
          <a:p>
            <a:pPr algn="just"/>
            <a:r>
              <a:rPr lang="en-GB" dirty="0"/>
              <a:t>Rust emphasizes writing “safe code” by preventing programs from accessing parts of memory that they shouldn’t, which can cause unexpected </a:t>
            </a:r>
            <a:r>
              <a:rPr lang="en-GB" dirty="0" err="1"/>
              <a:t>behavior</a:t>
            </a:r>
            <a:r>
              <a:rPr lang="en-GB" dirty="0"/>
              <a:t> and system crashes.</a:t>
            </a:r>
            <a:endParaRPr lang="en-IN" dirty="0"/>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51912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2362</TotalTime>
  <Words>4899</Words>
  <Application>Microsoft Office PowerPoint</Application>
  <PresentationFormat>On-screen Show (4:3)</PresentationFormat>
  <Paragraphs>313</Paragraphs>
  <Slides>66</Slides>
  <Notes>0</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PowerPoint Presentation</vt:lpstr>
      <vt:lpstr>Introduction to Cloud Computing</vt:lpstr>
      <vt:lpstr>PowerPoint Presentation</vt:lpstr>
      <vt:lpstr>Cloud Service Models</vt:lpstr>
      <vt:lpstr>PowerPoint Presentation</vt:lpstr>
      <vt:lpstr>PowerPoint Presentation</vt:lpstr>
      <vt:lpstr>PowerPoint Presentation</vt:lpstr>
      <vt:lpstr>Concept of Virtualization &amp; Virtual Servers</vt:lpstr>
      <vt:lpstr>PowerPoint Presentation</vt:lpstr>
      <vt:lpstr>What is a Virtual Server?</vt:lpstr>
      <vt:lpstr>Cloud Storage</vt:lpstr>
      <vt:lpstr>PowerPoint Presentation</vt:lpstr>
      <vt:lpstr>What is Database</vt:lpstr>
      <vt:lpstr>Database Management System</vt:lpstr>
      <vt:lpstr>PowerPoint Presentation</vt:lpstr>
      <vt:lpstr>Characteristics of DBMS</vt:lpstr>
      <vt:lpstr>Advantages of DBMS</vt:lpstr>
      <vt:lpstr>Disadvantages of DBMS</vt:lpstr>
      <vt:lpstr>Components of DBMS</vt:lpstr>
      <vt:lpstr>PowerPoint Presentation</vt:lpstr>
      <vt:lpstr>Data Independence</vt:lpstr>
      <vt:lpstr>Logical Data Independence</vt:lpstr>
      <vt:lpstr>Physical Data Independence</vt:lpstr>
      <vt:lpstr>PowerPoint Presentation</vt:lpstr>
      <vt:lpstr>Introduction to Computer Programming</vt:lpstr>
      <vt:lpstr>PowerPoint Presentation</vt:lpstr>
      <vt:lpstr>PowerPoint Presentation</vt:lpstr>
      <vt:lpstr>What is a programming language?</vt:lpstr>
      <vt:lpstr>PowerPoint Presentation</vt:lpstr>
      <vt:lpstr>PowerPoint Presentation</vt:lpstr>
      <vt:lpstr>Low-level language</vt:lpstr>
      <vt:lpstr>Machine-level language</vt:lpstr>
      <vt:lpstr>PowerPoint Presentation</vt:lpstr>
      <vt:lpstr>Assembly Language</vt:lpstr>
      <vt:lpstr>PowerPoint Presentation</vt:lpstr>
      <vt:lpstr>High-Level Language</vt:lpstr>
      <vt:lpstr>Software Development Life Cycle (SDLC)</vt:lpstr>
      <vt:lpstr>What is SDLC?</vt:lpstr>
      <vt:lpstr>PowerPoint Presentation</vt:lpstr>
      <vt:lpstr>Stage 1: Planning and Requirement Analysis</vt:lpstr>
      <vt:lpstr>PowerPoint Presentation</vt:lpstr>
      <vt:lpstr>Stage 2: Defining Requirements</vt:lpstr>
      <vt:lpstr>Stage 3: Designing the Product Architecture</vt:lpstr>
      <vt:lpstr>PowerPoint Presentation</vt:lpstr>
      <vt:lpstr>Stage 4: Building or Developing the Product</vt:lpstr>
      <vt:lpstr>Stage 5: Testing the Product</vt:lpstr>
      <vt:lpstr>Stage 6: Deployment in the Market and Maintenance</vt:lpstr>
      <vt:lpstr>SDLC Models</vt:lpstr>
      <vt:lpstr>Web Development Languages</vt:lpstr>
      <vt:lpstr>PowerPoint Presentation</vt:lpstr>
      <vt:lpstr>1. JavaScript</vt:lpstr>
      <vt:lpstr>PowerPoint Presentation</vt:lpstr>
      <vt:lpstr>2. Python</vt:lpstr>
      <vt:lpstr>PowerPoint Presentation</vt:lpstr>
      <vt:lpstr>3. TypeScript</vt:lpstr>
      <vt:lpstr>4. PHP</vt:lpstr>
      <vt:lpstr>5. Ruby</vt:lpstr>
      <vt:lpstr>PowerPoint Presentation</vt:lpstr>
      <vt:lpstr>6. Go</vt:lpstr>
      <vt:lpstr>7. Swift</vt:lpstr>
      <vt:lpstr>8. Scala</vt:lpstr>
      <vt:lpstr>9. Elm</vt:lpstr>
      <vt:lpstr>10. C#</vt:lpstr>
      <vt:lpstr>PowerPoint Presentation</vt:lpstr>
      <vt:lpstr>11. Rust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vikassingh</dc:creator>
  <cp:lastModifiedBy>Dell</cp:lastModifiedBy>
  <cp:revision>269</cp:revision>
  <dcterms:created xsi:type="dcterms:W3CDTF">2014-08-19T17:16:14Z</dcterms:created>
  <dcterms:modified xsi:type="dcterms:W3CDTF">2025-10-08T05:43:05Z</dcterms:modified>
</cp:coreProperties>
</file>