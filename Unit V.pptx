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97" r:id="rId3"/>
    <p:sldId id="433" r:id="rId4"/>
    <p:sldId id="434" r:id="rId5"/>
    <p:sldId id="435" r:id="rId6"/>
    <p:sldId id="436" r:id="rId7"/>
    <p:sldId id="437" r:id="rId8"/>
    <p:sldId id="438" r:id="rId9"/>
    <p:sldId id="439" r:id="rId10"/>
    <p:sldId id="440" r:id="rId11"/>
    <p:sldId id="441" r:id="rId12"/>
    <p:sldId id="442" r:id="rId13"/>
    <p:sldId id="432" r:id="rId14"/>
    <p:sldId id="298" r:id="rId15"/>
    <p:sldId id="299" r:id="rId16"/>
    <p:sldId id="383" r:id="rId17"/>
    <p:sldId id="384" r:id="rId18"/>
    <p:sldId id="385" r:id="rId19"/>
    <p:sldId id="386" r:id="rId20"/>
    <p:sldId id="443" r:id="rId21"/>
    <p:sldId id="444" r:id="rId22"/>
    <p:sldId id="445" r:id="rId23"/>
    <p:sldId id="446" r:id="rId24"/>
    <p:sldId id="447" r:id="rId25"/>
    <p:sldId id="448" r:id="rId26"/>
    <p:sldId id="449" r:id="rId27"/>
    <p:sldId id="450" r:id="rId28"/>
    <p:sldId id="451" r:id="rId29"/>
    <p:sldId id="452" r:id="rId30"/>
    <p:sldId id="453" r:id="rId31"/>
    <p:sldId id="454" r:id="rId32"/>
    <p:sldId id="455" r:id="rId33"/>
    <p:sldId id="456" r:id="rId34"/>
    <p:sldId id="457" r:id="rId35"/>
    <p:sldId id="458" r:id="rId36"/>
    <p:sldId id="459" r:id="rId37"/>
    <p:sldId id="460" r:id="rId38"/>
    <p:sldId id="461" r:id="rId39"/>
    <p:sldId id="462" r:id="rId40"/>
    <p:sldId id="463" r:id="rId41"/>
    <p:sldId id="464" r:id="rId42"/>
    <p:sldId id="465" r:id="rId43"/>
    <p:sldId id="466" r:id="rId44"/>
    <p:sldId id="467" r:id="rId45"/>
    <p:sldId id="468" r:id="rId46"/>
    <p:sldId id="469" r:id="rId47"/>
    <p:sldId id="470" r:id="rId48"/>
    <p:sldId id="471"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1" d="100"/>
          <a:sy n="71" d="100"/>
        </p:scale>
        <p:origin x="-1136" y="2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880855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601316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020FF2-DC22-4BDE-BBB3-08067E5C1705}"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059748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20020FF2-DC22-4BDE-BBB3-08067E5C1705}"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1634642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20020FF2-DC22-4BDE-BBB3-08067E5C1705}"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256059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20020FF2-DC22-4BDE-BBB3-08067E5C1705}"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733888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020FF2-DC22-4BDE-BBB3-08067E5C1705}"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45265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601619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0020FF2-DC22-4BDE-BBB3-08067E5C1705}"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626005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2312390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0020FF2-DC22-4BDE-BBB3-08067E5C1705}"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34E26E-B4C2-4F87-BE50-7192422347C9}" type="slidenum">
              <a:rPr lang="en-US" smtClean="0"/>
              <a:pPr/>
              <a:t>‹#›</a:t>
            </a:fld>
            <a:endParaRPr lang="en-US"/>
          </a:p>
        </p:txBody>
      </p:sp>
    </p:spTree>
    <p:extLst>
      <p:ext uri="{BB962C8B-B14F-4D97-AF65-F5344CB8AC3E}">
        <p14:creationId xmlns:p14="http://schemas.microsoft.com/office/powerpoint/2010/main" val="394978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20FF2-DC22-4BDE-BBB3-08067E5C1705}"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34E26E-B4C2-4F87-BE50-7192422347C9}" type="slidenum">
              <a:rPr lang="en-US" smtClean="0"/>
              <a:pPr/>
              <a:t>‹#›</a:t>
            </a:fld>
            <a:endParaRPr lang="en-US"/>
          </a:p>
        </p:txBody>
      </p:sp>
    </p:spTree>
    <p:extLst>
      <p:ext uri="{BB962C8B-B14F-4D97-AF65-F5344CB8AC3E}">
        <p14:creationId xmlns:p14="http://schemas.microsoft.com/office/powerpoint/2010/main" val="743111770"/>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38200" y="457200"/>
            <a:ext cx="7315200" cy="3477875"/>
          </a:xfrm>
          <a:prstGeom prst="rect">
            <a:avLst/>
          </a:prstGeom>
        </p:spPr>
        <p:txBody>
          <a:bodyPr wrap="square">
            <a:spAutoFit/>
          </a:bodyPr>
          <a:lstStyle/>
          <a:p>
            <a:pPr algn="ctr"/>
            <a:r>
              <a:rPr lang="en-IN" sz="4400" dirty="0">
                <a:solidFill>
                  <a:srgbClr val="454545"/>
                </a:solidFill>
                <a:latin typeface="+mj-lt"/>
              </a:rPr>
              <a:t>CAP-170 </a:t>
            </a:r>
            <a:endParaRPr lang="en-IN" sz="4400" dirty="0" smtClean="0">
              <a:solidFill>
                <a:srgbClr val="454545"/>
              </a:solidFill>
              <a:latin typeface="+mj-lt"/>
            </a:endParaRPr>
          </a:p>
          <a:p>
            <a:pPr algn="ctr"/>
            <a:r>
              <a:rPr lang="en-IN" sz="4400" dirty="0" smtClean="0">
                <a:solidFill>
                  <a:srgbClr val="454545"/>
                </a:solidFill>
                <a:latin typeface="+mj-lt"/>
              </a:rPr>
              <a:t>FUNDAMENTAL </a:t>
            </a:r>
            <a:r>
              <a:rPr lang="en-IN" sz="4400" dirty="0">
                <a:solidFill>
                  <a:srgbClr val="454545"/>
                </a:solidFill>
                <a:latin typeface="+mj-lt"/>
              </a:rPr>
              <a:t>OF INFORMATION </a:t>
            </a:r>
            <a:r>
              <a:rPr lang="en-IN" sz="4400" dirty="0" smtClean="0">
                <a:solidFill>
                  <a:srgbClr val="454545"/>
                </a:solidFill>
                <a:latin typeface="+mj-lt"/>
              </a:rPr>
              <a:t>TECHNOLOGY</a:t>
            </a:r>
            <a:r>
              <a:rPr lang="en-IN" sz="4400" dirty="0">
                <a:solidFill>
                  <a:srgbClr val="454545"/>
                </a:solidFill>
                <a:latin typeface="+mj-lt"/>
              </a:rPr>
              <a:t/>
            </a:r>
            <a:br>
              <a:rPr lang="en-IN" sz="4400" dirty="0">
                <a:solidFill>
                  <a:srgbClr val="454545"/>
                </a:solidFill>
                <a:latin typeface="+mj-lt"/>
              </a:rPr>
            </a:br>
            <a:r>
              <a:rPr lang="en-IN" sz="4400" b="1" dirty="0" smtClean="0">
                <a:solidFill>
                  <a:srgbClr val="454545"/>
                </a:solidFill>
                <a:latin typeface="+mj-lt"/>
              </a:rPr>
              <a:t>UNIT V</a:t>
            </a:r>
            <a:endParaRPr lang="en-US" sz="3600" b="1" dirty="0">
              <a:latin typeface="+mj-lt"/>
            </a:endParaRPr>
          </a:p>
          <a:p>
            <a:pPr algn="ctr"/>
            <a:r>
              <a:rPr lang="en-IN" sz="4400" b="1" dirty="0"/>
              <a:t>Advanced IT Technologies</a:t>
            </a:r>
            <a:endParaRPr lang="en-IN" sz="4400" b="1" dirty="0" smtClean="0">
              <a:solidFill>
                <a:srgbClr val="454545"/>
              </a:solidFill>
              <a:latin typeface="+mj-lt"/>
            </a:endParaRPr>
          </a:p>
        </p:txBody>
      </p:sp>
      <p:sp>
        <p:nvSpPr>
          <p:cNvPr id="5" name="Subtitle 2"/>
          <p:cNvSpPr>
            <a:spLocks noGrp="1"/>
          </p:cNvSpPr>
          <p:nvPr>
            <p:ph type="subTitle" idx="1"/>
          </p:nvPr>
        </p:nvSpPr>
        <p:spPr>
          <a:xfrm>
            <a:off x="0" y="4495800"/>
            <a:ext cx="9144000" cy="1752600"/>
          </a:xfrm>
        </p:spPr>
        <p:txBody>
          <a:bodyPr>
            <a:noAutofit/>
          </a:bodyPr>
          <a:lstStyle/>
          <a:p>
            <a:pPr lvl="0" algn="ctr">
              <a:lnSpc>
                <a:spcPct val="110000"/>
              </a:lnSpc>
              <a:spcBef>
                <a:spcPts val="1000"/>
              </a:spcBef>
              <a:buSzPts val="1800"/>
            </a:pPr>
            <a:r>
              <a:rPr lang="en-US" dirty="0">
                <a:solidFill>
                  <a:schemeClr val="accent1"/>
                </a:solidFill>
              </a:rPr>
              <a:t>SCHOOL OF COMPUTER APPLICATIONS</a:t>
            </a:r>
            <a:endParaRPr lang="en-US" dirty="0"/>
          </a:p>
          <a:p>
            <a:pPr lvl="0" algn="ctr">
              <a:lnSpc>
                <a:spcPct val="110000"/>
              </a:lnSpc>
              <a:spcBef>
                <a:spcPts val="1000"/>
              </a:spcBef>
              <a:buSzPts val="1800"/>
            </a:pPr>
            <a:r>
              <a:rPr lang="en-US" dirty="0">
                <a:solidFill>
                  <a:schemeClr val="accent1"/>
                </a:solidFill>
              </a:rPr>
              <a:t>LOVELY PROFESSIONAL UNIVERSITY</a:t>
            </a:r>
            <a:endParaRPr lang="en-US" dirty="0"/>
          </a:p>
          <a:p>
            <a:pPr algn="ctr"/>
            <a:endParaRPr lang="en-IN"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a:t>
            </a:r>
            <a:r>
              <a:rPr lang="en-IN" b="1" dirty="0" smtClean="0"/>
              <a:t>ntroduction </a:t>
            </a:r>
            <a:r>
              <a:rPr lang="en-IN" b="1" dirty="0"/>
              <a:t>to </a:t>
            </a:r>
            <a:r>
              <a:rPr lang="en-IN" b="1" dirty="0" smtClean="0"/>
              <a:t>Cloud </a:t>
            </a:r>
            <a:r>
              <a:rPr lang="en-IN" b="1" dirty="0"/>
              <a:t>C</a:t>
            </a:r>
            <a:r>
              <a:rPr lang="en-IN" b="1" dirty="0" smtClean="0"/>
              <a:t>omputing</a:t>
            </a:r>
            <a:endParaRPr lang="en-IN" b="1" dirty="0"/>
          </a:p>
        </p:txBody>
      </p:sp>
      <p:sp>
        <p:nvSpPr>
          <p:cNvPr id="3" name="Content Placeholder 2"/>
          <p:cNvSpPr>
            <a:spLocks noGrp="1"/>
          </p:cNvSpPr>
          <p:nvPr>
            <p:ph idx="1"/>
          </p:nvPr>
        </p:nvSpPr>
        <p:spPr>
          <a:xfrm>
            <a:off x="457200" y="1798637"/>
            <a:ext cx="8229600" cy="4221163"/>
          </a:xfrm>
        </p:spPr>
        <p:txBody>
          <a:bodyPr/>
          <a:lstStyle/>
          <a:p>
            <a:pPr algn="just"/>
            <a:r>
              <a:rPr lang="en-US" dirty="0"/>
              <a:t>Cloud computing is the delivery of computing services—like servers, storage, databases, networking, software, and </a:t>
            </a:r>
            <a:r>
              <a:rPr lang="en-US" dirty="0" smtClean="0"/>
              <a:t>analytics etc.</a:t>
            </a:r>
          </a:p>
          <a:p>
            <a:pPr algn="just"/>
            <a:r>
              <a:rPr lang="en-US" dirty="0"/>
              <a:t>Instead of owning physical hardware or software, users can access and use resources online on demand</a:t>
            </a:r>
            <a:r>
              <a:rPr lang="en-US" dirty="0" smtClean="0"/>
              <a:t>.</a:t>
            </a:r>
          </a:p>
          <a:p>
            <a:pPr algn="just"/>
            <a:r>
              <a:rPr lang="en-US" dirty="0"/>
              <a:t>Pay only for what you use — just like electricity or water.</a:t>
            </a:r>
            <a:endParaRPr lang="en-US" dirty="0" smtClean="0"/>
          </a:p>
          <a:p>
            <a:pPr algn="just"/>
            <a:endParaRPr lang="en-IN" dirty="0"/>
          </a:p>
        </p:txBody>
      </p:sp>
      <p:sp>
        <p:nvSpPr>
          <p:cNvPr id="19"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134425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1377427"/>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1307951"/>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385751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r>
              <a:rPr lang="en-US" b="1" dirty="0"/>
              <a:t>Advantages:</a:t>
            </a:r>
            <a:endParaRPr lang="en-US" dirty="0"/>
          </a:p>
          <a:p>
            <a:pPr lvl="1"/>
            <a:r>
              <a:rPr lang="en-US" dirty="0"/>
              <a:t>Cost-effective</a:t>
            </a:r>
          </a:p>
          <a:p>
            <a:pPr lvl="1"/>
            <a:r>
              <a:rPr lang="en-US" dirty="0"/>
              <a:t>Scalable and flexible</a:t>
            </a:r>
          </a:p>
          <a:p>
            <a:pPr lvl="1"/>
            <a:r>
              <a:rPr lang="en-US" dirty="0"/>
              <a:t>Accessible from anywhere</a:t>
            </a:r>
          </a:p>
          <a:p>
            <a:pPr lvl="1"/>
            <a:r>
              <a:rPr lang="en-US" dirty="0"/>
              <a:t>Reliable and secure</a:t>
            </a:r>
          </a:p>
          <a:p>
            <a:pPr lvl="1"/>
            <a:r>
              <a:rPr lang="en-US" dirty="0"/>
              <a:t>Automatic </a:t>
            </a:r>
            <a:r>
              <a:rPr lang="en-US" dirty="0" smtClean="0"/>
              <a:t>updates</a:t>
            </a:r>
            <a:endParaRPr lang="en-US" dirty="0"/>
          </a:p>
          <a:p>
            <a:r>
              <a:rPr lang="en-US" b="1" dirty="0"/>
              <a:t>Examples:</a:t>
            </a:r>
            <a:endParaRPr lang="en-US" dirty="0"/>
          </a:p>
          <a:p>
            <a:pPr marL="0" indent="0">
              <a:buNone/>
            </a:pPr>
            <a:r>
              <a:rPr lang="en-US" dirty="0"/>
              <a:t>	</a:t>
            </a:r>
            <a:r>
              <a:rPr lang="en-US" dirty="0" smtClean="0"/>
              <a:t>Google </a:t>
            </a:r>
            <a:r>
              <a:rPr lang="en-US" dirty="0"/>
              <a:t>Drive, Microsoft Azure, Amazon Web Services (AWS)</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529116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pPr marL="0" indent="0">
              <a:buNone/>
            </a:pPr>
            <a:r>
              <a:rPr lang="en-US" dirty="0" smtClean="0"/>
              <a:t>There are three type of models as follows:</a:t>
            </a:r>
            <a:endParaRPr lang="en-IN" dirty="0" smtClean="0"/>
          </a:p>
          <a:p>
            <a:r>
              <a:rPr lang="en-IN" b="1" dirty="0" smtClean="0"/>
              <a:t>Infrastructure </a:t>
            </a:r>
            <a:r>
              <a:rPr lang="en-IN" b="1" dirty="0"/>
              <a:t>as a Service (</a:t>
            </a:r>
            <a:r>
              <a:rPr lang="en-IN" b="1" dirty="0" err="1"/>
              <a:t>IaaS</a:t>
            </a:r>
            <a:r>
              <a:rPr lang="en-IN" b="1" dirty="0"/>
              <a:t>):</a:t>
            </a:r>
            <a:endParaRPr lang="en-IN" dirty="0"/>
          </a:p>
          <a:p>
            <a:pPr lvl="1"/>
            <a:r>
              <a:rPr lang="en-IN" dirty="0"/>
              <a:t>Provides </a:t>
            </a:r>
            <a:r>
              <a:rPr lang="en-IN" b="1" dirty="0"/>
              <a:t>virtualized computing resources</a:t>
            </a:r>
            <a:r>
              <a:rPr lang="en-IN" dirty="0"/>
              <a:t> over the internet.</a:t>
            </a:r>
          </a:p>
          <a:p>
            <a:pPr lvl="1"/>
            <a:r>
              <a:rPr lang="en-IN" dirty="0"/>
              <a:t>Users manage operating systems, applications, and data.</a:t>
            </a:r>
          </a:p>
          <a:p>
            <a:pPr lvl="1"/>
            <a:r>
              <a:rPr lang="en-IN" dirty="0"/>
              <a:t>Examples: </a:t>
            </a:r>
            <a:r>
              <a:rPr lang="en-IN" b="1" dirty="0"/>
              <a:t>Amazon EC2, Microsoft Azure, Google Compute Engine</a:t>
            </a:r>
            <a:endParaRPr lang="en-IN" dirty="0"/>
          </a:p>
          <a:p>
            <a:pPr lvl="1"/>
            <a:r>
              <a:rPr lang="en-IN" b="1" dirty="0"/>
              <a:t>Use case:</a:t>
            </a:r>
            <a:r>
              <a:rPr lang="en-IN" dirty="0"/>
              <a:t> Hosting websites, storage, networking.</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228600"/>
            <a:ext cx="8229600" cy="1143000"/>
          </a:xfrm>
        </p:spPr>
        <p:txBody>
          <a:bodyPr/>
          <a:lstStyle/>
          <a:p>
            <a:r>
              <a:rPr lang="en-IN" b="1" dirty="0" smtClean="0"/>
              <a:t>Cloud Service Models</a:t>
            </a:r>
            <a:endParaRPr lang="en-IN" b="1" dirty="0"/>
          </a:p>
        </p:txBody>
      </p:sp>
    </p:spTree>
    <p:extLst>
      <p:ext uri="{BB962C8B-B14F-4D97-AF65-F5344CB8AC3E}">
        <p14:creationId xmlns:p14="http://schemas.microsoft.com/office/powerpoint/2010/main" val="403378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r>
              <a:rPr lang="en-IN" b="1" dirty="0"/>
              <a:t>Platform as a Service (</a:t>
            </a:r>
            <a:r>
              <a:rPr lang="en-IN" b="1" dirty="0" err="1"/>
              <a:t>PaaS</a:t>
            </a:r>
            <a:r>
              <a:rPr lang="en-IN" b="1" dirty="0"/>
              <a:t>):</a:t>
            </a:r>
            <a:endParaRPr lang="en-IN" dirty="0"/>
          </a:p>
          <a:p>
            <a:pPr lvl="1"/>
            <a:r>
              <a:rPr lang="en-IN" dirty="0"/>
              <a:t>Provides a </a:t>
            </a:r>
            <a:r>
              <a:rPr lang="en-IN" b="1" dirty="0"/>
              <a:t>platform for developers</a:t>
            </a:r>
            <a:r>
              <a:rPr lang="en-IN" dirty="0"/>
              <a:t> to build, test, and deploy applications.</a:t>
            </a:r>
          </a:p>
          <a:p>
            <a:pPr lvl="1"/>
            <a:r>
              <a:rPr lang="en-IN" dirty="0"/>
              <a:t>Includes OS, middleware, and runtime environment.</a:t>
            </a:r>
          </a:p>
          <a:p>
            <a:pPr lvl="1"/>
            <a:r>
              <a:rPr lang="en-IN" dirty="0"/>
              <a:t>Examples: </a:t>
            </a:r>
            <a:r>
              <a:rPr lang="en-IN" b="1" dirty="0"/>
              <a:t>Google App Engine, Microsoft Azure App Services, </a:t>
            </a:r>
            <a:r>
              <a:rPr lang="en-IN" b="1" dirty="0" err="1"/>
              <a:t>Heroku</a:t>
            </a:r>
            <a:endParaRPr lang="en-IN" dirty="0"/>
          </a:p>
          <a:p>
            <a:pPr lvl="1"/>
            <a:r>
              <a:rPr lang="en-IN" b="1" dirty="0"/>
              <a:t>Use case:</a:t>
            </a:r>
            <a:r>
              <a:rPr lang="en-IN" dirty="0"/>
              <a:t> Application development without managing servers.</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8836987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r>
              <a:rPr lang="en-US" b="1" dirty="0"/>
              <a:t>Software as a Service (</a:t>
            </a:r>
            <a:r>
              <a:rPr lang="en-US" b="1" dirty="0" err="1"/>
              <a:t>SaaS</a:t>
            </a:r>
            <a:r>
              <a:rPr lang="en-US" b="1" dirty="0"/>
              <a:t>):</a:t>
            </a:r>
            <a:endParaRPr lang="en-US" dirty="0"/>
          </a:p>
          <a:p>
            <a:pPr lvl="1"/>
            <a:r>
              <a:rPr lang="en-US" dirty="0"/>
              <a:t>Provides </a:t>
            </a:r>
            <a:r>
              <a:rPr lang="en-US" b="1" dirty="0"/>
              <a:t>ready-to-use software applications</a:t>
            </a:r>
            <a:r>
              <a:rPr lang="en-US" dirty="0"/>
              <a:t> over the internet.</a:t>
            </a:r>
          </a:p>
          <a:p>
            <a:pPr lvl="1"/>
            <a:r>
              <a:rPr lang="en-US" dirty="0"/>
              <a:t>No installation or maintenance required by the user.</a:t>
            </a:r>
          </a:p>
          <a:p>
            <a:pPr lvl="1"/>
            <a:r>
              <a:rPr lang="en-US" dirty="0"/>
              <a:t>Examples: </a:t>
            </a:r>
            <a:r>
              <a:rPr lang="en-US" b="1" dirty="0"/>
              <a:t>Google Workspace, Microsoft 365, </a:t>
            </a:r>
            <a:r>
              <a:rPr lang="en-US" b="1" dirty="0" err="1"/>
              <a:t>Salesforce</a:t>
            </a:r>
            <a:r>
              <a:rPr lang="en-US" b="1" dirty="0"/>
              <a:t>, Zoom</a:t>
            </a:r>
            <a:endParaRPr lang="en-US" dirty="0"/>
          </a:p>
          <a:p>
            <a:pPr lvl="1"/>
            <a:r>
              <a:rPr lang="en-US" b="1" dirty="0"/>
              <a:t>Use case:</a:t>
            </a:r>
            <a:r>
              <a:rPr lang="en-US" dirty="0"/>
              <a:t> Email, collaboration, CRM, and communication tools.</a:t>
            </a:r>
          </a:p>
          <a:p>
            <a:pPr algn="just"/>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4098617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lstStyle/>
          <a:p>
            <a:pPr marL="0" indent="0" algn="just">
              <a:buNone/>
            </a:pPr>
            <a:r>
              <a:rPr lang="en-US" dirty="0" smtClean="0"/>
              <a:t>Summarize in a table for each understanding-</a:t>
            </a:r>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4096113855"/>
              </p:ext>
            </p:extLst>
          </p:nvPr>
        </p:nvGraphicFramePr>
        <p:xfrm>
          <a:off x="457200" y="3131661"/>
          <a:ext cx="8229600" cy="1463040"/>
        </p:xfrm>
        <a:graphic>
          <a:graphicData uri="http://schemas.openxmlformats.org/drawingml/2006/table">
            <a:tbl>
              <a:tblPr>
                <a:tableStyleId>{9D7B26C5-4107-4FEC-AEDC-1716B250A1EF}</a:tableStyleId>
              </a:tblPr>
              <a:tblGrid>
                <a:gridCol w="2743200"/>
                <a:gridCol w="2743200"/>
                <a:gridCol w="2743200"/>
              </a:tblGrid>
              <a:tr h="0">
                <a:tc>
                  <a:txBody>
                    <a:bodyPr/>
                    <a:lstStyle/>
                    <a:p>
                      <a:pPr algn="ctr"/>
                      <a:r>
                        <a:rPr lang="en-IN" b="1" dirty="0"/>
                        <a:t>Model</a:t>
                      </a:r>
                    </a:p>
                  </a:txBody>
                  <a:tcPr anchor="ctr"/>
                </a:tc>
                <a:tc>
                  <a:txBody>
                    <a:bodyPr/>
                    <a:lstStyle/>
                    <a:p>
                      <a:pPr algn="ctr"/>
                      <a:r>
                        <a:rPr lang="en-IN" b="1"/>
                        <a:t>Managed by Provider</a:t>
                      </a:r>
                    </a:p>
                  </a:txBody>
                  <a:tcPr anchor="ctr"/>
                </a:tc>
                <a:tc>
                  <a:txBody>
                    <a:bodyPr/>
                    <a:lstStyle/>
                    <a:p>
                      <a:pPr algn="ctr"/>
                      <a:r>
                        <a:rPr lang="en-IN" b="1" dirty="0"/>
                        <a:t>Managed by User</a:t>
                      </a:r>
                    </a:p>
                  </a:txBody>
                  <a:tcPr anchor="ctr"/>
                </a:tc>
              </a:tr>
              <a:tr h="0">
                <a:tc>
                  <a:txBody>
                    <a:bodyPr/>
                    <a:lstStyle/>
                    <a:p>
                      <a:pPr algn="ctr"/>
                      <a:r>
                        <a:rPr lang="en-IN" dirty="0" err="1"/>
                        <a:t>IaaS</a:t>
                      </a:r>
                      <a:endParaRPr lang="en-IN" dirty="0"/>
                    </a:p>
                  </a:txBody>
                  <a:tcPr anchor="ctr"/>
                </a:tc>
                <a:tc>
                  <a:txBody>
                    <a:bodyPr/>
                    <a:lstStyle/>
                    <a:p>
                      <a:pPr algn="ctr"/>
                      <a:r>
                        <a:rPr lang="en-IN"/>
                        <a:t>Hardware</a:t>
                      </a:r>
                    </a:p>
                  </a:txBody>
                  <a:tcPr anchor="ctr"/>
                </a:tc>
                <a:tc>
                  <a:txBody>
                    <a:bodyPr/>
                    <a:lstStyle/>
                    <a:p>
                      <a:pPr algn="ctr"/>
                      <a:r>
                        <a:rPr lang="en-IN" dirty="0"/>
                        <a:t>OS, Apps, Data</a:t>
                      </a:r>
                    </a:p>
                  </a:txBody>
                  <a:tcPr anchor="ctr"/>
                </a:tc>
              </a:tr>
              <a:tr h="0">
                <a:tc>
                  <a:txBody>
                    <a:bodyPr/>
                    <a:lstStyle/>
                    <a:p>
                      <a:pPr algn="ctr"/>
                      <a:r>
                        <a:rPr lang="en-IN"/>
                        <a:t>PaaS</a:t>
                      </a:r>
                    </a:p>
                  </a:txBody>
                  <a:tcPr anchor="ctr"/>
                </a:tc>
                <a:tc>
                  <a:txBody>
                    <a:bodyPr/>
                    <a:lstStyle/>
                    <a:p>
                      <a:pPr algn="ctr"/>
                      <a:r>
                        <a:rPr lang="en-IN"/>
                        <a:t>Hardware, OS</a:t>
                      </a:r>
                    </a:p>
                  </a:txBody>
                  <a:tcPr anchor="ctr"/>
                </a:tc>
                <a:tc>
                  <a:txBody>
                    <a:bodyPr/>
                    <a:lstStyle/>
                    <a:p>
                      <a:pPr algn="ctr"/>
                      <a:r>
                        <a:rPr lang="en-IN" dirty="0"/>
                        <a:t>Apps, Data</a:t>
                      </a:r>
                    </a:p>
                  </a:txBody>
                  <a:tcPr anchor="ctr"/>
                </a:tc>
              </a:tr>
              <a:tr h="0">
                <a:tc>
                  <a:txBody>
                    <a:bodyPr/>
                    <a:lstStyle/>
                    <a:p>
                      <a:pPr algn="ctr"/>
                      <a:r>
                        <a:rPr lang="en-IN"/>
                        <a:t>SaaS</a:t>
                      </a:r>
                    </a:p>
                  </a:txBody>
                  <a:tcPr anchor="ctr"/>
                </a:tc>
                <a:tc>
                  <a:txBody>
                    <a:bodyPr/>
                    <a:lstStyle/>
                    <a:p>
                      <a:pPr algn="ctr"/>
                      <a:r>
                        <a:rPr lang="en-IN"/>
                        <a:t>Everything</a:t>
                      </a:r>
                    </a:p>
                  </a:txBody>
                  <a:tcPr anchor="ctr"/>
                </a:tc>
                <a:tc>
                  <a:txBody>
                    <a:bodyPr/>
                    <a:lstStyle/>
                    <a:p>
                      <a:pPr algn="ctr"/>
                      <a:r>
                        <a:rPr lang="en-IN" dirty="0"/>
                        <a:t>Just use the app</a:t>
                      </a:r>
                    </a:p>
                  </a:txBody>
                  <a:tcPr anchor="ctr"/>
                </a:tc>
              </a:tr>
            </a:tbl>
          </a:graphicData>
        </a:graphic>
      </p:graphicFrame>
    </p:spTree>
    <p:extLst>
      <p:ext uri="{BB962C8B-B14F-4D97-AF65-F5344CB8AC3E}">
        <p14:creationId xmlns:p14="http://schemas.microsoft.com/office/powerpoint/2010/main" val="408864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fontScale="92500" lnSpcReduction="20000"/>
          </a:bodyPr>
          <a:lstStyle/>
          <a:p>
            <a:r>
              <a:rPr lang="en-US" b="1" dirty="0"/>
              <a:t>What is Virtualization?</a:t>
            </a:r>
            <a:endParaRPr lang="en-US" dirty="0"/>
          </a:p>
          <a:p>
            <a:pPr lvl="1"/>
            <a:r>
              <a:rPr lang="en-US" dirty="0"/>
              <a:t>Virtualization is the </a:t>
            </a:r>
            <a:r>
              <a:rPr lang="en-US" b="1" dirty="0"/>
              <a:t>process of creating a virtual (software-based) version</a:t>
            </a:r>
            <a:r>
              <a:rPr lang="en-US" dirty="0"/>
              <a:t> of computing resources such as servers, storage, or networks.</a:t>
            </a:r>
          </a:p>
          <a:p>
            <a:pPr lvl="1"/>
            <a:r>
              <a:rPr lang="en-US" dirty="0"/>
              <a:t>It allows multiple virtual systems to run on a single physical machine.</a:t>
            </a:r>
          </a:p>
          <a:p>
            <a:r>
              <a:rPr lang="en-US" b="1" dirty="0"/>
              <a:t>How it Works:</a:t>
            </a:r>
            <a:endParaRPr lang="en-US" dirty="0"/>
          </a:p>
          <a:p>
            <a:pPr lvl="1"/>
            <a:r>
              <a:rPr lang="en-US" dirty="0"/>
              <a:t>A special software called a </a:t>
            </a:r>
            <a:r>
              <a:rPr lang="en-US" b="1" dirty="0"/>
              <a:t>Hypervisor</a:t>
            </a:r>
            <a:r>
              <a:rPr lang="en-US" dirty="0"/>
              <a:t> divides the physical hardware into multiple </a:t>
            </a:r>
            <a:r>
              <a:rPr lang="en-US" b="1" dirty="0"/>
              <a:t>virtual machines (VMs)</a:t>
            </a:r>
            <a:r>
              <a:rPr lang="en-US" dirty="0"/>
              <a:t>.</a:t>
            </a:r>
          </a:p>
          <a:p>
            <a:pPr lvl="1"/>
            <a:r>
              <a:rPr lang="en-US" dirty="0"/>
              <a:t>Each VM operates independently with its own OS, applications, and resources.</a:t>
            </a:r>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152400"/>
            <a:ext cx="8229600" cy="1143000"/>
          </a:xfrm>
        </p:spPr>
        <p:txBody>
          <a:bodyPr>
            <a:noAutofit/>
          </a:bodyPr>
          <a:lstStyle/>
          <a:p>
            <a:r>
              <a:rPr lang="en-IN" sz="3600" b="1" dirty="0"/>
              <a:t>C</a:t>
            </a:r>
            <a:r>
              <a:rPr lang="en-IN" sz="3600" b="1" dirty="0" smtClean="0"/>
              <a:t>oncept of Virtualization &amp; </a:t>
            </a:r>
            <a:r>
              <a:rPr lang="en-IN" sz="3600" b="1" dirty="0"/>
              <a:t>V</a:t>
            </a:r>
            <a:r>
              <a:rPr lang="en-IN" sz="3600" b="1" dirty="0" smtClean="0"/>
              <a:t>irtual </a:t>
            </a:r>
            <a:r>
              <a:rPr lang="en-IN" sz="3600" b="1" dirty="0"/>
              <a:t>S</a:t>
            </a:r>
            <a:r>
              <a:rPr lang="en-IN" sz="3600" b="1" dirty="0" smtClean="0"/>
              <a:t>ervers</a:t>
            </a:r>
            <a:endParaRPr lang="en-IN" sz="3600" b="1" dirty="0"/>
          </a:p>
        </p:txBody>
      </p:sp>
    </p:spTree>
    <p:extLst>
      <p:ext uri="{BB962C8B-B14F-4D97-AF65-F5344CB8AC3E}">
        <p14:creationId xmlns:p14="http://schemas.microsoft.com/office/powerpoint/2010/main" val="3067835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a:bodyPr>
          <a:lstStyle/>
          <a:p>
            <a:r>
              <a:rPr lang="en-IN" b="1" dirty="0"/>
              <a:t>Types of Virtualization:</a:t>
            </a:r>
            <a:endParaRPr lang="en-IN" dirty="0"/>
          </a:p>
          <a:p>
            <a:pPr lvl="1"/>
            <a:r>
              <a:rPr lang="en-IN" b="1" dirty="0"/>
              <a:t>Server Virtualization</a:t>
            </a:r>
            <a:r>
              <a:rPr lang="en-IN" dirty="0"/>
              <a:t> – Multiple servers on one physical system.</a:t>
            </a:r>
          </a:p>
          <a:p>
            <a:pPr lvl="1"/>
            <a:r>
              <a:rPr lang="en-IN" b="1" dirty="0"/>
              <a:t>Storage Virtualization</a:t>
            </a:r>
            <a:r>
              <a:rPr lang="en-IN" dirty="0"/>
              <a:t> – Combines multiple storage devices into one.</a:t>
            </a:r>
          </a:p>
          <a:p>
            <a:pPr lvl="1"/>
            <a:r>
              <a:rPr lang="en-IN" b="1" dirty="0"/>
              <a:t>Network Virtualization</a:t>
            </a:r>
            <a:r>
              <a:rPr lang="en-IN" dirty="0"/>
              <a:t> – Creates virtual networks separate from physical ones.</a:t>
            </a:r>
          </a:p>
          <a:p>
            <a:pPr lvl="1"/>
            <a:r>
              <a:rPr lang="en-IN" b="1" dirty="0"/>
              <a:t>Desktop Virtualization</a:t>
            </a:r>
            <a:r>
              <a:rPr lang="en-IN" dirty="0"/>
              <a:t> – Runs user desktops on centralized servers.</a:t>
            </a:r>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67037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fontScale="92500" lnSpcReduction="20000"/>
          </a:bodyPr>
          <a:lstStyle/>
          <a:p>
            <a:r>
              <a:rPr lang="en-US" dirty="0"/>
              <a:t>A </a:t>
            </a:r>
            <a:r>
              <a:rPr lang="en-US" b="1" dirty="0"/>
              <a:t>virtual server</a:t>
            </a:r>
            <a:r>
              <a:rPr lang="en-US" dirty="0"/>
              <a:t> is a software-based representation of a physical server.</a:t>
            </a:r>
          </a:p>
          <a:p>
            <a:r>
              <a:rPr lang="en-US" dirty="0"/>
              <a:t>It performs the same functions as a physical server but shares resources with other virtual servers.</a:t>
            </a:r>
          </a:p>
          <a:p>
            <a:r>
              <a:rPr lang="en-US" b="1" dirty="0"/>
              <a:t>Benefits:</a:t>
            </a:r>
            <a:endParaRPr lang="en-US" dirty="0"/>
          </a:p>
          <a:p>
            <a:pPr lvl="1"/>
            <a:r>
              <a:rPr lang="en-US" dirty="0"/>
              <a:t>Efficient resource utilization</a:t>
            </a:r>
          </a:p>
          <a:p>
            <a:pPr lvl="1"/>
            <a:r>
              <a:rPr lang="en-US" dirty="0"/>
              <a:t>Cost savings on hardware</a:t>
            </a:r>
          </a:p>
          <a:p>
            <a:pPr lvl="1"/>
            <a:r>
              <a:rPr lang="en-US" dirty="0"/>
              <a:t>Easy backup and recovery</a:t>
            </a:r>
          </a:p>
          <a:p>
            <a:pPr lvl="1"/>
            <a:r>
              <a:rPr lang="en-US" dirty="0"/>
              <a:t>Scalability and flexibility</a:t>
            </a:r>
          </a:p>
          <a:p>
            <a:pPr lvl="1"/>
            <a:r>
              <a:rPr lang="en-US" dirty="0"/>
              <a:t>Simplified </a:t>
            </a:r>
            <a:r>
              <a:rPr lang="en-US" dirty="0" smtClean="0"/>
              <a:t>management</a:t>
            </a:r>
          </a:p>
          <a:p>
            <a:pPr marL="457200" lvl="1" indent="0">
              <a:buNone/>
            </a:pPr>
            <a:r>
              <a:rPr lang="en-US" b="1" dirty="0" smtClean="0"/>
              <a:t>Examples: </a:t>
            </a:r>
            <a:r>
              <a:rPr lang="en-IN" dirty="0"/>
              <a:t>VMware, Microsoft Hyper-V</a:t>
            </a:r>
            <a:endParaRPr lang="en-US" b="1" dirty="0"/>
          </a:p>
          <a:p>
            <a:pPr marL="0" indent="0" algn="just">
              <a:buNone/>
            </a:pPr>
            <a:endParaRPr lang="en-IN"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152400"/>
            <a:ext cx="8229600" cy="1143000"/>
          </a:xfrm>
        </p:spPr>
        <p:txBody>
          <a:bodyPr/>
          <a:lstStyle/>
          <a:p>
            <a:r>
              <a:rPr lang="en-IN" b="1" dirty="0"/>
              <a:t>What </a:t>
            </a:r>
            <a:r>
              <a:rPr lang="en-IN" b="1" dirty="0" smtClean="0"/>
              <a:t>is a </a:t>
            </a:r>
            <a:r>
              <a:rPr lang="en-IN" b="1" dirty="0"/>
              <a:t>Virtual Server?</a:t>
            </a:r>
          </a:p>
        </p:txBody>
      </p:sp>
    </p:spTree>
    <p:extLst>
      <p:ext uri="{BB962C8B-B14F-4D97-AF65-F5344CB8AC3E}">
        <p14:creationId xmlns:p14="http://schemas.microsoft.com/office/powerpoint/2010/main" val="2907784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fontScale="70000" lnSpcReduction="20000"/>
          </a:bodyPr>
          <a:lstStyle/>
          <a:p>
            <a:pPr marL="0" indent="0">
              <a:buNone/>
            </a:pPr>
            <a:r>
              <a:rPr lang="en-US" sz="3400" b="1" dirty="0"/>
              <a:t>Definition:</a:t>
            </a:r>
            <a:r>
              <a:rPr lang="en-US" dirty="0"/>
              <a:t/>
            </a:r>
            <a:br>
              <a:rPr lang="en-US" dirty="0"/>
            </a:br>
            <a:r>
              <a:rPr lang="en-US" dirty="0" smtClean="0"/>
              <a:t>	</a:t>
            </a:r>
            <a:r>
              <a:rPr lang="en-US" sz="3400" dirty="0" smtClean="0"/>
              <a:t>Cloud </a:t>
            </a:r>
            <a:r>
              <a:rPr lang="en-US" sz="3400" dirty="0"/>
              <a:t>storage is a service model in which data is stored, managed, and backed up remotely on servers accessed through the internet</a:t>
            </a:r>
            <a:r>
              <a:rPr lang="en-US" dirty="0" smtClean="0"/>
              <a:t>.</a:t>
            </a:r>
          </a:p>
          <a:p>
            <a:pPr marL="0" indent="0">
              <a:buNone/>
            </a:pPr>
            <a:r>
              <a:rPr lang="en-IN" sz="3400" b="1" dirty="0"/>
              <a:t>Key Points</a:t>
            </a:r>
            <a:r>
              <a:rPr lang="en-IN" sz="3400" b="1" dirty="0" smtClean="0"/>
              <a:t>:</a:t>
            </a:r>
          </a:p>
          <a:p>
            <a:r>
              <a:rPr lang="en-US" sz="3400" dirty="0"/>
              <a:t>Data is stored on </a:t>
            </a:r>
            <a:r>
              <a:rPr lang="en-US" sz="3400" b="1" dirty="0"/>
              <a:t>remote servers</a:t>
            </a:r>
            <a:r>
              <a:rPr lang="en-US" sz="3400" dirty="0"/>
              <a:t> instead of local devices.</a:t>
            </a:r>
          </a:p>
          <a:p>
            <a:r>
              <a:rPr lang="en-US" sz="3400" dirty="0"/>
              <a:t>Managed by </a:t>
            </a:r>
            <a:r>
              <a:rPr lang="en-US" sz="3400" b="1" dirty="0"/>
              <a:t>cloud service providers</a:t>
            </a:r>
            <a:r>
              <a:rPr lang="en-US" sz="3400" dirty="0"/>
              <a:t> (like AWS, Google Cloud, Microsoft Azure).</a:t>
            </a:r>
          </a:p>
          <a:p>
            <a:r>
              <a:rPr lang="en-US" sz="3400" dirty="0"/>
              <a:t>Provides </a:t>
            </a:r>
            <a:r>
              <a:rPr lang="en-US" sz="3400" b="1" dirty="0"/>
              <a:t>on-demand access</a:t>
            </a:r>
            <a:r>
              <a:rPr lang="en-US" sz="3400" dirty="0"/>
              <a:t> to data from anywhere.</a:t>
            </a:r>
          </a:p>
          <a:p>
            <a:r>
              <a:rPr lang="en-US" sz="3400" dirty="0"/>
              <a:t>Offers </a:t>
            </a:r>
            <a:r>
              <a:rPr lang="en-US" sz="3400" b="1" dirty="0"/>
              <a:t>scalability</a:t>
            </a:r>
            <a:r>
              <a:rPr lang="en-US" sz="3400" dirty="0"/>
              <a:t> — storage can increase or decrease as needed.</a:t>
            </a:r>
          </a:p>
          <a:p>
            <a:r>
              <a:rPr lang="en-US" sz="3400" dirty="0"/>
              <a:t>Ensures </a:t>
            </a:r>
            <a:r>
              <a:rPr lang="en-US" sz="3400" b="1" dirty="0"/>
              <a:t>data backup, disaster recovery</a:t>
            </a:r>
            <a:r>
              <a:rPr lang="en-US" sz="3400" dirty="0"/>
              <a:t>, and </a:t>
            </a:r>
            <a:r>
              <a:rPr lang="en-US" sz="3400" b="1" dirty="0"/>
              <a:t>automatic updates</a:t>
            </a:r>
            <a:r>
              <a:rPr lang="en-US" sz="3400" dirty="0"/>
              <a:t>.</a:t>
            </a:r>
          </a:p>
          <a:p>
            <a:r>
              <a:rPr lang="en-US" sz="3400" b="1" dirty="0"/>
              <a:t>Examples</a:t>
            </a:r>
            <a:r>
              <a:rPr lang="en-US" sz="3400" dirty="0"/>
              <a:t>: Google Drive, </a:t>
            </a:r>
            <a:r>
              <a:rPr lang="en-US" sz="3400" dirty="0" err="1"/>
              <a:t>Dropbox</a:t>
            </a:r>
            <a:r>
              <a:rPr lang="en-US" sz="3400" dirty="0"/>
              <a:t>, </a:t>
            </a:r>
            <a:r>
              <a:rPr lang="en-US" sz="3400" dirty="0" err="1"/>
              <a:t>OneDrive</a:t>
            </a:r>
            <a:r>
              <a:rPr lang="en-US" sz="3400" dirty="0"/>
              <a:t>, Amazon S3</a:t>
            </a:r>
            <a:r>
              <a:rPr lang="en-US" sz="3400" dirty="0" smtClean="0"/>
              <a:t>.</a:t>
            </a:r>
            <a:endParaRPr lang="en-US" sz="3400"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7" name="Title 1"/>
          <p:cNvSpPr>
            <a:spLocks noGrp="1"/>
          </p:cNvSpPr>
          <p:nvPr>
            <p:ph type="title"/>
          </p:nvPr>
        </p:nvSpPr>
        <p:spPr>
          <a:xfrm>
            <a:off x="457200" y="-152400"/>
            <a:ext cx="8229600" cy="1143000"/>
          </a:xfrm>
        </p:spPr>
        <p:txBody>
          <a:bodyPr/>
          <a:lstStyle/>
          <a:p>
            <a:r>
              <a:rPr lang="en-IN" b="1" dirty="0" smtClean="0"/>
              <a:t>Cloud Storage</a:t>
            </a:r>
            <a:endParaRPr lang="en-IN" b="1" dirty="0"/>
          </a:p>
        </p:txBody>
      </p:sp>
    </p:spTree>
    <p:extLst>
      <p:ext uri="{BB962C8B-B14F-4D97-AF65-F5344CB8AC3E}">
        <p14:creationId xmlns:p14="http://schemas.microsoft.com/office/powerpoint/2010/main" val="169500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1"/>
            <a:ext cx="8229600" cy="4876800"/>
          </a:xfrm>
        </p:spPr>
        <p:txBody>
          <a:bodyPr>
            <a:normAutofit/>
          </a:bodyPr>
          <a:lstStyle/>
          <a:p>
            <a:r>
              <a:rPr lang="en-US" sz="3600" b="1" dirty="0"/>
              <a:t>Advantages:</a:t>
            </a:r>
            <a:endParaRPr lang="en-US" sz="3600" dirty="0"/>
          </a:p>
          <a:p>
            <a:pPr lvl="1"/>
            <a:r>
              <a:rPr lang="en-US" dirty="0"/>
              <a:t>No need for physical storage devices</a:t>
            </a:r>
          </a:p>
          <a:p>
            <a:pPr lvl="1"/>
            <a:r>
              <a:rPr lang="en-US" dirty="0"/>
              <a:t>Easy sharing and collaboration</a:t>
            </a:r>
          </a:p>
          <a:p>
            <a:pPr lvl="1"/>
            <a:r>
              <a:rPr lang="en-US" dirty="0"/>
              <a:t>Pay only for what you use</a:t>
            </a:r>
          </a:p>
          <a:p>
            <a:pPr lvl="1"/>
            <a:r>
              <a:rPr lang="en-US" dirty="0"/>
              <a:t>Secure and backed up regularly</a:t>
            </a:r>
          </a:p>
          <a:p>
            <a:pPr marL="0" indent="0">
              <a:buNone/>
            </a:pPr>
            <a:endParaRPr lang="en-US" sz="3400" dirty="0"/>
          </a:p>
        </p:txBody>
      </p:sp>
      <p:sp>
        <p:nvSpPr>
          <p:cNvPr id="19" name="object 3"/>
          <p:cNvSpPr/>
          <p:nvPr/>
        </p:nvSpPr>
        <p:spPr>
          <a:xfrm>
            <a:off x="1558636" y="8713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7259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6871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722107"/>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755276"/>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685800"/>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100465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What is Database</a:t>
            </a:r>
          </a:p>
        </p:txBody>
      </p:sp>
      <p:sp>
        <p:nvSpPr>
          <p:cNvPr id="3" name="Content Placeholder 2"/>
          <p:cNvSpPr>
            <a:spLocks noGrp="1"/>
          </p:cNvSpPr>
          <p:nvPr>
            <p:ph idx="1"/>
          </p:nvPr>
        </p:nvSpPr>
        <p:spPr/>
        <p:txBody>
          <a:bodyPr>
            <a:normAutofit/>
          </a:bodyPr>
          <a:lstStyle/>
          <a:p>
            <a:pPr algn="just"/>
            <a:r>
              <a:rPr lang="en-GB" sz="2800" dirty="0"/>
              <a:t>The database is a collection of inter-related data which is used to retrieve, insert and delete the data efficiently. It is also used to organize the data in the form of a table, schema, views, and reports, etc.</a:t>
            </a:r>
          </a:p>
          <a:p>
            <a:pPr algn="just"/>
            <a:r>
              <a:rPr lang="en-GB" sz="2800" b="1" dirty="0"/>
              <a:t>For example: </a:t>
            </a:r>
            <a:r>
              <a:rPr lang="en-GB" sz="2800" dirty="0"/>
              <a:t>The college Database organizes the data about the admin, staff, students and faculty etc.</a:t>
            </a:r>
          </a:p>
          <a:p>
            <a:pPr algn="just"/>
            <a:r>
              <a:rPr lang="en-GB" sz="2800" dirty="0"/>
              <a:t>Using the database, you can easily retrieve, insert, and delete the information.</a:t>
            </a:r>
            <a:endParaRPr lang="en-IN" sz="4000" dirty="0"/>
          </a:p>
        </p:txBody>
      </p:sp>
      <p:sp>
        <p:nvSpPr>
          <p:cNvPr id="19"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20"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21"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22" name="object 6"/>
          <p:cNvGrpSpPr/>
          <p:nvPr/>
        </p:nvGrpSpPr>
        <p:grpSpPr>
          <a:xfrm>
            <a:off x="7766858" y="1344258"/>
            <a:ext cx="594591" cy="234203"/>
            <a:chOff x="8543544" y="1245108"/>
            <a:chExt cx="654050" cy="265430"/>
          </a:xfrm>
        </p:grpSpPr>
        <p:sp>
          <p:nvSpPr>
            <p:cNvPr id="23"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24" name="object 8"/>
            <p:cNvPicPr/>
            <p:nvPr/>
          </p:nvPicPr>
          <p:blipFill>
            <a:blip r:embed="rId2" cstate="print"/>
            <a:stretch>
              <a:fillRect/>
            </a:stretch>
          </p:blipFill>
          <p:spPr>
            <a:xfrm>
              <a:off x="8543544" y="1345692"/>
              <a:ext cx="370331" cy="158495"/>
            </a:xfrm>
            <a:prstGeom prst="rect">
              <a:avLst/>
            </a:prstGeom>
          </p:spPr>
        </p:pic>
      </p:grpSp>
      <p:grpSp>
        <p:nvGrpSpPr>
          <p:cNvPr id="25" name="object 9"/>
          <p:cNvGrpSpPr/>
          <p:nvPr/>
        </p:nvGrpSpPr>
        <p:grpSpPr>
          <a:xfrm>
            <a:off x="680258" y="1377427"/>
            <a:ext cx="753918" cy="228040"/>
            <a:chOff x="748284" y="1282700"/>
            <a:chExt cx="829310" cy="258445"/>
          </a:xfrm>
        </p:grpSpPr>
        <p:sp>
          <p:nvSpPr>
            <p:cNvPr id="26"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27"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28"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29"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30" name="object 14"/>
            <p:cNvPicPr/>
            <p:nvPr/>
          </p:nvPicPr>
          <p:blipFill>
            <a:blip r:embed="rId3" cstate="print"/>
            <a:stretch>
              <a:fillRect/>
            </a:stretch>
          </p:blipFill>
          <p:spPr>
            <a:xfrm>
              <a:off x="1100328" y="1321308"/>
              <a:ext cx="111252" cy="172212"/>
            </a:xfrm>
            <a:prstGeom prst="rect">
              <a:avLst/>
            </a:prstGeom>
          </p:spPr>
        </p:pic>
        <p:sp>
          <p:nvSpPr>
            <p:cNvPr id="31"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32"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33" name="object 17"/>
            <p:cNvPicPr/>
            <p:nvPr/>
          </p:nvPicPr>
          <p:blipFill>
            <a:blip r:embed="rId4" cstate="print"/>
            <a:stretch>
              <a:fillRect/>
            </a:stretch>
          </p:blipFill>
          <p:spPr>
            <a:xfrm>
              <a:off x="1386840" y="1322832"/>
              <a:ext cx="132587" cy="173736"/>
            </a:xfrm>
            <a:prstGeom prst="rect">
              <a:avLst/>
            </a:prstGeom>
          </p:spPr>
        </p:pic>
      </p:grpSp>
      <p:pic>
        <p:nvPicPr>
          <p:cNvPr id="34" name="object 18"/>
          <p:cNvPicPr/>
          <p:nvPr/>
        </p:nvPicPr>
        <p:blipFill>
          <a:blip r:embed="rId5" cstate="print"/>
          <a:stretch>
            <a:fillRect/>
          </a:stretch>
        </p:blipFill>
        <p:spPr>
          <a:xfrm>
            <a:off x="246611" y="1307951"/>
            <a:ext cx="381000" cy="368449"/>
          </a:xfrm>
          <a:prstGeom prst="rect">
            <a:avLst/>
          </a:prstGeom>
        </p:spPr>
      </p:pic>
      <p:sp>
        <p:nvSpPr>
          <p:cNvPr id="35"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36"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533315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24E021-2590-4027-9085-D2CCB668238F}"/>
              </a:ext>
            </a:extLst>
          </p:cNvPr>
          <p:cNvSpPr>
            <a:spLocks noGrp="1"/>
          </p:cNvSpPr>
          <p:nvPr>
            <p:ph type="title"/>
          </p:nvPr>
        </p:nvSpPr>
        <p:spPr/>
        <p:txBody>
          <a:bodyPr/>
          <a:lstStyle/>
          <a:p>
            <a:r>
              <a:rPr lang="en-IN" b="1" dirty="0"/>
              <a:t>Database Management System</a:t>
            </a:r>
          </a:p>
        </p:txBody>
      </p:sp>
      <p:sp>
        <p:nvSpPr>
          <p:cNvPr id="3" name="Content Placeholder 2">
            <a:extLst>
              <a:ext uri="{FF2B5EF4-FFF2-40B4-BE49-F238E27FC236}">
                <a16:creationId xmlns:a16="http://schemas.microsoft.com/office/drawing/2014/main" xmlns="" id="{4CDAAB96-955A-4420-BBFA-C80D860E10EF}"/>
              </a:ext>
            </a:extLst>
          </p:cNvPr>
          <p:cNvSpPr>
            <a:spLocks noGrp="1"/>
          </p:cNvSpPr>
          <p:nvPr>
            <p:ph idx="1"/>
          </p:nvPr>
        </p:nvSpPr>
        <p:spPr/>
        <p:txBody>
          <a:bodyPr>
            <a:normAutofit fontScale="85000" lnSpcReduction="10000"/>
          </a:bodyPr>
          <a:lstStyle/>
          <a:p>
            <a:pPr algn="just"/>
            <a:r>
              <a:rPr lang="en-GB" dirty="0"/>
              <a:t>Database management system is a software which is used to manage the database. For example: MySQL, Oracle, etc are a very popular commercial database which is used in different applications.</a:t>
            </a:r>
          </a:p>
          <a:p>
            <a:pPr algn="just"/>
            <a:r>
              <a:rPr lang="en-GB" dirty="0"/>
              <a:t>DBMS provides an interface to perform various operations like database creation, storing data in it, updating data, creating a table in the database and a lot more.</a:t>
            </a:r>
          </a:p>
          <a:p>
            <a:pPr algn="just"/>
            <a:r>
              <a:rPr lang="en-GB" dirty="0"/>
              <a:t>It provides protection and security to the database. In the case of multiple users, it also maintains data consistency.</a:t>
            </a:r>
          </a:p>
          <a:p>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700827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ED32F46-A17A-43F4-9FBC-F4FAD647B875}"/>
              </a:ext>
            </a:extLst>
          </p:cNvPr>
          <p:cNvSpPr>
            <a:spLocks noGrp="1"/>
          </p:cNvSpPr>
          <p:nvPr>
            <p:ph idx="1"/>
          </p:nvPr>
        </p:nvSpPr>
        <p:spPr/>
        <p:txBody>
          <a:bodyPr>
            <a:normAutofit fontScale="92500" lnSpcReduction="20000"/>
          </a:bodyPr>
          <a:lstStyle/>
          <a:p>
            <a:pPr algn="just"/>
            <a:r>
              <a:rPr lang="en-GB" dirty="0"/>
              <a:t>Database is a collection of related data and data is a collection of facts and figures that can be processed to produce information.</a:t>
            </a:r>
          </a:p>
          <a:p>
            <a:pPr algn="just"/>
            <a:r>
              <a:rPr lang="en-GB" dirty="0"/>
              <a:t>Mostly data represents recordable facts. Data aids in producing information, which is based on facts. For example, if we have data about marks obtained by all students, we can then conclude about toppers and average marks.</a:t>
            </a:r>
          </a:p>
          <a:p>
            <a:pPr algn="just"/>
            <a:r>
              <a:rPr lang="en-GB" dirty="0"/>
              <a:t>A database management system stores data in such a way that it becomes easier to retrieve, manipulate, and produce information.</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3955427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F83F8B-0BD4-415C-B23B-A93B34AAF073}"/>
              </a:ext>
            </a:extLst>
          </p:cNvPr>
          <p:cNvSpPr>
            <a:spLocks noGrp="1"/>
          </p:cNvSpPr>
          <p:nvPr>
            <p:ph type="title"/>
          </p:nvPr>
        </p:nvSpPr>
        <p:spPr/>
        <p:txBody>
          <a:bodyPr/>
          <a:lstStyle/>
          <a:p>
            <a:r>
              <a:rPr lang="en-IN" b="1" dirty="0"/>
              <a:t>Data Independence</a:t>
            </a:r>
          </a:p>
        </p:txBody>
      </p:sp>
      <p:sp>
        <p:nvSpPr>
          <p:cNvPr id="3" name="Content Placeholder 2">
            <a:extLst>
              <a:ext uri="{FF2B5EF4-FFF2-40B4-BE49-F238E27FC236}">
                <a16:creationId xmlns:a16="http://schemas.microsoft.com/office/drawing/2014/main" xmlns="" id="{499E46C9-DC18-40EE-AE7A-3FF7C6211533}"/>
              </a:ext>
            </a:extLst>
          </p:cNvPr>
          <p:cNvSpPr>
            <a:spLocks noGrp="1"/>
          </p:cNvSpPr>
          <p:nvPr>
            <p:ph idx="1"/>
          </p:nvPr>
        </p:nvSpPr>
        <p:spPr/>
        <p:txBody>
          <a:bodyPr>
            <a:normAutofit fontScale="92500" lnSpcReduction="10000"/>
          </a:bodyPr>
          <a:lstStyle/>
          <a:p>
            <a:pPr algn="just"/>
            <a:r>
              <a:rPr lang="en-GB" dirty="0"/>
              <a:t>A database system normally contains a lot of data in addition to users’ data. For example, it stores data about data, known as metadata, to locate and retrieve data easily. It is rather difficult to modify or update a set of metadata once it is stored in the database. </a:t>
            </a:r>
          </a:p>
          <a:p>
            <a:pPr algn="just"/>
            <a:r>
              <a:rPr lang="en-GB" dirty="0"/>
              <a:t>But as a DBMS expands, it needs to change over time to satisfy the requirements of the users. If the entire data is dependent, it would become a tedious and highly complex job.</a:t>
            </a:r>
            <a:endParaRPr lang="en-IN" dirty="0"/>
          </a:p>
        </p:txBody>
      </p:sp>
      <p:sp>
        <p:nvSpPr>
          <p:cNvPr id="4" name="object 3"/>
          <p:cNvSpPr/>
          <p:nvPr/>
        </p:nvSpPr>
        <p:spPr>
          <a:xfrm>
            <a:off x="1558636" y="1404769"/>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259327"/>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220543"/>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255507"/>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288676"/>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219200"/>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820501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FAB113-F19C-4A00-8346-3BD813A4A599}"/>
              </a:ext>
            </a:extLst>
          </p:cNvPr>
          <p:cNvSpPr>
            <a:spLocks noGrp="1"/>
          </p:cNvSpPr>
          <p:nvPr>
            <p:ph type="title"/>
          </p:nvPr>
        </p:nvSpPr>
        <p:spPr/>
        <p:txBody>
          <a:bodyPr/>
          <a:lstStyle/>
          <a:p>
            <a:r>
              <a:rPr lang="en-IN" b="1" dirty="0"/>
              <a:t>Logical Data Independence</a:t>
            </a:r>
          </a:p>
        </p:txBody>
      </p:sp>
      <p:sp>
        <p:nvSpPr>
          <p:cNvPr id="3" name="Content Placeholder 2">
            <a:extLst>
              <a:ext uri="{FF2B5EF4-FFF2-40B4-BE49-F238E27FC236}">
                <a16:creationId xmlns:a16="http://schemas.microsoft.com/office/drawing/2014/main" xmlns="" id="{6E3FED53-85EA-43A4-9CCF-6A0028741733}"/>
              </a:ext>
            </a:extLst>
          </p:cNvPr>
          <p:cNvSpPr>
            <a:spLocks noGrp="1"/>
          </p:cNvSpPr>
          <p:nvPr>
            <p:ph idx="1"/>
          </p:nvPr>
        </p:nvSpPr>
        <p:spPr/>
        <p:txBody>
          <a:bodyPr>
            <a:normAutofit fontScale="92500" lnSpcReduction="10000"/>
          </a:bodyPr>
          <a:lstStyle/>
          <a:p>
            <a:pPr algn="just"/>
            <a:r>
              <a:rPr lang="en-GB" dirty="0"/>
              <a:t>Logical data is data about database, that is, it stores information about how data is managed inside. For example, a table (relation) stored in the database and all its constraints, applied on that relation.</a:t>
            </a:r>
          </a:p>
          <a:p>
            <a:pPr algn="just"/>
            <a:r>
              <a:rPr lang="en-GB" dirty="0"/>
              <a:t>Logical data independence is a kind of mechanism, which liberalizes itself from actual data stored on the disk. If we do some changes on table format, it should not change the data residing on the disk.</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622889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00FDD2-333B-4003-93AB-5BF78869B8AE}"/>
              </a:ext>
            </a:extLst>
          </p:cNvPr>
          <p:cNvSpPr>
            <a:spLocks noGrp="1"/>
          </p:cNvSpPr>
          <p:nvPr>
            <p:ph type="title"/>
          </p:nvPr>
        </p:nvSpPr>
        <p:spPr/>
        <p:txBody>
          <a:bodyPr/>
          <a:lstStyle/>
          <a:p>
            <a:r>
              <a:rPr lang="en-IN" b="1" dirty="0"/>
              <a:t>Physical Data Independence</a:t>
            </a:r>
          </a:p>
        </p:txBody>
      </p:sp>
      <p:sp>
        <p:nvSpPr>
          <p:cNvPr id="3" name="Content Placeholder 2">
            <a:extLst>
              <a:ext uri="{FF2B5EF4-FFF2-40B4-BE49-F238E27FC236}">
                <a16:creationId xmlns:a16="http://schemas.microsoft.com/office/drawing/2014/main" xmlns="" id="{7CA4CCCC-8461-4623-B950-A71A8D0718F1}"/>
              </a:ext>
            </a:extLst>
          </p:cNvPr>
          <p:cNvSpPr>
            <a:spLocks noGrp="1"/>
          </p:cNvSpPr>
          <p:nvPr>
            <p:ph idx="1"/>
          </p:nvPr>
        </p:nvSpPr>
        <p:spPr/>
        <p:txBody>
          <a:bodyPr>
            <a:normAutofit fontScale="92500" lnSpcReduction="10000"/>
          </a:bodyPr>
          <a:lstStyle/>
          <a:p>
            <a:pPr algn="just"/>
            <a:r>
              <a:rPr lang="en-GB" dirty="0"/>
              <a:t>All the schemas are logical, and the actual data is stored in bit format on the disk. Physical data independence is the power to change the physical data without impacting the schema or logical data.</a:t>
            </a:r>
          </a:p>
          <a:p>
            <a:pPr algn="just"/>
            <a:r>
              <a:rPr lang="en-GB" dirty="0"/>
              <a:t>For example, in case we want to change or upgrade the storage system itself − suppose we want to replace hard-disks with SSD − it should not have any impact on the logical data or schemas.</a:t>
            </a:r>
            <a:endParaRPr lang="en-IN" dirty="0"/>
          </a:p>
        </p:txBody>
      </p:sp>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5"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6"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7" name="object 6"/>
          <p:cNvGrpSpPr/>
          <p:nvPr/>
        </p:nvGrpSpPr>
        <p:grpSpPr>
          <a:xfrm>
            <a:off x="7766858" y="1344258"/>
            <a:ext cx="594591" cy="234203"/>
            <a:chOff x="8543544" y="1245108"/>
            <a:chExt cx="654050" cy="265430"/>
          </a:xfrm>
        </p:grpSpPr>
        <p:sp>
          <p:nvSpPr>
            <p:cNvPr id="8"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9" name="object 8"/>
            <p:cNvPicPr/>
            <p:nvPr/>
          </p:nvPicPr>
          <p:blipFill>
            <a:blip r:embed="rId2" cstate="print"/>
            <a:stretch>
              <a:fillRect/>
            </a:stretch>
          </p:blipFill>
          <p:spPr>
            <a:xfrm>
              <a:off x="8543544" y="1345692"/>
              <a:ext cx="370331" cy="158495"/>
            </a:xfrm>
            <a:prstGeom prst="rect">
              <a:avLst/>
            </a:prstGeom>
          </p:spPr>
        </p:pic>
      </p:grpSp>
      <p:grpSp>
        <p:nvGrpSpPr>
          <p:cNvPr id="10" name="object 9"/>
          <p:cNvGrpSpPr/>
          <p:nvPr/>
        </p:nvGrpSpPr>
        <p:grpSpPr>
          <a:xfrm>
            <a:off x="680258" y="1377427"/>
            <a:ext cx="753918" cy="228040"/>
            <a:chOff x="748284" y="1282700"/>
            <a:chExt cx="829310" cy="258445"/>
          </a:xfrm>
        </p:grpSpPr>
        <p:sp>
          <p:nvSpPr>
            <p:cNvPr id="11"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2"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3"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4"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5" name="object 14"/>
            <p:cNvPicPr/>
            <p:nvPr/>
          </p:nvPicPr>
          <p:blipFill>
            <a:blip r:embed="rId3" cstate="print"/>
            <a:stretch>
              <a:fillRect/>
            </a:stretch>
          </p:blipFill>
          <p:spPr>
            <a:xfrm>
              <a:off x="1100328" y="1321308"/>
              <a:ext cx="111252" cy="172212"/>
            </a:xfrm>
            <a:prstGeom prst="rect">
              <a:avLst/>
            </a:prstGeom>
          </p:spPr>
        </p:pic>
        <p:sp>
          <p:nvSpPr>
            <p:cNvPr id="16"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7"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8" name="object 17"/>
            <p:cNvPicPr/>
            <p:nvPr/>
          </p:nvPicPr>
          <p:blipFill>
            <a:blip r:embed="rId4" cstate="print"/>
            <a:stretch>
              <a:fillRect/>
            </a:stretch>
          </p:blipFill>
          <p:spPr>
            <a:xfrm>
              <a:off x="1386840" y="1322832"/>
              <a:ext cx="132587" cy="173736"/>
            </a:xfrm>
            <a:prstGeom prst="rect">
              <a:avLst/>
            </a:prstGeom>
          </p:spPr>
        </p:pic>
      </p:grpSp>
      <p:pic>
        <p:nvPicPr>
          <p:cNvPr id="19" name="object 18"/>
          <p:cNvPicPr/>
          <p:nvPr/>
        </p:nvPicPr>
        <p:blipFill>
          <a:blip r:embed="rId5" cstate="print"/>
          <a:stretch>
            <a:fillRect/>
          </a:stretch>
        </p:blipFill>
        <p:spPr>
          <a:xfrm>
            <a:off x="246611" y="1307951"/>
            <a:ext cx="381000" cy="368449"/>
          </a:xfrm>
          <a:prstGeom prst="rect">
            <a:avLst/>
          </a:prstGeom>
        </p:spPr>
      </p:pic>
      <p:sp>
        <p:nvSpPr>
          <p:cNvPr id="20"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1"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2200213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ext&#10;&#10;Description automatically generated with medium confidence">
            <a:extLst>
              <a:ext uri="{FF2B5EF4-FFF2-40B4-BE49-F238E27FC236}">
                <a16:creationId xmlns:a16="http://schemas.microsoft.com/office/drawing/2014/main" xmlns="" id="{36B9952B-FCCC-4501-B50A-BE7525A97B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8314" y="1846192"/>
            <a:ext cx="4348286" cy="3487807"/>
          </a:xfrm>
        </p:spPr>
      </p:pic>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3"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4"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5" cstate="print"/>
            <a:stretch>
              <a:fillRect/>
            </a:stretch>
          </p:blipFill>
          <p:spPr>
            <a:xfrm>
              <a:off x="1386840" y="1322832"/>
              <a:ext cx="132587" cy="173736"/>
            </a:xfrm>
            <a:prstGeom prst="rect">
              <a:avLst/>
            </a:prstGeom>
          </p:spPr>
        </p:pic>
      </p:grpSp>
      <p:pic>
        <p:nvPicPr>
          <p:cNvPr id="20" name="object 18"/>
          <p:cNvPicPr/>
          <p:nvPr/>
        </p:nvPicPr>
        <p:blipFill>
          <a:blip r:embed="rId6"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Tree>
    <p:extLst>
      <p:ext uri="{BB962C8B-B14F-4D97-AF65-F5344CB8AC3E}">
        <p14:creationId xmlns:p14="http://schemas.microsoft.com/office/powerpoint/2010/main" val="883463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lstStyle/>
          <a:p>
            <a:pPr marL="0" indent="0" algn="ctr">
              <a:buNone/>
            </a:pPr>
            <a:endParaRPr lang="en-IN" dirty="0" smtClean="0">
              <a:solidFill>
                <a:srgbClr val="454545"/>
              </a:solidFill>
            </a:endParaRPr>
          </a:p>
          <a:p>
            <a:pPr marL="0" indent="0" algn="ctr">
              <a:buNone/>
            </a:pPr>
            <a:r>
              <a:rPr lang="en-IN" dirty="0">
                <a:solidFill>
                  <a:srgbClr val="454545"/>
                </a:solidFill>
              </a:rPr>
              <a:t/>
            </a:r>
            <a:br>
              <a:rPr lang="en-IN" dirty="0">
                <a:solidFill>
                  <a:srgbClr val="454545"/>
                </a:solidFill>
              </a:rPr>
            </a:br>
            <a:r>
              <a:rPr lang="en-IN" b="1" dirty="0">
                <a:solidFill>
                  <a:srgbClr val="454545"/>
                </a:solidFill>
              </a:rPr>
              <a:t>UNIT </a:t>
            </a:r>
            <a:r>
              <a:rPr lang="en-IN" b="1" dirty="0" smtClean="0">
                <a:solidFill>
                  <a:srgbClr val="454545"/>
                </a:solidFill>
              </a:rPr>
              <a:t>V</a:t>
            </a:r>
          </a:p>
          <a:p>
            <a:pPr marL="0" indent="0" algn="ctr">
              <a:buNone/>
            </a:pPr>
            <a:r>
              <a:rPr lang="en-IN" b="1" dirty="0" smtClean="0">
                <a:solidFill>
                  <a:srgbClr val="454545"/>
                </a:solidFill>
              </a:rPr>
              <a:t>IOT</a:t>
            </a:r>
            <a:endParaRPr lang="en-US" sz="2400" b="1" dirty="0"/>
          </a:p>
          <a:p>
            <a:endParaRPr lang="en-IN" dirty="0"/>
          </a:p>
        </p:txBody>
      </p:sp>
    </p:spTree>
    <p:extLst>
      <p:ext uri="{BB962C8B-B14F-4D97-AF65-F5344CB8AC3E}">
        <p14:creationId xmlns:p14="http://schemas.microsoft.com/office/powerpoint/2010/main" val="2841413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lstStyle/>
          <a:p>
            <a:r>
              <a:rPr lang="en-US" dirty="0" err="1"/>
              <a:t>IoT</a:t>
            </a:r>
            <a:r>
              <a:rPr lang="en-US" dirty="0"/>
              <a:t> stands for Internet of Things, which means accessing and controlling daily usable </a:t>
            </a:r>
            <a:r>
              <a:rPr lang="en-US" dirty="0" err="1"/>
              <a:t>equipments</a:t>
            </a:r>
            <a:r>
              <a:rPr lang="en-US" dirty="0"/>
              <a:t> and devices using Internet.</a:t>
            </a:r>
          </a:p>
          <a:p>
            <a:r>
              <a:rPr lang="en-US" dirty="0"/>
              <a:t>Mobile device which contains GPS Tracking, Mobile Gyroscope, Adaptive brightness, Voice detection, Face detection etc. </a:t>
            </a:r>
          </a:p>
          <a:p>
            <a:r>
              <a:rPr lang="en-US" dirty="0"/>
              <a:t>These components have their own individual features</a:t>
            </a:r>
          </a:p>
          <a:p>
            <a:endParaRPr lang="en-IN" dirty="0"/>
          </a:p>
          <a:p>
            <a:endParaRPr lang="en-IN" dirty="0"/>
          </a:p>
          <a:p>
            <a:pPr marL="0" indent="0">
              <a:buNone/>
            </a:pPr>
            <a:endParaRPr lang="en-IN" dirty="0"/>
          </a:p>
        </p:txBody>
      </p:sp>
      <p:sp>
        <p:nvSpPr>
          <p:cNvPr id="23" name="Title 1"/>
          <p:cNvSpPr>
            <a:spLocks noGrp="1"/>
          </p:cNvSpPr>
          <p:nvPr>
            <p:ph type="title"/>
          </p:nvPr>
        </p:nvSpPr>
        <p:spPr>
          <a:xfrm>
            <a:off x="457200" y="274638"/>
            <a:ext cx="8229600" cy="1143000"/>
          </a:xfrm>
        </p:spPr>
        <p:txBody>
          <a:bodyPr/>
          <a:lstStyle/>
          <a:p>
            <a:r>
              <a:rPr lang="en-IN" b="1" dirty="0" smtClean="0"/>
              <a:t>Introduction</a:t>
            </a:r>
            <a:endParaRPr lang="en-IN" b="1" dirty="0"/>
          </a:p>
        </p:txBody>
      </p:sp>
    </p:spTree>
    <p:extLst>
      <p:ext uri="{BB962C8B-B14F-4D97-AF65-F5344CB8AC3E}">
        <p14:creationId xmlns:p14="http://schemas.microsoft.com/office/powerpoint/2010/main" val="1736187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fontScale="85000" lnSpcReduction="10000"/>
          </a:bodyPr>
          <a:lstStyle/>
          <a:p>
            <a:r>
              <a:rPr lang="en-US" dirty="0"/>
              <a:t>what about if these all communicate with each other to provide a better environment? </a:t>
            </a:r>
          </a:p>
          <a:p>
            <a:r>
              <a:rPr lang="en-US" dirty="0"/>
              <a:t>For example, the phone brightness is adjusted based on my GPS location or my direction.</a:t>
            </a:r>
            <a:endParaRPr lang="en-IN" dirty="0"/>
          </a:p>
          <a:p>
            <a:r>
              <a:rPr lang="en-US" dirty="0"/>
              <a:t>Connecting everyday things embedded with electronics, software, and sensors to internet enabling to collect and exchange data without human interaction called as the Internet of Things (</a:t>
            </a:r>
            <a:r>
              <a:rPr lang="en-US" dirty="0" err="1"/>
              <a:t>IoT</a:t>
            </a:r>
            <a:r>
              <a:rPr lang="en-US" dirty="0"/>
              <a:t>).</a:t>
            </a:r>
          </a:p>
          <a:p>
            <a:r>
              <a:rPr lang="en-US" dirty="0"/>
              <a:t>The term "Things" refers to anything and everything in day to day life which is accessed or connected through the internet.</a:t>
            </a:r>
            <a:endParaRPr lang="en-IN" dirty="0"/>
          </a:p>
          <a:p>
            <a:endParaRPr lang="en-IN" dirty="0"/>
          </a:p>
          <a:p>
            <a:endParaRPr lang="en-IN" dirty="0"/>
          </a:p>
          <a:p>
            <a:pPr marL="0" indent="0">
              <a:buNone/>
            </a:pPr>
            <a:endParaRPr lang="en-IN" dirty="0"/>
          </a:p>
        </p:txBody>
      </p:sp>
    </p:spTree>
    <p:extLst>
      <p:ext uri="{BB962C8B-B14F-4D97-AF65-F5344CB8AC3E}">
        <p14:creationId xmlns:p14="http://schemas.microsoft.com/office/powerpoint/2010/main" val="83291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 if I love the room temperature to </a:t>
            </a:r>
            <a:r>
              <a:rPr lang="en-US" dirty="0" err="1"/>
              <a:t>to</a:t>
            </a:r>
            <a:r>
              <a:rPr lang="en-US" dirty="0"/>
              <a:t> be set at 24 degree Celsius when I reach back home from my office, then according to my  location, my AC would start before 10 minutes I arrive at home.</a:t>
            </a:r>
          </a:p>
          <a:p>
            <a:r>
              <a:rPr lang="en-US" dirty="0"/>
              <a:t> This can be done through the Internet of Things (</a:t>
            </a:r>
            <a:r>
              <a:rPr lang="en-US" dirty="0" err="1"/>
              <a:t>IoT</a:t>
            </a:r>
            <a:r>
              <a:rPr lang="en-US" dirty="0"/>
              <a:t>).</a:t>
            </a:r>
            <a:endParaRPr lang="en-IN" dirty="0"/>
          </a:p>
          <a:p>
            <a:endParaRPr lang="en-IN" dirty="0"/>
          </a:p>
          <a:p>
            <a:pPr marL="0" indent="0">
              <a:buNone/>
            </a:pPr>
            <a:endParaRPr lang="en-IN" dirty="0"/>
          </a:p>
        </p:txBody>
      </p:sp>
      <p:sp>
        <p:nvSpPr>
          <p:cNvPr id="23" name="Title 1"/>
          <p:cNvSpPr>
            <a:spLocks noGrp="1"/>
          </p:cNvSpPr>
          <p:nvPr>
            <p:ph type="title"/>
          </p:nvPr>
        </p:nvSpPr>
        <p:spPr>
          <a:xfrm>
            <a:off x="457200" y="274638"/>
            <a:ext cx="8229600" cy="1143000"/>
          </a:xfrm>
        </p:spPr>
        <p:txBody>
          <a:bodyPr/>
          <a:lstStyle/>
          <a:p>
            <a:r>
              <a:rPr lang="en-IN" b="1" dirty="0"/>
              <a:t>For Example</a:t>
            </a:r>
          </a:p>
        </p:txBody>
      </p:sp>
    </p:spTree>
    <p:extLst>
      <p:ext uri="{BB962C8B-B14F-4D97-AF65-F5344CB8AC3E}">
        <p14:creationId xmlns:p14="http://schemas.microsoft.com/office/powerpoint/2010/main" val="938651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The entire working process of </a:t>
            </a:r>
            <a:r>
              <a:rPr lang="en-US" dirty="0" err="1"/>
              <a:t>IoT</a:t>
            </a:r>
            <a:r>
              <a:rPr lang="en-US" dirty="0"/>
              <a:t> starts with the device themselves, such as smartphones, digital watches, electronic appliances, which securely communicate with the </a:t>
            </a:r>
            <a:r>
              <a:rPr lang="en-US" dirty="0" err="1"/>
              <a:t>IoT</a:t>
            </a:r>
            <a:r>
              <a:rPr lang="en-US" dirty="0"/>
              <a:t> platform. </a:t>
            </a:r>
          </a:p>
          <a:p>
            <a:r>
              <a:rPr lang="en-US" dirty="0"/>
              <a:t>The platforms collect and analyze the data from all multiple devices and platforms and transfer the most valuable data with applications to devices</a:t>
            </a:r>
            <a:endParaRPr lang="en-IN" dirty="0"/>
          </a:p>
          <a:p>
            <a:endParaRPr lang="en-IN" dirty="0"/>
          </a:p>
          <a:p>
            <a:pPr marL="0" indent="0">
              <a:buNone/>
            </a:pPr>
            <a:endParaRPr lang="en-IN" dirty="0"/>
          </a:p>
        </p:txBody>
      </p:sp>
      <p:sp>
        <p:nvSpPr>
          <p:cNvPr id="23" name="Title 1"/>
          <p:cNvSpPr>
            <a:spLocks noGrp="1"/>
          </p:cNvSpPr>
          <p:nvPr>
            <p:ph type="title"/>
          </p:nvPr>
        </p:nvSpPr>
        <p:spPr>
          <a:xfrm>
            <a:off x="457200" y="274638"/>
            <a:ext cx="8229600" cy="1143000"/>
          </a:xfrm>
        </p:spPr>
        <p:txBody>
          <a:bodyPr/>
          <a:lstStyle/>
          <a:p>
            <a:r>
              <a:rPr lang="en-IN" b="1" dirty="0"/>
              <a:t>How IOT works</a:t>
            </a:r>
          </a:p>
        </p:txBody>
      </p:sp>
    </p:spTree>
    <p:extLst>
      <p:ext uri="{BB962C8B-B14F-4D97-AF65-F5344CB8AC3E}">
        <p14:creationId xmlns:p14="http://schemas.microsoft.com/office/powerpoint/2010/main" val="25016895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An </a:t>
            </a:r>
            <a:r>
              <a:rPr lang="en-US" dirty="0" err="1"/>
              <a:t>IoT</a:t>
            </a:r>
            <a:r>
              <a:rPr lang="en-US" dirty="0"/>
              <a:t> system altogether consists of 4 different components</a:t>
            </a:r>
          </a:p>
          <a:p>
            <a:r>
              <a:rPr lang="en-US" dirty="0"/>
              <a:t> Sensors</a:t>
            </a:r>
          </a:p>
          <a:p>
            <a:r>
              <a:rPr lang="en-US" dirty="0"/>
              <a:t>Connectivity</a:t>
            </a:r>
          </a:p>
          <a:p>
            <a:r>
              <a:rPr lang="en-US" dirty="0"/>
              <a:t>Data Processing</a:t>
            </a:r>
          </a:p>
          <a:p>
            <a:r>
              <a:rPr lang="en-US" dirty="0"/>
              <a:t> User Interface.</a:t>
            </a:r>
            <a:endParaRPr lang="en-IN" dirty="0"/>
          </a:p>
          <a:p>
            <a:pPr marL="0" indent="0">
              <a:buNone/>
            </a:pPr>
            <a:endParaRPr lang="en-IN" dirty="0"/>
          </a:p>
        </p:txBody>
      </p:sp>
    </p:spTree>
    <p:extLst>
      <p:ext uri="{BB962C8B-B14F-4D97-AF65-F5344CB8AC3E}">
        <p14:creationId xmlns:p14="http://schemas.microsoft.com/office/powerpoint/2010/main" val="3733564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lnSpcReduction="10000"/>
          </a:bodyPr>
          <a:lstStyle/>
          <a:p>
            <a:r>
              <a:rPr lang="en-US" dirty="0"/>
              <a:t>Sensors are the devices that start the whole process of data collection, verification. </a:t>
            </a:r>
          </a:p>
          <a:p>
            <a:r>
              <a:rPr lang="en-US" dirty="0"/>
              <a:t>This could be any simple device like a temperature reading to an advanced level such as a video feed altogether.</a:t>
            </a:r>
          </a:p>
          <a:p>
            <a:r>
              <a:rPr lang="en-US" dirty="0"/>
              <a:t>A sensor as such a component in the </a:t>
            </a:r>
            <a:r>
              <a:rPr lang="en-US" dirty="0" err="1"/>
              <a:t>IoT</a:t>
            </a:r>
            <a:r>
              <a:rPr lang="en-US" dirty="0"/>
              <a:t> system could be just a single device or a combination of various sensors, devices that collect data from the intended environment.</a:t>
            </a:r>
          </a:p>
          <a:p>
            <a:endParaRPr lang="en-IN" dirty="0"/>
          </a:p>
          <a:p>
            <a:pPr marL="0" indent="0">
              <a:buNone/>
            </a:pPr>
            <a:endParaRPr lang="en-IN" dirty="0"/>
          </a:p>
        </p:txBody>
      </p:sp>
      <p:sp>
        <p:nvSpPr>
          <p:cNvPr id="3" name="Title 2"/>
          <p:cNvSpPr>
            <a:spLocks noGrp="1"/>
          </p:cNvSpPr>
          <p:nvPr>
            <p:ph type="title"/>
          </p:nvPr>
        </p:nvSpPr>
        <p:spPr/>
        <p:txBody>
          <a:bodyPr/>
          <a:lstStyle/>
          <a:p>
            <a:r>
              <a:rPr lang="en-IN" b="1" dirty="0"/>
              <a:t>Sensors</a:t>
            </a:r>
            <a:endParaRPr lang="en-IN" dirty="0"/>
          </a:p>
        </p:txBody>
      </p:sp>
    </p:spTree>
    <p:extLst>
      <p:ext uri="{BB962C8B-B14F-4D97-AF65-F5344CB8AC3E}">
        <p14:creationId xmlns:p14="http://schemas.microsoft.com/office/powerpoint/2010/main" val="3475650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The data collected needs to be processed and a thoughtful decision be made out of that data.</a:t>
            </a:r>
          </a:p>
          <a:p>
            <a:r>
              <a:rPr lang="en-US" dirty="0"/>
              <a:t>These devices may all be connected to the Cloud via various methods such as </a:t>
            </a:r>
            <a:r>
              <a:rPr lang="en-US" dirty="0" err="1"/>
              <a:t>WiFi</a:t>
            </a:r>
            <a:r>
              <a:rPr lang="en-US" dirty="0"/>
              <a:t>, Cellular Satellite, Bluetooth, LAN, WAN and </a:t>
            </a:r>
            <a:r>
              <a:rPr lang="en-US" dirty="0" err="1"/>
              <a:t>etc</a:t>
            </a:r>
            <a:endParaRPr lang="en-US" dirty="0"/>
          </a:p>
          <a:p>
            <a:pPr marL="0" indent="0">
              <a:buNone/>
            </a:pPr>
            <a:endParaRPr lang="en-IN" dirty="0"/>
          </a:p>
        </p:txBody>
      </p:sp>
      <p:sp>
        <p:nvSpPr>
          <p:cNvPr id="3" name="Title 2"/>
          <p:cNvSpPr>
            <a:spLocks noGrp="1"/>
          </p:cNvSpPr>
          <p:nvPr>
            <p:ph type="title"/>
          </p:nvPr>
        </p:nvSpPr>
        <p:spPr/>
        <p:txBody>
          <a:bodyPr/>
          <a:lstStyle/>
          <a:p>
            <a:r>
              <a:rPr lang="en-IN" b="1" dirty="0"/>
              <a:t>Connectivity</a:t>
            </a:r>
            <a:endParaRPr lang="en-IN" dirty="0"/>
          </a:p>
        </p:txBody>
      </p:sp>
    </p:spTree>
    <p:extLst>
      <p:ext uri="{BB962C8B-B14F-4D97-AF65-F5344CB8AC3E}">
        <p14:creationId xmlns:p14="http://schemas.microsoft.com/office/powerpoint/2010/main" val="19333652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Once the data is collected and obtained t via  pre-set connectivity, then it is all logical to process this data.</a:t>
            </a:r>
          </a:p>
          <a:p>
            <a:r>
              <a:rPr lang="en-US" dirty="0"/>
              <a:t> Based on the data that you are collecting, the processing of this will be dependent.</a:t>
            </a:r>
          </a:p>
          <a:p>
            <a:r>
              <a:rPr lang="en-US" dirty="0"/>
              <a:t>For example, if your incoming data is temperature then data processing  checks whether it is within a permissible limit or not.</a:t>
            </a:r>
          </a:p>
          <a:p>
            <a:endParaRPr lang="en-US" dirty="0"/>
          </a:p>
          <a:p>
            <a:pPr marL="0" indent="0">
              <a:buNone/>
            </a:pPr>
            <a:endParaRPr lang="en-IN" dirty="0"/>
          </a:p>
        </p:txBody>
      </p:sp>
      <p:sp>
        <p:nvSpPr>
          <p:cNvPr id="3" name="Title 2"/>
          <p:cNvSpPr>
            <a:spLocks noGrp="1"/>
          </p:cNvSpPr>
          <p:nvPr>
            <p:ph type="title"/>
          </p:nvPr>
        </p:nvSpPr>
        <p:spPr/>
        <p:txBody>
          <a:bodyPr/>
          <a:lstStyle/>
          <a:p>
            <a:r>
              <a:rPr lang="en-IN" b="1" dirty="0"/>
              <a:t>Data Processing</a:t>
            </a:r>
            <a:endParaRPr lang="en-IN" dirty="0"/>
          </a:p>
        </p:txBody>
      </p:sp>
    </p:spTree>
    <p:extLst>
      <p:ext uri="{BB962C8B-B14F-4D97-AF65-F5344CB8AC3E}">
        <p14:creationId xmlns:p14="http://schemas.microsoft.com/office/powerpoint/2010/main" val="30532330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Based on the processed data, what are the next set of actions that you want to perform that could be checked on a User interface. </a:t>
            </a:r>
          </a:p>
          <a:p>
            <a:r>
              <a:rPr lang="en-US" dirty="0"/>
              <a:t>This could probably be your Mobile application on a phone or a tablet etc.</a:t>
            </a:r>
            <a:endParaRPr lang="en-IN" dirty="0"/>
          </a:p>
          <a:p>
            <a:endParaRPr lang="en-US" dirty="0"/>
          </a:p>
          <a:p>
            <a:pPr marL="0" indent="0">
              <a:buNone/>
            </a:pPr>
            <a:endParaRPr lang="en-IN" dirty="0"/>
          </a:p>
        </p:txBody>
      </p:sp>
      <p:sp>
        <p:nvSpPr>
          <p:cNvPr id="3" name="Title 2"/>
          <p:cNvSpPr>
            <a:spLocks noGrp="1"/>
          </p:cNvSpPr>
          <p:nvPr>
            <p:ph type="title"/>
          </p:nvPr>
        </p:nvSpPr>
        <p:spPr/>
        <p:txBody>
          <a:bodyPr/>
          <a:lstStyle/>
          <a:p>
            <a:r>
              <a:rPr lang="en-IN" b="1" dirty="0"/>
              <a:t>User Interface</a:t>
            </a:r>
            <a:endParaRPr lang="en-IN" dirty="0"/>
          </a:p>
        </p:txBody>
      </p:sp>
    </p:spTree>
    <p:extLst>
      <p:ext uri="{BB962C8B-B14F-4D97-AF65-F5344CB8AC3E}">
        <p14:creationId xmlns:p14="http://schemas.microsoft.com/office/powerpoint/2010/main" val="1693233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lnSpcReduction="10000"/>
          </a:bodyPr>
          <a:lstStyle/>
          <a:p>
            <a:r>
              <a:rPr lang="en-US" dirty="0"/>
              <a:t>1970- The actual idea of connected devices was proposed</a:t>
            </a:r>
          </a:p>
          <a:p>
            <a:r>
              <a:rPr lang="en-US" dirty="0"/>
              <a:t>1990- John </a:t>
            </a:r>
            <a:r>
              <a:rPr lang="en-US" dirty="0" err="1"/>
              <a:t>Romkey</a:t>
            </a:r>
            <a:r>
              <a:rPr lang="en-US" dirty="0"/>
              <a:t> created a toaster which could be turned on/off over the Internet</a:t>
            </a:r>
          </a:p>
          <a:p>
            <a:r>
              <a:rPr lang="en-US" dirty="0"/>
              <a:t>1995- Siemens introduced the first cellular module built for M2M</a:t>
            </a:r>
          </a:p>
          <a:p>
            <a:r>
              <a:rPr lang="en-US" dirty="0"/>
              <a:t>1999- The term “Internet of Things” was used by Kevin Ashton during his work at P&amp;G which became widely accepted</a:t>
            </a:r>
          </a:p>
          <a:p>
            <a:endParaRPr lang="en-US" dirty="0"/>
          </a:p>
          <a:p>
            <a:pPr marL="0" indent="0">
              <a:buNone/>
            </a:pPr>
            <a:endParaRPr lang="en-IN" dirty="0"/>
          </a:p>
        </p:txBody>
      </p:sp>
      <p:sp>
        <p:nvSpPr>
          <p:cNvPr id="3" name="Title 2"/>
          <p:cNvSpPr>
            <a:spLocks noGrp="1"/>
          </p:cNvSpPr>
          <p:nvPr>
            <p:ph type="title"/>
          </p:nvPr>
        </p:nvSpPr>
        <p:spPr/>
        <p:txBody>
          <a:bodyPr/>
          <a:lstStyle/>
          <a:p>
            <a:r>
              <a:rPr lang="en-IN" b="1" dirty="0" smtClean="0"/>
              <a:t>History</a:t>
            </a:r>
            <a:endParaRPr lang="en-IN" b="1" dirty="0"/>
          </a:p>
        </p:txBody>
      </p:sp>
    </p:spTree>
    <p:extLst>
      <p:ext uri="{BB962C8B-B14F-4D97-AF65-F5344CB8AC3E}">
        <p14:creationId xmlns:p14="http://schemas.microsoft.com/office/powerpoint/2010/main" val="3795599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fontScale="92500"/>
          </a:bodyPr>
          <a:lstStyle/>
          <a:p>
            <a:r>
              <a:rPr lang="en-US" dirty="0"/>
              <a:t>2004 – The term was mentioned in famous publications like the Guardian, Boston Globe, and Scientific American</a:t>
            </a:r>
          </a:p>
          <a:p>
            <a:r>
              <a:rPr lang="en-US" dirty="0"/>
              <a:t>2005-UN’s International Telecommunications Union (ITU) published its first report on this topic.</a:t>
            </a:r>
          </a:p>
          <a:p>
            <a:r>
              <a:rPr lang="en-US" dirty="0"/>
              <a:t>2008- The Internet of Things was born</a:t>
            </a:r>
          </a:p>
          <a:p>
            <a:r>
              <a:rPr lang="en-US" dirty="0"/>
              <a:t>2011- Gartner, the market research company, include “The Internet of Things” technology in their research</a:t>
            </a:r>
          </a:p>
          <a:p>
            <a:endParaRPr lang="en-US" dirty="0"/>
          </a:p>
          <a:p>
            <a:pPr marL="0" indent="0">
              <a:buNone/>
            </a:pPr>
            <a:endParaRPr lang="en-IN" dirty="0"/>
          </a:p>
        </p:txBody>
      </p:sp>
      <p:sp>
        <p:nvSpPr>
          <p:cNvPr id="3" name="Title 2"/>
          <p:cNvSpPr>
            <a:spLocks noGrp="1"/>
          </p:cNvSpPr>
          <p:nvPr>
            <p:ph type="title"/>
          </p:nvPr>
        </p:nvSpPr>
        <p:spPr/>
        <p:txBody>
          <a:bodyPr/>
          <a:lstStyle/>
          <a:p>
            <a:endParaRPr lang="en-IN" b="1" dirty="0"/>
          </a:p>
        </p:txBody>
      </p:sp>
    </p:spTree>
    <p:extLst>
      <p:ext uri="{BB962C8B-B14F-4D97-AF65-F5344CB8AC3E}">
        <p14:creationId xmlns:p14="http://schemas.microsoft.com/office/powerpoint/2010/main" val="939825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Embedded means something that is attached to another thing.</a:t>
            </a:r>
          </a:p>
          <a:p>
            <a:r>
              <a:rPr lang="en-US" dirty="0"/>
              <a:t> An embedded system can be an independent system or it can be a part of a large system. </a:t>
            </a:r>
          </a:p>
          <a:p>
            <a:r>
              <a:rPr lang="en-US" dirty="0"/>
              <a:t>An embedded system is a microcontroller or microprocessor based system which is designed to perform a specific task.</a:t>
            </a:r>
          </a:p>
          <a:p>
            <a:pPr marL="0" indent="0">
              <a:buNone/>
            </a:pPr>
            <a:endParaRPr lang="en-IN" dirty="0"/>
          </a:p>
          <a:p>
            <a:endParaRPr lang="en-US" dirty="0"/>
          </a:p>
          <a:p>
            <a:pPr marL="0" indent="0">
              <a:buNone/>
            </a:pPr>
            <a:endParaRPr lang="en-IN" dirty="0"/>
          </a:p>
        </p:txBody>
      </p:sp>
      <p:sp>
        <p:nvSpPr>
          <p:cNvPr id="3" name="Title 2"/>
          <p:cNvSpPr>
            <a:spLocks noGrp="1"/>
          </p:cNvSpPr>
          <p:nvPr>
            <p:ph type="title"/>
          </p:nvPr>
        </p:nvSpPr>
        <p:spPr/>
        <p:txBody>
          <a:bodyPr/>
          <a:lstStyle/>
          <a:p>
            <a:r>
              <a:rPr lang="en-IN" b="1" dirty="0"/>
              <a:t>EMBEDDED SYSTEMS</a:t>
            </a:r>
            <a:endParaRPr lang="en-IN" b="1" dirty="0"/>
          </a:p>
        </p:txBody>
      </p:sp>
    </p:spTree>
    <p:extLst>
      <p:ext uri="{BB962C8B-B14F-4D97-AF65-F5344CB8AC3E}">
        <p14:creationId xmlns:p14="http://schemas.microsoft.com/office/powerpoint/2010/main" val="15920343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An embedded system is a combination of computer hardware and software designed for a specific function</a:t>
            </a:r>
          </a:p>
          <a:p>
            <a:r>
              <a:rPr lang="en-US" dirty="0"/>
              <a:t>These systems may or may not connect to the Internet.</a:t>
            </a:r>
          </a:p>
          <a:p>
            <a:r>
              <a:rPr lang="en-US" dirty="0"/>
              <a:t>For example, a fire alarm is an embedded system; it will sense only smoke. It has </a:t>
            </a:r>
            <a:r>
              <a:rPr lang="en-US" dirty="0" err="1"/>
              <a:t>hardw</a:t>
            </a:r>
            <a:endParaRPr lang="en-US" dirty="0"/>
          </a:p>
          <a:p>
            <a:pPr marL="0" indent="0">
              <a:buNone/>
            </a:pPr>
            <a:endParaRPr lang="en-IN" dirty="0"/>
          </a:p>
        </p:txBody>
      </p:sp>
      <p:sp>
        <p:nvSpPr>
          <p:cNvPr id="3" name="Title 2"/>
          <p:cNvSpPr>
            <a:spLocks noGrp="1"/>
          </p:cNvSpPr>
          <p:nvPr>
            <p:ph type="title"/>
          </p:nvPr>
        </p:nvSpPr>
        <p:spPr/>
        <p:txBody>
          <a:bodyPr/>
          <a:lstStyle/>
          <a:p>
            <a:r>
              <a:rPr lang="en-IN" b="1" dirty="0"/>
              <a:t>EMBEDDED SYSTEMS</a:t>
            </a:r>
            <a:endParaRPr lang="en-IN" b="1" dirty="0"/>
          </a:p>
        </p:txBody>
      </p:sp>
    </p:spTree>
    <p:extLst>
      <p:ext uri="{BB962C8B-B14F-4D97-AF65-F5344CB8AC3E}">
        <p14:creationId xmlns:p14="http://schemas.microsoft.com/office/powerpoint/2010/main" val="2717815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2" name="Content Placeholder 1"/>
          <p:cNvSpPr>
            <a:spLocks noGrp="1"/>
          </p:cNvSpPr>
          <p:nvPr>
            <p:ph idx="1"/>
          </p:nvPr>
        </p:nvSpPr>
        <p:spPr/>
        <p:txBody>
          <a:bodyPr>
            <a:normAutofit/>
          </a:bodyPr>
          <a:lstStyle/>
          <a:p>
            <a:r>
              <a:rPr lang="en-US" dirty="0"/>
              <a:t>Hardware.</a:t>
            </a:r>
          </a:p>
          <a:p>
            <a:r>
              <a:rPr lang="en-US" dirty="0"/>
              <a:t>Application software.</a:t>
            </a:r>
          </a:p>
          <a:p>
            <a:r>
              <a:rPr lang="en-US" dirty="0"/>
              <a:t>Real Time Operating system (RTOS)</a:t>
            </a:r>
          </a:p>
          <a:p>
            <a:r>
              <a:rPr lang="en-US" dirty="0" err="1"/>
              <a:t>RTOSes</a:t>
            </a:r>
            <a:r>
              <a:rPr lang="en-US" dirty="0"/>
              <a:t> define how the system works by supervising the software and setting rules during program execution. </a:t>
            </a:r>
          </a:p>
          <a:p>
            <a:pPr lvl="1"/>
            <a:endParaRPr lang="en-IN" sz="3200" dirty="0"/>
          </a:p>
          <a:p>
            <a:endParaRPr lang="en-US" dirty="0"/>
          </a:p>
          <a:p>
            <a:pPr marL="0" indent="0">
              <a:buNone/>
            </a:pPr>
            <a:endParaRPr lang="en-IN" dirty="0"/>
          </a:p>
        </p:txBody>
      </p:sp>
      <p:sp>
        <p:nvSpPr>
          <p:cNvPr id="3" name="Title 2"/>
          <p:cNvSpPr>
            <a:spLocks noGrp="1"/>
          </p:cNvSpPr>
          <p:nvPr>
            <p:ph type="title"/>
          </p:nvPr>
        </p:nvSpPr>
        <p:spPr/>
        <p:txBody>
          <a:bodyPr/>
          <a:lstStyle/>
          <a:p>
            <a:r>
              <a:rPr lang="en-US" b="1" dirty="0"/>
              <a:t>Components</a:t>
            </a:r>
            <a:endParaRPr lang="en-IN" b="1" dirty="0"/>
          </a:p>
        </p:txBody>
      </p:sp>
    </p:spTree>
    <p:extLst>
      <p:ext uri="{BB962C8B-B14F-4D97-AF65-F5344CB8AC3E}">
        <p14:creationId xmlns:p14="http://schemas.microsoft.com/office/powerpoint/2010/main" val="1609343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p:txBody>
          <a:bodyPr/>
          <a:lstStyle/>
          <a:p>
            <a:r>
              <a:rPr lang="en-US" b="1" dirty="0"/>
              <a:t>Structure</a:t>
            </a:r>
            <a:endParaRPr lang="en-IN" b="1" dirty="0"/>
          </a:p>
        </p:txBody>
      </p:sp>
      <p:pic>
        <p:nvPicPr>
          <p:cNvPr id="23" name="Picture 2" descr="Embedded Systems Structure"/>
          <p:cNvPicPr>
            <a:picLocks noGrp="1" noChangeAspect="1" noChangeArrowheads="1"/>
          </p:cNvPicPr>
          <p:nvPr>
            <p:ph idx="1"/>
          </p:nvPr>
        </p:nvPicPr>
        <p:blipFill>
          <a:blip r:embed="rId6">
            <a:extLst>
              <a:ext uri="{28A0092B-C50C-407E-A947-70E740481C1C}">
                <a14:useLocalDpi xmlns:a14="http://schemas.microsoft.com/office/drawing/2010/main" val="0"/>
              </a:ext>
            </a:extLst>
          </a:blip>
          <a:srcRect/>
          <a:stretch>
            <a:fillRect/>
          </a:stretch>
        </p:blipFill>
        <p:spPr bwMode="auto">
          <a:xfrm>
            <a:off x="466842" y="1771650"/>
            <a:ext cx="8301758" cy="18097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66841" y="3657600"/>
            <a:ext cx="8140989" cy="2062103"/>
          </a:xfrm>
          <a:prstGeom prst="rect">
            <a:avLst/>
          </a:prstGeom>
        </p:spPr>
        <p:txBody>
          <a:bodyPr wrap="square">
            <a:spAutoFit/>
          </a:bodyPr>
          <a:lstStyle/>
          <a:p>
            <a:r>
              <a:rPr lang="en-US" sz="3200" dirty="0">
                <a:solidFill>
                  <a:srgbClr val="666666"/>
                </a:solidFill>
              </a:rPr>
              <a:t>The sensor reads external inputs, the converters make that input readable to the processor, and the processor turns that information into useful output for the embedded system</a:t>
            </a:r>
            <a:endParaRPr lang="en-IN" sz="3200" dirty="0"/>
          </a:p>
        </p:txBody>
      </p:sp>
    </p:spTree>
    <p:extLst>
      <p:ext uri="{BB962C8B-B14F-4D97-AF65-F5344CB8AC3E}">
        <p14:creationId xmlns:p14="http://schemas.microsoft.com/office/powerpoint/2010/main" val="12035888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Sensor</a:t>
            </a:r>
            <a:endParaRPr lang="en-IN" b="1" dirty="0"/>
          </a:p>
        </p:txBody>
      </p:sp>
      <p:sp>
        <p:nvSpPr>
          <p:cNvPr id="2" name="Content Placeholder 1"/>
          <p:cNvSpPr>
            <a:spLocks noGrp="1"/>
          </p:cNvSpPr>
          <p:nvPr>
            <p:ph idx="1"/>
          </p:nvPr>
        </p:nvSpPr>
        <p:spPr>
          <a:xfrm>
            <a:off x="437111" y="1752600"/>
            <a:ext cx="8229600" cy="4114800"/>
          </a:xfrm>
        </p:spPr>
        <p:txBody>
          <a:bodyPr/>
          <a:lstStyle/>
          <a:p>
            <a:r>
              <a:rPr lang="en-US" dirty="0"/>
              <a:t>It measures the physical quantity and converts it to an electrical signal</a:t>
            </a:r>
          </a:p>
          <a:p>
            <a:r>
              <a:rPr lang="en-US" dirty="0"/>
              <a:t>A sensor stores the measured quantity to the </a:t>
            </a:r>
            <a:r>
              <a:rPr lang="en-US" dirty="0" smtClean="0"/>
              <a:t>memory</a:t>
            </a:r>
            <a:endParaRPr lang="en-IN" dirty="0"/>
          </a:p>
        </p:txBody>
      </p:sp>
    </p:spTree>
    <p:extLst>
      <p:ext uri="{BB962C8B-B14F-4D97-AF65-F5344CB8AC3E}">
        <p14:creationId xmlns:p14="http://schemas.microsoft.com/office/powerpoint/2010/main" val="4260979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US" b="1" dirty="0"/>
              <a:t>A-D Converter</a:t>
            </a:r>
            <a:endParaRPr lang="en-IN" b="1" dirty="0"/>
          </a:p>
        </p:txBody>
      </p:sp>
      <p:sp>
        <p:nvSpPr>
          <p:cNvPr id="2" name="Content Placeholder 1"/>
          <p:cNvSpPr>
            <a:spLocks noGrp="1"/>
          </p:cNvSpPr>
          <p:nvPr>
            <p:ph idx="1"/>
          </p:nvPr>
        </p:nvSpPr>
        <p:spPr>
          <a:xfrm>
            <a:off x="437111" y="1752600"/>
            <a:ext cx="8229600" cy="4114800"/>
          </a:xfrm>
        </p:spPr>
        <p:txBody>
          <a:bodyPr/>
          <a:lstStyle/>
          <a:p>
            <a:r>
              <a:rPr lang="en-US" dirty="0"/>
              <a:t>An analog-to-digital converter converts the analog signal sent by the sensor into a digital signal.</a:t>
            </a:r>
          </a:p>
          <a:p>
            <a:endParaRPr lang="en-IN" dirty="0"/>
          </a:p>
          <a:p>
            <a:pPr marL="0" indent="0">
              <a:buNone/>
            </a:pPr>
            <a:endParaRPr lang="en-IN" dirty="0"/>
          </a:p>
        </p:txBody>
      </p:sp>
    </p:spTree>
    <p:extLst>
      <p:ext uri="{BB962C8B-B14F-4D97-AF65-F5344CB8AC3E}">
        <p14:creationId xmlns:p14="http://schemas.microsoft.com/office/powerpoint/2010/main" val="13499844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Processor</a:t>
            </a:r>
            <a:endParaRPr lang="en-IN" b="1" dirty="0"/>
          </a:p>
        </p:txBody>
      </p:sp>
      <p:sp>
        <p:nvSpPr>
          <p:cNvPr id="2" name="Content Placeholder 1"/>
          <p:cNvSpPr>
            <a:spLocks noGrp="1"/>
          </p:cNvSpPr>
          <p:nvPr>
            <p:ph idx="1"/>
          </p:nvPr>
        </p:nvSpPr>
        <p:spPr>
          <a:xfrm>
            <a:off x="437111" y="1752600"/>
            <a:ext cx="8229600" cy="4114800"/>
          </a:xfrm>
        </p:spPr>
        <p:txBody>
          <a:bodyPr/>
          <a:lstStyle/>
          <a:p>
            <a:r>
              <a:rPr lang="en-US" dirty="0"/>
              <a:t> Process digital signals and store them in memory</a:t>
            </a:r>
            <a:r>
              <a:rPr lang="en-US" dirty="0" smtClean="0"/>
              <a:t>..</a:t>
            </a:r>
            <a:endParaRPr lang="en-IN" dirty="0"/>
          </a:p>
        </p:txBody>
      </p:sp>
    </p:spTree>
    <p:extLst>
      <p:ext uri="{BB962C8B-B14F-4D97-AF65-F5344CB8AC3E}">
        <p14:creationId xmlns:p14="http://schemas.microsoft.com/office/powerpoint/2010/main" val="17915307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D-A Converter</a:t>
            </a:r>
            <a:endParaRPr lang="en-IN" b="1" dirty="0"/>
          </a:p>
        </p:txBody>
      </p:sp>
      <p:sp>
        <p:nvSpPr>
          <p:cNvPr id="2" name="Content Placeholder 1"/>
          <p:cNvSpPr>
            <a:spLocks noGrp="1"/>
          </p:cNvSpPr>
          <p:nvPr>
            <p:ph idx="1"/>
          </p:nvPr>
        </p:nvSpPr>
        <p:spPr>
          <a:xfrm>
            <a:off x="437111" y="1752600"/>
            <a:ext cx="8229600" cy="4114800"/>
          </a:xfrm>
        </p:spPr>
        <p:txBody>
          <a:bodyPr/>
          <a:lstStyle/>
          <a:p>
            <a:r>
              <a:rPr lang="en-US" dirty="0"/>
              <a:t> Change the digital data from the processor into analog data.</a:t>
            </a:r>
            <a:endParaRPr lang="en-IN" dirty="0"/>
          </a:p>
        </p:txBody>
      </p:sp>
    </p:spTree>
    <p:extLst>
      <p:ext uri="{BB962C8B-B14F-4D97-AF65-F5344CB8AC3E}">
        <p14:creationId xmlns:p14="http://schemas.microsoft.com/office/powerpoint/2010/main" val="2079463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Actuator</a:t>
            </a:r>
            <a:endParaRPr lang="en-IN" b="1" dirty="0"/>
          </a:p>
        </p:txBody>
      </p:sp>
      <p:sp>
        <p:nvSpPr>
          <p:cNvPr id="2" name="Content Placeholder 1"/>
          <p:cNvSpPr>
            <a:spLocks noGrp="1"/>
          </p:cNvSpPr>
          <p:nvPr>
            <p:ph idx="1"/>
          </p:nvPr>
        </p:nvSpPr>
        <p:spPr>
          <a:xfrm>
            <a:off x="437111" y="1752600"/>
            <a:ext cx="8229600" cy="4114800"/>
          </a:xfrm>
        </p:spPr>
        <p:txBody>
          <a:bodyPr/>
          <a:lstStyle/>
          <a:p>
            <a:r>
              <a:rPr lang="en-US" dirty="0"/>
              <a:t>Compare actual output to memory-stored output and choose the correct one</a:t>
            </a:r>
            <a:r>
              <a:rPr lang="en-US" dirty="0" smtClean="0"/>
              <a:t>..</a:t>
            </a:r>
            <a:endParaRPr lang="en-IN" dirty="0"/>
          </a:p>
        </p:txBody>
      </p:sp>
    </p:spTree>
    <p:extLst>
      <p:ext uri="{BB962C8B-B14F-4D97-AF65-F5344CB8AC3E}">
        <p14:creationId xmlns:p14="http://schemas.microsoft.com/office/powerpoint/2010/main" val="899090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Examples</a:t>
            </a:r>
            <a:endParaRPr lang="en-IN" b="1" dirty="0"/>
          </a:p>
        </p:txBody>
      </p:sp>
      <p:sp>
        <p:nvSpPr>
          <p:cNvPr id="2" name="Content Placeholder 1"/>
          <p:cNvSpPr>
            <a:spLocks noGrp="1"/>
          </p:cNvSpPr>
          <p:nvPr>
            <p:ph idx="1"/>
          </p:nvPr>
        </p:nvSpPr>
        <p:spPr>
          <a:xfrm>
            <a:off x="437111" y="1752600"/>
            <a:ext cx="8229600" cy="4114800"/>
          </a:xfrm>
        </p:spPr>
        <p:txBody>
          <a:bodyPr>
            <a:normAutofit fontScale="92500" lnSpcReduction="10000"/>
          </a:bodyPr>
          <a:lstStyle/>
          <a:p>
            <a:pPr marL="0" indent="0">
              <a:buNone/>
            </a:pPr>
            <a:r>
              <a:rPr lang="en-US" b="1" dirty="0"/>
              <a:t>Automobiles.</a:t>
            </a:r>
            <a:r>
              <a:rPr lang="en-US" dirty="0"/>
              <a:t> </a:t>
            </a:r>
          </a:p>
          <a:p>
            <a:r>
              <a:rPr lang="en-US" dirty="0"/>
              <a:t>Modern cars commonly consist of many computers (sometimes as many as 100), or embedded systems, designed to perform different tasks within the vehicle. </a:t>
            </a:r>
          </a:p>
          <a:p>
            <a:r>
              <a:rPr lang="en-US" dirty="0"/>
              <a:t>Some embedded systems in consumer vehicles include cruise control, backup sensors, suspension control, navigation systems and airbag systems.</a:t>
            </a:r>
          </a:p>
          <a:p>
            <a:endParaRPr lang="en-IN" dirty="0"/>
          </a:p>
          <a:p>
            <a:pPr marL="0" indent="0">
              <a:buNone/>
            </a:pPr>
            <a:endParaRPr lang="en-IN" dirty="0"/>
          </a:p>
        </p:txBody>
      </p:sp>
    </p:spTree>
    <p:extLst>
      <p:ext uri="{BB962C8B-B14F-4D97-AF65-F5344CB8AC3E}">
        <p14:creationId xmlns:p14="http://schemas.microsoft.com/office/powerpoint/2010/main" val="1003779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Examples</a:t>
            </a:r>
            <a:endParaRPr lang="en-IN" b="1" dirty="0"/>
          </a:p>
        </p:txBody>
      </p:sp>
      <p:sp>
        <p:nvSpPr>
          <p:cNvPr id="2" name="Content Placeholder 1"/>
          <p:cNvSpPr>
            <a:spLocks noGrp="1"/>
          </p:cNvSpPr>
          <p:nvPr>
            <p:ph idx="1"/>
          </p:nvPr>
        </p:nvSpPr>
        <p:spPr>
          <a:xfrm>
            <a:off x="437111" y="1752600"/>
            <a:ext cx="8229600" cy="4114800"/>
          </a:xfrm>
        </p:spPr>
        <p:txBody>
          <a:bodyPr>
            <a:normAutofit/>
          </a:bodyPr>
          <a:lstStyle/>
          <a:p>
            <a:pPr marL="0" indent="0">
              <a:buNone/>
            </a:pPr>
            <a:r>
              <a:rPr lang="en-US" b="1" dirty="0"/>
              <a:t>Mobile phones.</a:t>
            </a:r>
          </a:p>
          <a:p>
            <a:pPr marL="0" indent="0">
              <a:buNone/>
            </a:pPr>
            <a:r>
              <a:rPr lang="en-US" dirty="0"/>
              <a:t> These consist of many embedded systems, including GUI software and hardware, operating systems (</a:t>
            </a:r>
            <a:r>
              <a:rPr lang="en-US" dirty="0" err="1"/>
              <a:t>OSes</a:t>
            </a:r>
            <a:r>
              <a:rPr lang="en-US" dirty="0"/>
              <a:t>), cameras, microphones, and USB (Universal Serial Bus) I/O (input/output) modules</a:t>
            </a:r>
          </a:p>
          <a:p>
            <a:endParaRPr lang="en-IN" dirty="0"/>
          </a:p>
          <a:p>
            <a:pPr marL="0" indent="0">
              <a:buNone/>
            </a:pPr>
            <a:endParaRPr lang="en-IN" dirty="0"/>
          </a:p>
        </p:txBody>
      </p:sp>
    </p:spTree>
    <p:extLst>
      <p:ext uri="{BB962C8B-B14F-4D97-AF65-F5344CB8AC3E}">
        <p14:creationId xmlns:p14="http://schemas.microsoft.com/office/powerpoint/2010/main" val="1971668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Internet of Things - Hardware</a:t>
            </a:r>
            <a:endParaRPr lang="en-IN" b="1" dirty="0"/>
          </a:p>
        </p:txBody>
      </p:sp>
      <p:sp>
        <p:nvSpPr>
          <p:cNvPr id="2" name="Content Placeholder 1"/>
          <p:cNvSpPr>
            <a:spLocks noGrp="1"/>
          </p:cNvSpPr>
          <p:nvPr>
            <p:ph idx="1"/>
          </p:nvPr>
        </p:nvSpPr>
        <p:spPr>
          <a:xfrm>
            <a:off x="437111" y="1752600"/>
            <a:ext cx="8229600" cy="4114800"/>
          </a:xfrm>
        </p:spPr>
        <p:txBody>
          <a:bodyPr>
            <a:normAutofit/>
          </a:bodyPr>
          <a:lstStyle/>
          <a:p>
            <a:r>
              <a:rPr lang="en-US" dirty="0"/>
              <a:t>The hardware utilized in </a:t>
            </a:r>
            <a:r>
              <a:rPr lang="en-US" dirty="0" err="1"/>
              <a:t>IoT</a:t>
            </a:r>
            <a:r>
              <a:rPr lang="en-US" dirty="0"/>
              <a:t> systems includes  devices for control, servers, a routing or bridge device, and sensors.</a:t>
            </a:r>
          </a:p>
          <a:p>
            <a:r>
              <a:rPr lang="en-US" dirty="0"/>
              <a:t> These devices manage key tasks and functions such as system activation, action specifications, security, communication, and detection to support-specific goals and actions</a:t>
            </a:r>
            <a:endParaRPr lang="en-IN" dirty="0"/>
          </a:p>
          <a:p>
            <a:endParaRPr lang="en-IN" dirty="0"/>
          </a:p>
          <a:p>
            <a:pPr marL="0" indent="0">
              <a:buNone/>
            </a:pPr>
            <a:endParaRPr lang="en-IN" dirty="0"/>
          </a:p>
        </p:txBody>
      </p:sp>
    </p:spTree>
    <p:extLst>
      <p:ext uri="{BB962C8B-B14F-4D97-AF65-F5344CB8AC3E}">
        <p14:creationId xmlns:p14="http://schemas.microsoft.com/office/powerpoint/2010/main" val="2723490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Internet of Things - Hardware</a:t>
            </a:r>
            <a:endParaRPr lang="en-IN" b="1" dirty="0"/>
          </a:p>
        </p:txBody>
      </p:sp>
      <p:sp>
        <p:nvSpPr>
          <p:cNvPr id="2" name="Content Placeholder 1"/>
          <p:cNvSpPr>
            <a:spLocks noGrp="1"/>
          </p:cNvSpPr>
          <p:nvPr>
            <p:ph idx="1"/>
          </p:nvPr>
        </p:nvSpPr>
        <p:spPr>
          <a:xfrm>
            <a:off x="437111" y="1752600"/>
            <a:ext cx="8229600" cy="4114800"/>
          </a:xfrm>
        </p:spPr>
        <p:txBody>
          <a:bodyPr>
            <a:normAutofit/>
          </a:bodyPr>
          <a:lstStyle/>
          <a:p>
            <a:r>
              <a:rPr lang="en-US" dirty="0"/>
              <a:t>The hardware utilized in </a:t>
            </a:r>
            <a:r>
              <a:rPr lang="en-US" dirty="0" err="1"/>
              <a:t>IoT</a:t>
            </a:r>
            <a:r>
              <a:rPr lang="en-US" dirty="0"/>
              <a:t> systems includes  devices for control, servers, a routing or bridge device, and sensors.</a:t>
            </a:r>
          </a:p>
          <a:p>
            <a:r>
              <a:rPr lang="en-US" dirty="0"/>
              <a:t> These devices manage key tasks and functions such as system activation, action specifications, security, communication, and detection to support-specific goals and actions</a:t>
            </a:r>
            <a:endParaRPr lang="en-IN" dirty="0"/>
          </a:p>
          <a:p>
            <a:endParaRPr lang="en-IN" dirty="0"/>
          </a:p>
          <a:p>
            <a:pPr marL="0" indent="0">
              <a:buNone/>
            </a:pPr>
            <a:endParaRPr lang="en-IN" dirty="0"/>
          </a:p>
        </p:txBody>
      </p:sp>
    </p:spTree>
    <p:extLst>
      <p:ext uri="{BB962C8B-B14F-4D97-AF65-F5344CB8AC3E}">
        <p14:creationId xmlns:p14="http://schemas.microsoft.com/office/powerpoint/2010/main" val="1431086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err="1"/>
              <a:t>IoT</a:t>
            </a:r>
            <a:r>
              <a:rPr lang="en-IN" b="1" dirty="0"/>
              <a:t> − Sensors</a:t>
            </a:r>
            <a:endParaRPr lang="en-IN" b="1" dirty="0"/>
          </a:p>
        </p:txBody>
      </p:sp>
      <p:sp>
        <p:nvSpPr>
          <p:cNvPr id="2" name="Content Placeholder 1"/>
          <p:cNvSpPr>
            <a:spLocks noGrp="1"/>
          </p:cNvSpPr>
          <p:nvPr>
            <p:ph idx="1"/>
          </p:nvPr>
        </p:nvSpPr>
        <p:spPr>
          <a:xfrm>
            <a:off x="437111" y="1752600"/>
            <a:ext cx="8229600" cy="4114800"/>
          </a:xfrm>
        </p:spPr>
        <p:txBody>
          <a:bodyPr>
            <a:normAutofit/>
          </a:bodyPr>
          <a:lstStyle/>
          <a:p>
            <a:r>
              <a:rPr lang="en-US" dirty="0"/>
              <a:t>These devices consist of energy modules, power management modules, RF (radio frequency)  modules, and sensing modules. </a:t>
            </a:r>
          </a:p>
          <a:p>
            <a:r>
              <a:rPr lang="en-US" dirty="0"/>
              <a:t>RF modules manage communications through their signal processing,</a:t>
            </a:r>
            <a:endParaRPr lang="en-IN" dirty="0"/>
          </a:p>
          <a:p>
            <a:pPr marL="0" indent="0">
              <a:buNone/>
            </a:pPr>
            <a:endParaRPr lang="en-IN" dirty="0"/>
          </a:p>
        </p:txBody>
      </p:sp>
    </p:spTree>
    <p:extLst>
      <p:ext uri="{BB962C8B-B14F-4D97-AF65-F5344CB8AC3E}">
        <p14:creationId xmlns:p14="http://schemas.microsoft.com/office/powerpoint/2010/main" val="9563617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Wearable Electronics</a:t>
            </a:r>
            <a:endParaRPr lang="en-IN" b="1" dirty="0"/>
          </a:p>
        </p:txBody>
      </p:sp>
      <p:sp>
        <p:nvSpPr>
          <p:cNvPr id="2" name="Content Placeholder 1"/>
          <p:cNvSpPr>
            <a:spLocks noGrp="1"/>
          </p:cNvSpPr>
          <p:nvPr>
            <p:ph idx="1"/>
          </p:nvPr>
        </p:nvSpPr>
        <p:spPr>
          <a:xfrm>
            <a:off x="437111" y="1752600"/>
            <a:ext cx="8229600" cy="4114800"/>
          </a:xfrm>
        </p:spPr>
        <p:txBody>
          <a:bodyPr>
            <a:normAutofit/>
          </a:bodyPr>
          <a:lstStyle/>
          <a:p>
            <a:pPr marL="0" indent="0">
              <a:buNone/>
            </a:pPr>
            <a:r>
              <a:rPr lang="en-US" dirty="0"/>
              <a:t>Wearable electronic devices are small devices worn on the head, neck, arms, and feet.</a:t>
            </a:r>
            <a:endParaRPr lang="en-IN" dirty="0"/>
          </a:p>
          <a:p>
            <a:pPr marL="0" indent="0">
              <a:buNone/>
            </a:pPr>
            <a:endParaRPr lang="en-IN" dirty="0"/>
          </a:p>
        </p:txBody>
      </p:sp>
    </p:spTree>
    <p:extLst>
      <p:ext uri="{BB962C8B-B14F-4D97-AF65-F5344CB8AC3E}">
        <p14:creationId xmlns:p14="http://schemas.microsoft.com/office/powerpoint/2010/main" val="14201857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Standard Devices</a:t>
            </a:r>
            <a:endParaRPr lang="en-IN" b="1" dirty="0"/>
          </a:p>
        </p:txBody>
      </p:sp>
      <p:sp>
        <p:nvSpPr>
          <p:cNvPr id="2" name="Content Placeholder 1"/>
          <p:cNvSpPr>
            <a:spLocks noGrp="1"/>
          </p:cNvSpPr>
          <p:nvPr>
            <p:ph idx="1"/>
          </p:nvPr>
        </p:nvSpPr>
        <p:spPr>
          <a:xfrm>
            <a:off x="437111" y="1752600"/>
            <a:ext cx="8229600" cy="4114800"/>
          </a:xfrm>
        </p:spPr>
        <p:txBody>
          <a:bodyPr>
            <a:normAutofit/>
          </a:bodyPr>
          <a:lstStyle/>
          <a:p>
            <a:pPr marL="0" indent="0">
              <a:buNone/>
            </a:pPr>
            <a:r>
              <a:rPr lang="en-US" dirty="0"/>
              <a:t>The desktop, tablet, and cellphone remain integral parts of </a:t>
            </a:r>
            <a:r>
              <a:rPr lang="en-US" dirty="0" err="1"/>
              <a:t>IoT</a:t>
            </a:r>
            <a:r>
              <a:rPr lang="en-US" dirty="0"/>
              <a:t> as the command center and remotes</a:t>
            </a:r>
            <a:endParaRPr lang="en-IN" dirty="0"/>
          </a:p>
          <a:p>
            <a:pPr marL="0" indent="0">
              <a:buNone/>
            </a:pPr>
            <a:endParaRPr lang="en-IN" dirty="0"/>
          </a:p>
        </p:txBody>
      </p:sp>
    </p:spTree>
    <p:extLst>
      <p:ext uri="{BB962C8B-B14F-4D97-AF65-F5344CB8AC3E}">
        <p14:creationId xmlns:p14="http://schemas.microsoft.com/office/powerpoint/2010/main" val="3356100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p:nvPr/>
        </p:nvSpPr>
        <p:spPr>
          <a:xfrm>
            <a:off x="1558636" y="1493520"/>
            <a:ext cx="6080991" cy="33618"/>
          </a:xfrm>
          <a:custGeom>
            <a:avLst/>
            <a:gdLst/>
            <a:ahLst/>
            <a:cxnLst/>
            <a:rect l="l" t="t" r="r" b="b"/>
            <a:pathLst>
              <a:path w="6689090" h="38100">
                <a:moveTo>
                  <a:pt x="6688835" y="38099"/>
                </a:moveTo>
                <a:lnTo>
                  <a:pt x="0" y="38099"/>
                </a:lnTo>
                <a:lnTo>
                  <a:pt x="0" y="0"/>
                </a:lnTo>
                <a:lnTo>
                  <a:pt x="6688835" y="0"/>
                </a:lnTo>
                <a:lnTo>
                  <a:pt x="6688835" y="38099"/>
                </a:lnTo>
                <a:close/>
              </a:path>
            </a:pathLst>
          </a:custGeom>
          <a:solidFill>
            <a:srgbClr val="F47C34"/>
          </a:solidFill>
        </p:spPr>
        <p:txBody>
          <a:bodyPr wrap="square" lIns="0" tIns="0" rIns="0" bIns="0" rtlCol="0"/>
          <a:lstStyle/>
          <a:p>
            <a:endParaRPr/>
          </a:p>
        </p:txBody>
      </p:sp>
      <p:sp>
        <p:nvSpPr>
          <p:cNvPr id="6" name="object 4"/>
          <p:cNvSpPr/>
          <p:nvPr/>
        </p:nvSpPr>
        <p:spPr>
          <a:xfrm>
            <a:off x="8345979" y="1348078"/>
            <a:ext cx="237259" cy="226359"/>
          </a:xfrm>
          <a:custGeom>
            <a:avLst/>
            <a:gdLst/>
            <a:ahLst/>
            <a:cxnLst/>
            <a:rect l="l" t="t" r="r" b="b"/>
            <a:pathLst>
              <a:path w="260984" h="256540">
                <a:moveTo>
                  <a:pt x="260604" y="105410"/>
                </a:moveTo>
                <a:lnTo>
                  <a:pt x="153924" y="105410"/>
                </a:lnTo>
                <a:lnTo>
                  <a:pt x="153924" y="0"/>
                </a:lnTo>
                <a:lnTo>
                  <a:pt x="105156" y="0"/>
                </a:lnTo>
                <a:lnTo>
                  <a:pt x="105156" y="105410"/>
                </a:lnTo>
                <a:lnTo>
                  <a:pt x="0" y="105410"/>
                </a:lnTo>
                <a:lnTo>
                  <a:pt x="0" y="151130"/>
                </a:lnTo>
                <a:lnTo>
                  <a:pt x="105156" y="151130"/>
                </a:lnTo>
                <a:lnTo>
                  <a:pt x="105156" y="256540"/>
                </a:lnTo>
                <a:lnTo>
                  <a:pt x="153924" y="256540"/>
                </a:lnTo>
                <a:lnTo>
                  <a:pt x="153924" y="151130"/>
                </a:lnTo>
                <a:lnTo>
                  <a:pt x="260604" y="151130"/>
                </a:lnTo>
                <a:lnTo>
                  <a:pt x="260604" y="105410"/>
                </a:lnTo>
                <a:close/>
              </a:path>
            </a:pathLst>
          </a:custGeom>
          <a:solidFill>
            <a:srgbClr val="D1242A"/>
          </a:solidFill>
        </p:spPr>
        <p:txBody>
          <a:bodyPr wrap="square" lIns="0" tIns="0" rIns="0" bIns="0" rtlCol="0"/>
          <a:lstStyle/>
          <a:p>
            <a:endParaRPr/>
          </a:p>
        </p:txBody>
      </p:sp>
      <p:sp>
        <p:nvSpPr>
          <p:cNvPr id="7" name="object 5"/>
          <p:cNvSpPr/>
          <p:nvPr/>
        </p:nvSpPr>
        <p:spPr>
          <a:xfrm>
            <a:off x="8607830" y="1309294"/>
            <a:ext cx="321541" cy="304800"/>
          </a:xfrm>
          <a:custGeom>
            <a:avLst/>
            <a:gdLst/>
            <a:ahLst/>
            <a:cxnLst/>
            <a:rect l="l" t="t" r="r" b="b"/>
            <a:pathLst>
              <a:path w="353695" h="345440">
                <a:moveTo>
                  <a:pt x="353568" y="143510"/>
                </a:moveTo>
                <a:lnTo>
                  <a:pt x="208788" y="143510"/>
                </a:lnTo>
                <a:lnTo>
                  <a:pt x="208788" y="0"/>
                </a:lnTo>
                <a:lnTo>
                  <a:pt x="144780" y="0"/>
                </a:lnTo>
                <a:lnTo>
                  <a:pt x="144780" y="143510"/>
                </a:lnTo>
                <a:lnTo>
                  <a:pt x="0" y="143510"/>
                </a:lnTo>
                <a:lnTo>
                  <a:pt x="0" y="203200"/>
                </a:lnTo>
                <a:lnTo>
                  <a:pt x="144780" y="203200"/>
                </a:lnTo>
                <a:lnTo>
                  <a:pt x="144780" y="345440"/>
                </a:lnTo>
                <a:lnTo>
                  <a:pt x="208788" y="345440"/>
                </a:lnTo>
                <a:lnTo>
                  <a:pt x="208788" y="203200"/>
                </a:lnTo>
                <a:lnTo>
                  <a:pt x="353568" y="203200"/>
                </a:lnTo>
                <a:lnTo>
                  <a:pt x="353568" y="143510"/>
                </a:lnTo>
                <a:close/>
              </a:path>
            </a:pathLst>
          </a:custGeom>
          <a:solidFill>
            <a:srgbClr val="D1242A"/>
          </a:solidFill>
        </p:spPr>
        <p:txBody>
          <a:bodyPr wrap="square" lIns="0" tIns="0" rIns="0" bIns="0" rtlCol="0"/>
          <a:lstStyle/>
          <a:p>
            <a:endParaRPr/>
          </a:p>
        </p:txBody>
      </p:sp>
      <p:grpSp>
        <p:nvGrpSpPr>
          <p:cNvPr id="8" name="object 6"/>
          <p:cNvGrpSpPr/>
          <p:nvPr/>
        </p:nvGrpSpPr>
        <p:grpSpPr>
          <a:xfrm>
            <a:off x="7766858" y="1344258"/>
            <a:ext cx="594591" cy="234203"/>
            <a:chOff x="8543544" y="1245108"/>
            <a:chExt cx="654050" cy="265430"/>
          </a:xfrm>
        </p:grpSpPr>
        <p:sp>
          <p:nvSpPr>
            <p:cNvPr id="9" name="object 7"/>
            <p:cNvSpPr/>
            <p:nvPr/>
          </p:nvSpPr>
          <p:spPr>
            <a:xfrm>
              <a:off x="8889492" y="1245108"/>
              <a:ext cx="307975" cy="265430"/>
            </a:xfrm>
            <a:custGeom>
              <a:avLst/>
              <a:gdLst/>
              <a:ahLst/>
              <a:cxnLst/>
              <a:rect l="l" t="t" r="r" b="b"/>
              <a:pathLst>
                <a:path w="307975" h="265430">
                  <a:moveTo>
                    <a:pt x="76200" y="265175"/>
                  </a:moveTo>
                  <a:lnTo>
                    <a:pt x="0" y="265175"/>
                  </a:lnTo>
                  <a:lnTo>
                    <a:pt x="117348" y="0"/>
                  </a:lnTo>
                  <a:lnTo>
                    <a:pt x="190500" y="0"/>
                  </a:lnTo>
                  <a:lnTo>
                    <a:pt x="222871" y="73151"/>
                  </a:lnTo>
                  <a:lnTo>
                    <a:pt x="152400" y="73151"/>
                  </a:lnTo>
                  <a:lnTo>
                    <a:pt x="118872" y="158495"/>
                  </a:lnTo>
                  <a:lnTo>
                    <a:pt x="260639" y="158495"/>
                  </a:lnTo>
                  <a:lnTo>
                    <a:pt x="284917" y="213359"/>
                  </a:lnTo>
                  <a:lnTo>
                    <a:pt x="97536" y="213359"/>
                  </a:lnTo>
                  <a:lnTo>
                    <a:pt x="76200" y="265175"/>
                  </a:lnTo>
                  <a:close/>
                </a:path>
                <a:path w="307975" h="265430">
                  <a:moveTo>
                    <a:pt x="260639" y="158495"/>
                  </a:moveTo>
                  <a:lnTo>
                    <a:pt x="187452" y="158495"/>
                  </a:lnTo>
                  <a:lnTo>
                    <a:pt x="152400" y="73151"/>
                  </a:lnTo>
                  <a:lnTo>
                    <a:pt x="222871" y="73151"/>
                  </a:lnTo>
                  <a:lnTo>
                    <a:pt x="260639" y="158495"/>
                  </a:lnTo>
                  <a:close/>
                </a:path>
                <a:path w="307975" h="265430">
                  <a:moveTo>
                    <a:pt x="307848" y="265175"/>
                  </a:moveTo>
                  <a:lnTo>
                    <a:pt x="230124" y="265175"/>
                  </a:lnTo>
                  <a:lnTo>
                    <a:pt x="208788" y="213359"/>
                  </a:lnTo>
                  <a:lnTo>
                    <a:pt x="284917" y="213359"/>
                  </a:lnTo>
                  <a:lnTo>
                    <a:pt x="307848" y="265175"/>
                  </a:lnTo>
                  <a:close/>
                </a:path>
              </a:pathLst>
            </a:custGeom>
            <a:solidFill>
              <a:srgbClr val="D1242A"/>
            </a:solidFill>
          </p:spPr>
          <p:txBody>
            <a:bodyPr wrap="square" lIns="0" tIns="0" rIns="0" bIns="0" rtlCol="0"/>
            <a:lstStyle/>
            <a:p>
              <a:endParaRPr/>
            </a:p>
          </p:txBody>
        </p:sp>
        <p:pic>
          <p:nvPicPr>
            <p:cNvPr id="10" name="object 8"/>
            <p:cNvPicPr/>
            <p:nvPr/>
          </p:nvPicPr>
          <p:blipFill>
            <a:blip r:embed="rId2" cstate="print"/>
            <a:stretch>
              <a:fillRect/>
            </a:stretch>
          </p:blipFill>
          <p:spPr>
            <a:xfrm>
              <a:off x="8543544" y="1345692"/>
              <a:ext cx="370331" cy="158495"/>
            </a:xfrm>
            <a:prstGeom prst="rect">
              <a:avLst/>
            </a:prstGeom>
          </p:spPr>
        </p:pic>
      </p:grpSp>
      <p:grpSp>
        <p:nvGrpSpPr>
          <p:cNvPr id="11" name="object 9"/>
          <p:cNvGrpSpPr/>
          <p:nvPr/>
        </p:nvGrpSpPr>
        <p:grpSpPr>
          <a:xfrm>
            <a:off x="680258" y="1377427"/>
            <a:ext cx="753918" cy="228040"/>
            <a:chOff x="748284" y="1282700"/>
            <a:chExt cx="829310" cy="258445"/>
          </a:xfrm>
        </p:grpSpPr>
        <p:sp>
          <p:nvSpPr>
            <p:cNvPr id="12" name="object 10"/>
            <p:cNvSpPr/>
            <p:nvPr/>
          </p:nvSpPr>
          <p:spPr>
            <a:xfrm>
              <a:off x="752856" y="1289303"/>
              <a:ext cx="248920" cy="248920"/>
            </a:xfrm>
            <a:custGeom>
              <a:avLst/>
              <a:gdLst/>
              <a:ahLst/>
              <a:cxnLst/>
              <a:rect l="l" t="t" r="r" b="b"/>
              <a:pathLst>
                <a:path w="248919" h="248919">
                  <a:moveTo>
                    <a:pt x="248412" y="248412"/>
                  </a:moveTo>
                  <a:lnTo>
                    <a:pt x="0" y="248412"/>
                  </a:lnTo>
                  <a:lnTo>
                    <a:pt x="0" y="0"/>
                  </a:lnTo>
                  <a:lnTo>
                    <a:pt x="248412" y="0"/>
                  </a:lnTo>
                  <a:lnTo>
                    <a:pt x="248412" y="248412"/>
                  </a:lnTo>
                  <a:close/>
                </a:path>
              </a:pathLst>
            </a:custGeom>
            <a:solidFill>
              <a:srgbClr val="F27016"/>
            </a:solidFill>
          </p:spPr>
          <p:txBody>
            <a:bodyPr wrap="square" lIns="0" tIns="0" rIns="0" bIns="0" rtlCol="0"/>
            <a:lstStyle/>
            <a:p>
              <a:endParaRPr/>
            </a:p>
          </p:txBody>
        </p:sp>
        <p:sp>
          <p:nvSpPr>
            <p:cNvPr id="13" name="object 11"/>
            <p:cNvSpPr/>
            <p:nvPr/>
          </p:nvSpPr>
          <p:spPr>
            <a:xfrm>
              <a:off x="748284" y="1284236"/>
              <a:ext cx="256540" cy="256540"/>
            </a:xfrm>
            <a:custGeom>
              <a:avLst/>
              <a:gdLst/>
              <a:ahLst/>
              <a:cxnLst/>
              <a:rect l="l" t="t" r="r" b="b"/>
              <a:pathLst>
                <a:path w="256540" h="256540">
                  <a:moveTo>
                    <a:pt x="166116" y="191516"/>
                  </a:moveTo>
                  <a:lnTo>
                    <a:pt x="89916" y="191516"/>
                  </a:lnTo>
                  <a:lnTo>
                    <a:pt x="89916" y="39116"/>
                  </a:lnTo>
                  <a:lnTo>
                    <a:pt x="65532" y="39116"/>
                  </a:lnTo>
                  <a:lnTo>
                    <a:pt x="65532" y="191516"/>
                  </a:lnTo>
                  <a:lnTo>
                    <a:pt x="65532" y="209296"/>
                  </a:lnTo>
                  <a:lnTo>
                    <a:pt x="166116" y="209296"/>
                  </a:lnTo>
                  <a:lnTo>
                    <a:pt x="166116" y="191516"/>
                  </a:lnTo>
                  <a:close/>
                </a:path>
                <a:path w="256540" h="256540">
                  <a:moveTo>
                    <a:pt x="256032" y="0"/>
                  </a:moveTo>
                  <a:lnTo>
                    <a:pt x="0" y="0"/>
                  </a:lnTo>
                  <a:lnTo>
                    <a:pt x="0" y="7620"/>
                  </a:lnTo>
                  <a:lnTo>
                    <a:pt x="0" y="248920"/>
                  </a:lnTo>
                  <a:lnTo>
                    <a:pt x="0" y="256540"/>
                  </a:lnTo>
                  <a:lnTo>
                    <a:pt x="256032" y="256540"/>
                  </a:lnTo>
                  <a:lnTo>
                    <a:pt x="256032" y="248920"/>
                  </a:lnTo>
                  <a:lnTo>
                    <a:pt x="256032" y="8128"/>
                  </a:lnTo>
                  <a:lnTo>
                    <a:pt x="248412" y="8128"/>
                  </a:lnTo>
                  <a:lnTo>
                    <a:pt x="248412" y="248920"/>
                  </a:lnTo>
                  <a:lnTo>
                    <a:pt x="7620" y="248920"/>
                  </a:lnTo>
                  <a:lnTo>
                    <a:pt x="7620" y="7620"/>
                  </a:lnTo>
                  <a:lnTo>
                    <a:pt x="256032" y="7620"/>
                  </a:lnTo>
                  <a:lnTo>
                    <a:pt x="256032" y="0"/>
                  </a:lnTo>
                  <a:close/>
                </a:path>
              </a:pathLst>
            </a:custGeom>
            <a:solidFill>
              <a:srgbClr val="000000"/>
            </a:solidFill>
          </p:spPr>
          <p:txBody>
            <a:bodyPr wrap="square" lIns="0" tIns="0" rIns="0" bIns="0" rtlCol="0"/>
            <a:lstStyle/>
            <a:p>
              <a:endParaRPr/>
            </a:p>
          </p:txBody>
        </p:sp>
        <p:sp>
          <p:nvSpPr>
            <p:cNvPr id="14" name="object 12"/>
            <p:cNvSpPr/>
            <p:nvPr/>
          </p:nvSpPr>
          <p:spPr>
            <a:xfrm>
              <a:off x="1039368"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5" name="object 13"/>
            <p:cNvSpPr/>
            <p:nvPr/>
          </p:nvSpPr>
          <p:spPr>
            <a:xfrm>
              <a:off x="1034796" y="1285252"/>
              <a:ext cx="256540" cy="255270"/>
            </a:xfrm>
            <a:custGeom>
              <a:avLst/>
              <a:gdLst/>
              <a:ahLst/>
              <a:cxnLst/>
              <a:rect l="l" t="t" r="r" b="b"/>
              <a:pathLst>
                <a:path w="256540" h="255269">
                  <a:moveTo>
                    <a:pt x="256032" y="0"/>
                  </a:moveTo>
                  <a:lnTo>
                    <a:pt x="248412" y="0"/>
                  </a:lnTo>
                  <a:lnTo>
                    <a:pt x="248412" y="7620"/>
                  </a:lnTo>
                  <a:lnTo>
                    <a:pt x="248412" y="246380"/>
                  </a:lnTo>
                  <a:lnTo>
                    <a:pt x="7620" y="246380"/>
                  </a:lnTo>
                  <a:lnTo>
                    <a:pt x="7620" y="7620"/>
                  </a:lnTo>
                  <a:lnTo>
                    <a:pt x="248412" y="7620"/>
                  </a:lnTo>
                  <a:lnTo>
                    <a:pt x="248412" y="0"/>
                  </a:lnTo>
                  <a:lnTo>
                    <a:pt x="0" y="0"/>
                  </a:lnTo>
                  <a:lnTo>
                    <a:pt x="0" y="7620"/>
                  </a:lnTo>
                  <a:lnTo>
                    <a:pt x="0" y="246380"/>
                  </a:lnTo>
                  <a:lnTo>
                    <a:pt x="0" y="255270"/>
                  </a:lnTo>
                  <a:lnTo>
                    <a:pt x="256032" y="255270"/>
                  </a:lnTo>
                  <a:lnTo>
                    <a:pt x="256032" y="246380"/>
                  </a:lnTo>
                  <a:lnTo>
                    <a:pt x="256032" y="7620"/>
                  </a:lnTo>
                  <a:lnTo>
                    <a:pt x="256032" y="7112"/>
                  </a:lnTo>
                  <a:lnTo>
                    <a:pt x="256032" y="0"/>
                  </a:lnTo>
                  <a:close/>
                </a:path>
              </a:pathLst>
            </a:custGeom>
            <a:solidFill>
              <a:srgbClr val="000000"/>
            </a:solidFill>
          </p:spPr>
          <p:txBody>
            <a:bodyPr wrap="square" lIns="0" tIns="0" rIns="0" bIns="0" rtlCol="0"/>
            <a:lstStyle/>
            <a:p>
              <a:endParaRPr/>
            </a:p>
          </p:txBody>
        </p:sp>
        <p:pic>
          <p:nvPicPr>
            <p:cNvPr id="16" name="object 14"/>
            <p:cNvPicPr/>
            <p:nvPr/>
          </p:nvPicPr>
          <p:blipFill>
            <a:blip r:embed="rId3" cstate="print"/>
            <a:stretch>
              <a:fillRect/>
            </a:stretch>
          </p:blipFill>
          <p:spPr>
            <a:xfrm>
              <a:off x="1100328" y="1321308"/>
              <a:ext cx="111252" cy="172212"/>
            </a:xfrm>
            <a:prstGeom prst="rect">
              <a:avLst/>
            </a:prstGeom>
          </p:spPr>
        </p:pic>
        <p:sp>
          <p:nvSpPr>
            <p:cNvPr id="17" name="object 15"/>
            <p:cNvSpPr/>
            <p:nvPr/>
          </p:nvSpPr>
          <p:spPr>
            <a:xfrm>
              <a:off x="1325879" y="1287779"/>
              <a:ext cx="247015" cy="248920"/>
            </a:xfrm>
            <a:custGeom>
              <a:avLst/>
              <a:gdLst/>
              <a:ahLst/>
              <a:cxnLst/>
              <a:rect l="l" t="t" r="r" b="b"/>
              <a:pathLst>
                <a:path w="247015" h="248919">
                  <a:moveTo>
                    <a:pt x="246887" y="248412"/>
                  </a:moveTo>
                  <a:lnTo>
                    <a:pt x="0" y="248412"/>
                  </a:lnTo>
                  <a:lnTo>
                    <a:pt x="0" y="0"/>
                  </a:lnTo>
                  <a:lnTo>
                    <a:pt x="246887" y="0"/>
                  </a:lnTo>
                  <a:lnTo>
                    <a:pt x="246887" y="248412"/>
                  </a:lnTo>
                  <a:close/>
                </a:path>
              </a:pathLst>
            </a:custGeom>
            <a:solidFill>
              <a:srgbClr val="F27016"/>
            </a:solidFill>
          </p:spPr>
          <p:txBody>
            <a:bodyPr wrap="square" lIns="0" tIns="0" rIns="0" bIns="0" rtlCol="0"/>
            <a:lstStyle/>
            <a:p>
              <a:endParaRPr/>
            </a:p>
          </p:txBody>
        </p:sp>
        <p:sp>
          <p:nvSpPr>
            <p:cNvPr id="18" name="object 16"/>
            <p:cNvSpPr/>
            <p:nvPr/>
          </p:nvSpPr>
          <p:spPr>
            <a:xfrm>
              <a:off x="1321308" y="1282712"/>
              <a:ext cx="256540" cy="256540"/>
            </a:xfrm>
            <a:custGeom>
              <a:avLst/>
              <a:gdLst/>
              <a:ahLst/>
              <a:cxnLst/>
              <a:rect l="l" t="t" r="r" b="b"/>
              <a:pathLst>
                <a:path w="256540" h="256540">
                  <a:moveTo>
                    <a:pt x="256032" y="0"/>
                  </a:moveTo>
                  <a:lnTo>
                    <a:pt x="248412" y="0"/>
                  </a:lnTo>
                  <a:lnTo>
                    <a:pt x="248412" y="10160"/>
                  </a:lnTo>
                  <a:lnTo>
                    <a:pt x="248412" y="248920"/>
                  </a:lnTo>
                  <a:lnTo>
                    <a:pt x="7620" y="248920"/>
                  </a:lnTo>
                  <a:lnTo>
                    <a:pt x="7620" y="10160"/>
                  </a:lnTo>
                  <a:lnTo>
                    <a:pt x="248412" y="10160"/>
                  </a:lnTo>
                  <a:lnTo>
                    <a:pt x="248412" y="0"/>
                  </a:lnTo>
                  <a:lnTo>
                    <a:pt x="0" y="0"/>
                  </a:lnTo>
                  <a:lnTo>
                    <a:pt x="0" y="10160"/>
                  </a:lnTo>
                  <a:lnTo>
                    <a:pt x="0" y="248920"/>
                  </a:lnTo>
                  <a:lnTo>
                    <a:pt x="0" y="256540"/>
                  </a:lnTo>
                  <a:lnTo>
                    <a:pt x="256032" y="256540"/>
                  </a:lnTo>
                  <a:lnTo>
                    <a:pt x="256032" y="248920"/>
                  </a:lnTo>
                  <a:lnTo>
                    <a:pt x="256032" y="10160"/>
                  </a:lnTo>
                  <a:lnTo>
                    <a:pt x="256032" y="9652"/>
                  </a:lnTo>
                  <a:lnTo>
                    <a:pt x="256032" y="0"/>
                  </a:lnTo>
                  <a:close/>
                </a:path>
              </a:pathLst>
            </a:custGeom>
            <a:solidFill>
              <a:srgbClr val="000000"/>
            </a:solidFill>
          </p:spPr>
          <p:txBody>
            <a:bodyPr wrap="square" lIns="0" tIns="0" rIns="0" bIns="0" rtlCol="0"/>
            <a:lstStyle/>
            <a:p>
              <a:endParaRPr/>
            </a:p>
          </p:txBody>
        </p:sp>
        <p:pic>
          <p:nvPicPr>
            <p:cNvPr id="19" name="object 17"/>
            <p:cNvPicPr/>
            <p:nvPr/>
          </p:nvPicPr>
          <p:blipFill>
            <a:blip r:embed="rId4" cstate="print"/>
            <a:stretch>
              <a:fillRect/>
            </a:stretch>
          </p:blipFill>
          <p:spPr>
            <a:xfrm>
              <a:off x="1386840" y="1322832"/>
              <a:ext cx="132587" cy="173736"/>
            </a:xfrm>
            <a:prstGeom prst="rect">
              <a:avLst/>
            </a:prstGeom>
          </p:spPr>
        </p:pic>
      </p:grpSp>
      <p:pic>
        <p:nvPicPr>
          <p:cNvPr id="20" name="object 18"/>
          <p:cNvPicPr/>
          <p:nvPr/>
        </p:nvPicPr>
        <p:blipFill>
          <a:blip r:embed="rId5" cstate="print"/>
          <a:stretch>
            <a:fillRect/>
          </a:stretch>
        </p:blipFill>
        <p:spPr>
          <a:xfrm>
            <a:off x="246611" y="1307951"/>
            <a:ext cx="381000" cy="368449"/>
          </a:xfrm>
          <a:prstGeom prst="rect">
            <a:avLst/>
          </a:prstGeom>
        </p:spPr>
      </p:pic>
      <p:sp>
        <p:nvSpPr>
          <p:cNvPr id="21" name="object 2"/>
          <p:cNvSpPr/>
          <p:nvPr/>
        </p:nvSpPr>
        <p:spPr>
          <a:xfrm>
            <a:off x="0" y="6019800"/>
            <a:ext cx="9144000" cy="58271"/>
          </a:xfrm>
          <a:custGeom>
            <a:avLst/>
            <a:gdLst/>
            <a:ahLst/>
            <a:cxnLst/>
            <a:rect l="l" t="t" r="r" b="b"/>
            <a:pathLst>
              <a:path w="10058400" h="66040">
                <a:moveTo>
                  <a:pt x="10058400" y="65532"/>
                </a:moveTo>
                <a:lnTo>
                  <a:pt x="0" y="65532"/>
                </a:lnTo>
                <a:lnTo>
                  <a:pt x="0" y="0"/>
                </a:lnTo>
                <a:lnTo>
                  <a:pt x="10058400" y="0"/>
                </a:lnTo>
                <a:lnTo>
                  <a:pt x="10058400" y="65532"/>
                </a:lnTo>
                <a:close/>
              </a:path>
            </a:pathLst>
          </a:custGeom>
          <a:solidFill>
            <a:srgbClr val="ED771F"/>
          </a:solidFill>
        </p:spPr>
        <p:txBody>
          <a:bodyPr wrap="square" lIns="0" tIns="0" rIns="0" bIns="0" rtlCol="0"/>
          <a:lstStyle/>
          <a:p>
            <a:endParaRPr/>
          </a:p>
        </p:txBody>
      </p:sp>
      <p:sp>
        <p:nvSpPr>
          <p:cNvPr id="22" name="Footer Placeholder 22"/>
          <p:cNvSpPr>
            <a:spLocks noGrp="1"/>
          </p:cNvSpPr>
          <p:nvPr>
            <p:ph type="ftr" sz="quarter" idx="11"/>
          </p:nvPr>
        </p:nvSpPr>
        <p:spPr>
          <a:xfrm>
            <a:off x="3124200" y="6264275"/>
            <a:ext cx="2895600" cy="365125"/>
          </a:xfrm>
        </p:spPr>
        <p:txBody>
          <a:bodyPr/>
          <a:lstStyle/>
          <a:p>
            <a:r>
              <a:rPr lang="en-IN" dirty="0" smtClean="0">
                <a:solidFill>
                  <a:srgbClr val="FF0000"/>
                </a:solidFill>
              </a:rPr>
              <a:t>Tania </a:t>
            </a:r>
            <a:r>
              <a:rPr lang="en-IN" dirty="0" err="1" smtClean="0">
                <a:solidFill>
                  <a:srgbClr val="FF0000"/>
                </a:solidFill>
              </a:rPr>
              <a:t>Ahuja</a:t>
            </a:r>
            <a:endParaRPr lang="en-IN" dirty="0">
              <a:solidFill>
                <a:srgbClr val="FF0000"/>
              </a:solidFill>
            </a:endParaRPr>
          </a:p>
        </p:txBody>
      </p:sp>
      <p:sp>
        <p:nvSpPr>
          <p:cNvPr id="3" name="Title 2"/>
          <p:cNvSpPr>
            <a:spLocks noGrp="1"/>
          </p:cNvSpPr>
          <p:nvPr>
            <p:ph type="title"/>
          </p:nvPr>
        </p:nvSpPr>
        <p:spPr>
          <a:xfrm>
            <a:off x="457200" y="147022"/>
            <a:ext cx="8229600" cy="1143000"/>
          </a:xfrm>
        </p:spPr>
        <p:txBody>
          <a:bodyPr/>
          <a:lstStyle/>
          <a:p>
            <a:r>
              <a:rPr lang="en-IN" b="1" dirty="0"/>
              <a:t>Business Applications</a:t>
            </a:r>
            <a:endParaRPr lang="en-IN" b="1" dirty="0"/>
          </a:p>
        </p:txBody>
      </p:sp>
      <p:sp>
        <p:nvSpPr>
          <p:cNvPr id="2" name="Content Placeholder 1"/>
          <p:cNvSpPr>
            <a:spLocks noGrp="1"/>
          </p:cNvSpPr>
          <p:nvPr>
            <p:ph idx="1"/>
          </p:nvPr>
        </p:nvSpPr>
        <p:spPr>
          <a:xfrm>
            <a:off x="437111" y="1752600"/>
            <a:ext cx="8229600" cy="4114800"/>
          </a:xfrm>
        </p:spPr>
        <p:txBody>
          <a:bodyPr>
            <a:normAutofit fontScale="92500" lnSpcReduction="20000"/>
          </a:bodyPr>
          <a:lstStyle/>
          <a:p>
            <a:r>
              <a:rPr lang="en-IN" b="1" dirty="0"/>
              <a:t> Self-driving and connected vehicles</a:t>
            </a:r>
          </a:p>
          <a:p>
            <a:r>
              <a:rPr lang="en-IN" b="1" dirty="0"/>
              <a:t>Logistics and fleet management</a:t>
            </a:r>
          </a:p>
          <a:p>
            <a:r>
              <a:rPr lang="en-IN" b="1" dirty="0"/>
              <a:t>Traffic management</a:t>
            </a:r>
          </a:p>
          <a:p>
            <a:r>
              <a:rPr lang="en-IN" b="1" dirty="0"/>
              <a:t>Smart grids, including smart meters</a:t>
            </a:r>
          </a:p>
          <a:p>
            <a:r>
              <a:rPr lang="en-IN" b="1" dirty="0"/>
              <a:t>Environmental monitoring</a:t>
            </a:r>
          </a:p>
          <a:p>
            <a:r>
              <a:rPr lang="en-US" b="1" dirty="0"/>
              <a:t>Connected buildings and building security</a:t>
            </a:r>
          </a:p>
          <a:p>
            <a:r>
              <a:rPr lang="en-IN" b="1" dirty="0"/>
              <a:t>Smart cities</a:t>
            </a:r>
          </a:p>
          <a:p>
            <a:r>
              <a:rPr lang="en-IN" b="1" dirty="0"/>
              <a:t>Digital payments</a:t>
            </a:r>
          </a:p>
          <a:p>
            <a:r>
              <a:rPr lang="en-US" b="1" dirty="0"/>
              <a:t>Healthcare and consumer health and wellness</a:t>
            </a:r>
          </a:p>
          <a:p>
            <a:pPr marL="0" indent="0">
              <a:buNone/>
            </a:pPr>
            <a:endParaRPr lang="en-IN" dirty="0"/>
          </a:p>
        </p:txBody>
      </p:sp>
    </p:spTree>
    <p:extLst>
      <p:ext uri="{BB962C8B-B14F-4D97-AF65-F5344CB8AC3E}">
        <p14:creationId xmlns:p14="http://schemas.microsoft.com/office/powerpoint/2010/main" val="20313136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2414</TotalTime>
  <Words>2024</Words>
  <Application>Microsoft Office PowerPoint</Application>
  <PresentationFormat>On-screen Show (4:3)</PresentationFormat>
  <Paragraphs>255</Paragraphs>
  <Slides>48</Slides>
  <Notes>0</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PowerPoint Presentation</vt:lpstr>
      <vt:lpstr>Introduction to Cloud Computing</vt:lpstr>
      <vt:lpstr>PowerPoint Presentation</vt:lpstr>
      <vt:lpstr>Cloud Service Models</vt:lpstr>
      <vt:lpstr>PowerPoint Presentation</vt:lpstr>
      <vt:lpstr>PowerPoint Presentation</vt:lpstr>
      <vt:lpstr>PowerPoint Presentation</vt:lpstr>
      <vt:lpstr>Concept of Virtualization &amp; Virtual Servers</vt:lpstr>
      <vt:lpstr>PowerPoint Presentation</vt:lpstr>
      <vt:lpstr>What is a Virtual Server?</vt:lpstr>
      <vt:lpstr>Cloud Storage</vt:lpstr>
      <vt:lpstr>PowerPoint Presentation</vt:lpstr>
      <vt:lpstr>What is Database</vt:lpstr>
      <vt:lpstr>Database Management System</vt:lpstr>
      <vt:lpstr>PowerPoint Presentation</vt:lpstr>
      <vt:lpstr>Data Independence</vt:lpstr>
      <vt:lpstr>Logical Data Independence</vt:lpstr>
      <vt:lpstr>Physical Data Independence</vt:lpstr>
      <vt:lpstr>PowerPoint Presentation</vt:lpstr>
      <vt:lpstr>PowerPoint Presentation</vt:lpstr>
      <vt:lpstr>Introduction</vt:lpstr>
      <vt:lpstr>PowerPoint Presentation</vt:lpstr>
      <vt:lpstr>For Example</vt:lpstr>
      <vt:lpstr>How IOT works</vt:lpstr>
      <vt:lpstr>PowerPoint Presentation</vt:lpstr>
      <vt:lpstr>Sensors</vt:lpstr>
      <vt:lpstr>Connectivity</vt:lpstr>
      <vt:lpstr>Data Processing</vt:lpstr>
      <vt:lpstr>User Interface</vt:lpstr>
      <vt:lpstr>History</vt:lpstr>
      <vt:lpstr>PowerPoint Presentation</vt:lpstr>
      <vt:lpstr>EMBEDDED SYSTEMS</vt:lpstr>
      <vt:lpstr>EMBEDDED SYSTEMS</vt:lpstr>
      <vt:lpstr>Components</vt:lpstr>
      <vt:lpstr>Structure</vt:lpstr>
      <vt:lpstr>Sensor</vt:lpstr>
      <vt:lpstr>A-D Converter</vt:lpstr>
      <vt:lpstr>Processor</vt:lpstr>
      <vt:lpstr>D-A Converter</vt:lpstr>
      <vt:lpstr>Actuator</vt:lpstr>
      <vt:lpstr>Examples</vt:lpstr>
      <vt:lpstr>Examples</vt:lpstr>
      <vt:lpstr>Internet of Things - Hardware</vt:lpstr>
      <vt:lpstr>Internet of Things - Hardware</vt:lpstr>
      <vt:lpstr>IoT − Sensors</vt:lpstr>
      <vt:lpstr>Wearable Electronics</vt:lpstr>
      <vt:lpstr>Standard Devices</vt:lpstr>
      <vt:lpstr>Business Applications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vikassingh</dc:creator>
  <cp:lastModifiedBy>Dell</cp:lastModifiedBy>
  <cp:revision>313</cp:revision>
  <dcterms:created xsi:type="dcterms:W3CDTF">2014-08-19T17:16:14Z</dcterms:created>
  <dcterms:modified xsi:type="dcterms:W3CDTF">2025-11-04T04:15:04Z</dcterms:modified>
</cp:coreProperties>
</file>